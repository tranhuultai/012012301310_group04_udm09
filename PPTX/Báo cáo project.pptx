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libri" panose="020F050202020403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2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196A3-174C-45E0-894E-ABE0B813871A}" type="datetimeFigureOut">
              <a:rPr lang="en-US" smtClean="0"/>
              <a:t>7/4/2026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CC80D-B643-430A-821B-2587BDCE9237}" type="slidenum">
              <a:rPr lang="en-US" smtClean="0"/>
              <a:t>‹#›</a:t>
            </a:fld>
            <a:endParaRPr lang="en-US"/>
          </a:p>
        </p:txBody>
      </p:sp>
    </p:spTree>
    <p:extLst>
      <p:ext uri="{BB962C8B-B14F-4D97-AF65-F5344CB8AC3E}">
        <p14:creationId xmlns:p14="http://schemas.microsoft.com/office/powerpoint/2010/main" val="65271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250CC80D-B643-430A-821B-2587BDCE9237}" type="slidenum">
              <a:rPr lang="en-US" smtClean="0"/>
              <a:t>13</a:t>
            </a:fld>
            <a:endParaRPr lang="en-US"/>
          </a:p>
        </p:txBody>
      </p:sp>
    </p:spTree>
    <p:extLst>
      <p:ext uri="{BB962C8B-B14F-4D97-AF65-F5344CB8AC3E}">
        <p14:creationId xmlns:p14="http://schemas.microsoft.com/office/powerpoint/2010/main" val="684930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2.jpeg"/><Relationship Id="rId10" Type="http://schemas.openxmlformats.org/officeDocument/2006/relationships/image" Target="../media/image14.png"/><Relationship Id="rId4" Type="http://schemas.openxmlformats.org/officeDocument/2006/relationships/image" Target="../media/image9.svg"/><Relationship Id="rId9"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31.sv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png"/><Relationship Id="rId18" Type="http://schemas.openxmlformats.org/officeDocument/2006/relationships/image" Target="../media/image50.svg"/><Relationship Id="rId3" Type="http://schemas.openxmlformats.org/officeDocument/2006/relationships/image" Target="../media/image35.svg"/><Relationship Id="rId7" Type="http://schemas.openxmlformats.org/officeDocument/2006/relationships/image" Target="../media/image39.png"/><Relationship Id="rId12" Type="http://schemas.openxmlformats.org/officeDocument/2006/relationships/image" Target="../media/image44.svg"/><Relationship Id="rId17" Type="http://schemas.openxmlformats.org/officeDocument/2006/relationships/image" Target="../media/image49.png"/><Relationship Id="rId2" Type="http://schemas.openxmlformats.org/officeDocument/2006/relationships/image" Target="../media/image34.png"/><Relationship Id="rId16" Type="http://schemas.openxmlformats.org/officeDocument/2006/relationships/image" Target="../media/image48.sv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svg"/><Relationship Id="rId15" Type="http://schemas.openxmlformats.org/officeDocument/2006/relationships/image" Target="../media/image47.png"/><Relationship Id="rId10" Type="http://schemas.openxmlformats.org/officeDocument/2006/relationships/image" Target="../media/image42.sv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svg"/></Relationships>
</file>

<file path=ppt/slides/_rels/slide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3" Type="http://schemas.openxmlformats.org/officeDocument/2006/relationships/image" Target="../media/image59.svg"/><Relationship Id="rId7" Type="http://schemas.openxmlformats.org/officeDocument/2006/relationships/image" Target="../media/image63.svg"/><Relationship Id="rId12" Type="http://schemas.openxmlformats.org/officeDocument/2006/relationships/image" Target="../media/image68.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61.sv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svg"/></Relationships>
</file>

<file path=ppt/slides/_rels/slide16.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Layout" Target="../slideLayouts/slideLayout7.xml"/><Relationship Id="rId5" Type="http://schemas.openxmlformats.org/officeDocument/2006/relationships/image" Target="../media/image73.sv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53798"/>
            <a:ext cx="18288000" cy="1398465"/>
            <a:chOff x="0" y="0"/>
            <a:chExt cx="5078356" cy="368320"/>
          </a:xfrm>
        </p:grpSpPr>
        <p:sp>
          <p:nvSpPr>
            <p:cNvPr id="3" name="Freeform 3"/>
            <p:cNvSpPr/>
            <p:nvPr/>
          </p:nvSpPr>
          <p:spPr>
            <a:xfrm>
              <a:off x="0" y="0"/>
              <a:ext cx="5078356" cy="368320"/>
            </a:xfrm>
            <a:custGeom>
              <a:avLst/>
              <a:gdLst/>
              <a:ahLst/>
              <a:cxnLst/>
              <a:rect l="l" t="t" r="r" b="b"/>
              <a:pathLst>
                <a:path w="5078356" h="368320">
                  <a:moveTo>
                    <a:pt x="12447" y="0"/>
                  </a:moveTo>
                  <a:lnTo>
                    <a:pt x="5065909" y="0"/>
                  </a:lnTo>
                  <a:cubicBezTo>
                    <a:pt x="5072783" y="0"/>
                    <a:pt x="5078356" y="5573"/>
                    <a:pt x="5078356" y="12447"/>
                  </a:cubicBezTo>
                  <a:lnTo>
                    <a:pt x="5078356" y="355873"/>
                  </a:lnTo>
                  <a:cubicBezTo>
                    <a:pt x="5078356" y="359174"/>
                    <a:pt x="5077044" y="362340"/>
                    <a:pt x="5074710" y="364674"/>
                  </a:cubicBezTo>
                  <a:cubicBezTo>
                    <a:pt x="5072376" y="367009"/>
                    <a:pt x="5069210" y="368320"/>
                    <a:pt x="5065909" y="368320"/>
                  </a:cubicBezTo>
                  <a:lnTo>
                    <a:pt x="12447" y="368320"/>
                  </a:lnTo>
                  <a:cubicBezTo>
                    <a:pt x="9146" y="368320"/>
                    <a:pt x="5980" y="367009"/>
                    <a:pt x="3646" y="364674"/>
                  </a:cubicBezTo>
                  <a:cubicBezTo>
                    <a:pt x="1311" y="362340"/>
                    <a:pt x="0" y="359174"/>
                    <a:pt x="0" y="355873"/>
                  </a:cubicBezTo>
                  <a:lnTo>
                    <a:pt x="0" y="12447"/>
                  </a:lnTo>
                  <a:cubicBezTo>
                    <a:pt x="0" y="9146"/>
                    <a:pt x="1311" y="5980"/>
                    <a:pt x="3646" y="3646"/>
                  </a:cubicBezTo>
                  <a:cubicBezTo>
                    <a:pt x="5980" y="1311"/>
                    <a:pt x="9146" y="0"/>
                    <a:pt x="12447" y="0"/>
                  </a:cubicBezTo>
                  <a:close/>
                </a:path>
              </a:pathLst>
            </a:custGeom>
            <a:solidFill>
              <a:srgbClr val="D5EDF1"/>
            </a:solidFill>
            <a:ln cap="rnd">
              <a:noFill/>
              <a:prstDash val="solid"/>
              <a:round/>
            </a:ln>
          </p:spPr>
        </p:sp>
        <p:sp>
          <p:nvSpPr>
            <p:cNvPr id="4" name="TextBox 4"/>
            <p:cNvSpPr txBox="1"/>
            <p:nvPr/>
          </p:nvSpPr>
          <p:spPr>
            <a:xfrm>
              <a:off x="0" y="-57150"/>
              <a:ext cx="5078356" cy="42547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1754088" y="0"/>
            <a:ext cx="6858000" cy="10287000"/>
            <a:chOff x="0" y="0"/>
            <a:chExt cx="9144000" cy="13716000"/>
          </a:xfrm>
        </p:grpSpPr>
        <p:sp>
          <p:nvSpPr>
            <p:cNvPr id="6" name="Freeform 6"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7" name="TextBox 7"/>
          <p:cNvSpPr txBox="1"/>
          <p:nvPr/>
        </p:nvSpPr>
        <p:spPr>
          <a:xfrm>
            <a:off x="397659" y="2051100"/>
            <a:ext cx="10707648" cy="862800"/>
          </a:xfrm>
          <a:prstGeom prst="rect">
            <a:avLst/>
          </a:prstGeom>
        </p:spPr>
        <p:txBody>
          <a:bodyPr lIns="0" tIns="0" rIns="0" bIns="0" rtlCol="0" anchor="t">
            <a:spAutoFit/>
          </a:bodyPr>
          <a:lstStyle/>
          <a:p>
            <a:pPr algn="l">
              <a:lnSpc>
                <a:spcPts val="6988"/>
              </a:lnSpc>
            </a:pPr>
            <a:r>
              <a:rPr lang="en-US" sz="5599" b="1">
                <a:solidFill>
                  <a:srgbClr val="312F2B"/>
                </a:solidFill>
                <a:ea typeface="Poppins Bold"/>
                <a:cs typeface="Poppins Bold"/>
                <a:sym typeface="Poppins Bold"/>
              </a:rPr>
              <a:t>ỨNG DỤNG NHẮN TIN P2PChat</a:t>
            </a:r>
          </a:p>
        </p:txBody>
      </p:sp>
      <p:sp>
        <p:nvSpPr>
          <p:cNvPr id="8" name="TextBox 8"/>
          <p:cNvSpPr txBox="1"/>
          <p:nvPr/>
        </p:nvSpPr>
        <p:spPr>
          <a:xfrm>
            <a:off x="1118100" y="3656004"/>
            <a:ext cx="9445523" cy="1787195"/>
          </a:xfrm>
          <a:prstGeom prst="rect">
            <a:avLst/>
          </a:prstGeom>
        </p:spPr>
        <p:txBody>
          <a:bodyPr lIns="0" tIns="0" rIns="0" bIns="0" rtlCol="0" anchor="t">
            <a:spAutoFit/>
          </a:bodyPr>
          <a:lstStyle/>
          <a:p>
            <a:pPr algn="l">
              <a:lnSpc>
                <a:spcPts val="5745"/>
              </a:lnSpc>
            </a:pPr>
            <a:r>
              <a:rPr lang="en-US" sz="3599">
                <a:solidFill>
                  <a:srgbClr val="272525"/>
                </a:solidFill>
                <a:ea typeface="Poppins"/>
                <a:cs typeface="Poppins"/>
                <a:sym typeface="Poppins"/>
              </a:rPr>
              <a:t>Báo cáo đồ án môn học — Nhóm 04</a:t>
            </a:r>
          </a:p>
          <a:p>
            <a:pPr algn="l">
              <a:lnSpc>
                <a:spcPts val="4149"/>
              </a:lnSpc>
            </a:pPr>
            <a:r>
              <a:rPr lang="en-US" sz="2599">
                <a:solidFill>
                  <a:srgbClr val="272525"/>
                </a:solidFill>
                <a:ea typeface="Poppins"/>
                <a:cs typeface="Poppins"/>
                <a:sym typeface="Poppins"/>
              </a:rPr>
              <a:t>Trường Đại học Giao thông Vận tải TP.HCM </a:t>
            </a:r>
          </a:p>
          <a:p>
            <a:pPr algn="l">
              <a:lnSpc>
                <a:spcPts val="4149"/>
              </a:lnSpc>
            </a:pPr>
            <a:r>
              <a:rPr lang="en-US" sz="2599">
                <a:solidFill>
                  <a:srgbClr val="272525"/>
                </a:solidFill>
                <a:ea typeface="Poppins"/>
                <a:cs typeface="Poppins"/>
                <a:sym typeface="Poppins"/>
              </a:rPr>
              <a:t>Viện Công nghệ Thông tin và Điện, Điện tử</a:t>
            </a:r>
          </a:p>
        </p:txBody>
      </p:sp>
      <p:sp>
        <p:nvSpPr>
          <p:cNvPr id="9" name="TextBox 9"/>
          <p:cNvSpPr txBox="1"/>
          <p:nvPr/>
        </p:nvSpPr>
        <p:spPr>
          <a:xfrm>
            <a:off x="1162345" y="6091860"/>
            <a:ext cx="5538525" cy="469296"/>
          </a:xfrm>
          <a:prstGeom prst="rect">
            <a:avLst/>
          </a:prstGeom>
        </p:spPr>
        <p:txBody>
          <a:bodyPr lIns="0" tIns="0" rIns="0" bIns="0" rtlCol="0" anchor="t">
            <a:spAutoFit/>
          </a:bodyPr>
          <a:lstStyle/>
          <a:p>
            <a:pPr algn="l">
              <a:lnSpc>
                <a:spcPts val="3989"/>
              </a:lnSpc>
            </a:pPr>
            <a:r>
              <a:rPr lang="en-US" sz="2499">
                <a:solidFill>
                  <a:srgbClr val="272525"/>
                </a:solidFill>
                <a:ea typeface="Poppins"/>
                <a:cs typeface="Poppins"/>
                <a:sym typeface="Poppins"/>
              </a:rPr>
              <a:t>NGÀNH: CÔNG NGHỆ THÔNG TIN</a:t>
            </a:r>
          </a:p>
        </p:txBody>
      </p:sp>
      <p:sp>
        <p:nvSpPr>
          <p:cNvPr id="10" name="TextBox 10"/>
          <p:cNvSpPr txBox="1"/>
          <p:nvPr/>
        </p:nvSpPr>
        <p:spPr>
          <a:xfrm>
            <a:off x="7264056" y="6091860"/>
            <a:ext cx="3926847" cy="469296"/>
          </a:xfrm>
          <a:prstGeom prst="rect">
            <a:avLst/>
          </a:prstGeom>
        </p:spPr>
        <p:txBody>
          <a:bodyPr lIns="0" tIns="0" rIns="0" bIns="0" rtlCol="0" anchor="t">
            <a:spAutoFit/>
          </a:bodyPr>
          <a:lstStyle/>
          <a:p>
            <a:pPr algn="l">
              <a:lnSpc>
                <a:spcPts val="3989"/>
              </a:lnSpc>
            </a:pPr>
            <a:r>
              <a:rPr lang="en-US" sz="2499">
                <a:solidFill>
                  <a:srgbClr val="000000"/>
                </a:solidFill>
                <a:ea typeface="Poppins"/>
                <a:cs typeface="Poppins"/>
                <a:sym typeface="Poppins"/>
              </a:rPr>
              <a:t>GVHD: MAI NGỌC CHÂU</a:t>
            </a:r>
          </a:p>
        </p:txBody>
      </p:sp>
      <p:sp>
        <p:nvSpPr>
          <p:cNvPr id="11" name="TextBox 11"/>
          <p:cNvSpPr txBox="1"/>
          <p:nvPr/>
        </p:nvSpPr>
        <p:spPr>
          <a:xfrm>
            <a:off x="1162345" y="6932266"/>
            <a:ext cx="3024930" cy="469296"/>
          </a:xfrm>
          <a:prstGeom prst="rect">
            <a:avLst/>
          </a:prstGeom>
        </p:spPr>
        <p:txBody>
          <a:bodyPr lIns="0" tIns="0" rIns="0" bIns="0" rtlCol="0" anchor="t">
            <a:spAutoFit/>
          </a:bodyPr>
          <a:lstStyle/>
          <a:p>
            <a:pPr algn="l">
              <a:lnSpc>
                <a:spcPts val="3989"/>
              </a:lnSpc>
            </a:pPr>
            <a:r>
              <a:rPr lang="en-US" sz="2499">
                <a:solidFill>
                  <a:srgbClr val="000000"/>
                </a:solidFill>
                <a:ea typeface="Poppins"/>
                <a:cs typeface="Poppins"/>
                <a:sym typeface="Poppins"/>
              </a:rPr>
              <a:t>LỚP: 012012301310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47381" y="224703"/>
            <a:ext cx="18028552" cy="2604873"/>
            <a:chOff x="0" y="-823097"/>
            <a:chExt cx="24038070" cy="3473164"/>
          </a:xfrm>
        </p:grpSpPr>
        <p:sp>
          <p:nvSpPr>
            <p:cNvPr id="3" name="Freeform 3"/>
            <p:cNvSpPr/>
            <p:nvPr/>
          </p:nvSpPr>
          <p:spPr>
            <a:xfrm>
              <a:off x="1984424" y="-823097"/>
              <a:ext cx="22053646" cy="2650062"/>
            </a:xfrm>
            <a:custGeom>
              <a:avLst/>
              <a:gdLst/>
              <a:ahLst/>
              <a:cxnLst/>
              <a:rect l="l" t="t" r="r" b="b"/>
              <a:pathLst>
                <a:path w="22053646" h="2650062">
                  <a:moveTo>
                    <a:pt x="0" y="0"/>
                  </a:moveTo>
                  <a:lnTo>
                    <a:pt x="22053646" y="0"/>
                  </a:lnTo>
                  <a:lnTo>
                    <a:pt x="22053646" y="2650062"/>
                  </a:lnTo>
                  <a:lnTo>
                    <a:pt x="0" y="2650062"/>
                  </a:lnTo>
                  <a:close/>
                </a:path>
              </a:pathLst>
            </a:custGeom>
            <a:blipFill>
              <a:blip r:embed="rId2">
                <a:alphaModFix amt="0"/>
              </a:blip>
              <a:stretch>
                <a:fillRect t="-104635" r="4636" b="-104635"/>
              </a:stretch>
            </a:blipFill>
          </p:spPr>
        </p:sp>
        <p:sp>
          <p:nvSpPr>
            <p:cNvPr id="4" name="TextBox 4"/>
            <p:cNvSpPr txBox="1"/>
            <p:nvPr/>
          </p:nvSpPr>
          <p:spPr>
            <a:xfrm>
              <a:off x="0" y="9525"/>
              <a:ext cx="22053647" cy="2640542"/>
            </a:xfrm>
            <a:prstGeom prst="rect">
              <a:avLst/>
            </a:prstGeom>
          </p:spPr>
          <p:txBody>
            <a:bodyPr lIns="0" tIns="0" rIns="0" bIns="0" rtlCol="0" anchor="ctr"/>
            <a:lstStyle/>
            <a:p>
              <a:pPr algn="l">
                <a:lnSpc>
                  <a:spcPts val="6479"/>
                </a:lnSpc>
              </a:pPr>
              <a:r>
                <a:rPr lang="en-US" sz="5999" b="1">
                  <a:solidFill>
                    <a:srgbClr val="000000"/>
                  </a:solidFill>
                  <a:ea typeface="Poppins Bold"/>
                  <a:cs typeface="Poppins Bold"/>
                  <a:sym typeface="Poppins Bold"/>
                </a:rPr>
                <a:t>THÀNH VIÊN NHÓM &amp; NỘI DUNG BÁO CÁO</a:t>
              </a:r>
            </a:p>
          </p:txBody>
        </p:sp>
      </p:grpSp>
      <p:grpSp>
        <p:nvGrpSpPr>
          <p:cNvPr id="6" name="Group 6"/>
          <p:cNvGrpSpPr/>
          <p:nvPr/>
        </p:nvGrpSpPr>
        <p:grpSpPr>
          <a:xfrm>
            <a:off x="390784" y="-518769"/>
            <a:ext cx="2420186" cy="1858288"/>
            <a:chOff x="0" y="0"/>
            <a:chExt cx="637415" cy="489426"/>
          </a:xfrm>
        </p:grpSpPr>
        <p:sp>
          <p:nvSpPr>
            <p:cNvPr id="7" name="Freeform 7"/>
            <p:cNvSpPr/>
            <p:nvPr/>
          </p:nvSpPr>
          <p:spPr>
            <a:xfrm>
              <a:off x="0" y="0"/>
              <a:ext cx="637415" cy="489426"/>
            </a:xfrm>
            <a:custGeom>
              <a:avLst/>
              <a:gdLst/>
              <a:ahLst/>
              <a:cxnLst/>
              <a:rect l="l" t="t" r="r" b="b"/>
              <a:pathLst>
                <a:path w="637415" h="489426">
                  <a:moveTo>
                    <a:pt x="41586" y="0"/>
                  </a:moveTo>
                  <a:lnTo>
                    <a:pt x="595830" y="0"/>
                  </a:lnTo>
                  <a:cubicBezTo>
                    <a:pt x="606859" y="0"/>
                    <a:pt x="617436" y="4381"/>
                    <a:pt x="625235" y="12180"/>
                  </a:cubicBezTo>
                  <a:cubicBezTo>
                    <a:pt x="633034" y="19979"/>
                    <a:pt x="637415" y="30556"/>
                    <a:pt x="637415" y="41586"/>
                  </a:cubicBezTo>
                  <a:lnTo>
                    <a:pt x="637415" y="447840"/>
                  </a:lnTo>
                  <a:cubicBezTo>
                    <a:pt x="637415" y="470807"/>
                    <a:pt x="618797" y="489426"/>
                    <a:pt x="595830" y="489426"/>
                  </a:cubicBezTo>
                  <a:lnTo>
                    <a:pt x="41586" y="489426"/>
                  </a:lnTo>
                  <a:cubicBezTo>
                    <a:pt x="18619" y="489426"/>
                    <a:pt x="0" y="470807"/>
                    <a:pt x="0" y="447840"/>
                  </a:cubicBezTo>
                  <a:lnTo>
                    <a:pt x="0" y="41586"/>
                  </a:lnTo>
                  <a:cubicBezTo>
                    <a:pt x="0" y="18619"/>
                    <a:pt x="18619" y="0"/>
                    <a:pt x="41586" y="0"/>
                  </a:cubicBezTo>
                  <a:close/>
                </a:path>
              </a:pathLst>
            </a:custGeom>
            <a:solidFill>
              <a:srgbClr val="D5EDF1">
                <a:alpha val="22745"/>
              </a:srgbClr>
            </a:solidFill>
            <a:ln cap="sq">
              <a:noFill/>
              <a:prstDash val="solid"/>
              <a:miter/>
            </a:ln>
          </p:spPr>
        </p:sp>
        <p:sp>
          <p:nvSpPr>
            <p:cNvPr id="8" name="TextBox 8"/>
            <p:cNvSpPr txBox="1"/>
            <p:nvPr/>
          </p:nvSpPr>
          <p:spPr>
            <a:xfrm>
              <a:off x="0" y="-57150"/>
              <a:ext cx="637415" cy="546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0" y="3458722"/>
            <a:ext cx="5621940" cy="4097434"/>
            <a:chOff x="0" y="0"/>
            <a:chExt cx="1605731" cy="1079159"/>
          </a:xfrm>
        </p:grpSpPr>
        <p:sp>
          <p:nvSpPr>
            <p:cNvPr id="11" name="Freeform 11"/>
            <p:cNvSpPr/>
            <p:nvPr/>
          </p:nvSpPr>
          <p:spPr>
            <a:xfrm>
              <a:off x="0" y="0"/>
              <a:ext cx="1605731" cy="1079160"/>
            </a:xfrm>
            <a:custGeom>
              <a:avLst/>
              <a:gdLst/>
              <a:ahLst/>
              <a:cxnLst/>
              <a:rect l="l" t="t" r="r" b="b"/>
              <a:pathLst>
                <a:path w="1605731" h="1079160">
                  <a:moveTo>
                    <a:pt x="39365" y="0"/>
                  </a:moveTo>
                  <a:lnTo>
                    <a:pt x="1566366" y="0"/>
                  </a:lnTo>
                  <a:cubicBezTo>
                    <a:pt x="1576806" y="0"/>
                    <a:pt x="1586819" y="4147"/>
                    <a:pt x="1594201" y="11530"/>
                  </a:cubicBezTo>
                  <a:cubicBezTo>
                    <a:pt x="1601583" y="18912"/>
                    <a:pt x="1605731" y="28925"/>
                    <a:pt x="1605731" y="39365"/>
                  </a:cubicBezTo>
                  <a:lnTo>
                    <a:pt x="1605731" y="1039794"/>
                  </a:lnTo>
                  <a:cubicBezTo>
                    <a:pt x="1605731" y="1050235"/>
                    <a:pt x="1601583" y="1060247"/>
                    <a:pt x="1594201" y="1067630"/>
                  </a:cubicBezTo>
                  <a:cubicBezTo>
                    <a:pt x="1586819" y="1075012"/>
                    <a:pt x="1576806" y="1079160"/>
                    <a:pt x="1566366" y="1079160"/>
                  </a:cubicBezTo>
                  <a:lnTo>
                    <a:pt x="39365" y="1079160"/>
                  </a:lnTo>
                  <a:cubicBezTo>
                    <a:pt x="28925" y="1079160"/>
                    <a:pt x="18912" y="1075012"/>
                    <a:pt x="11530" y="1067630"/>
                  </a:cubicBezTo>
                  <a:cubicBezTo>
                    <a:pt x="4147" y="1060247"/>
                    <a:pt x="0" y="1050235"/>
                    <a:pt x="0" y="1039794"/>
                  </a:cubicBezTo>
                  <a:lnTo>
                    <a:pt x="0" y="39365"/>
                  </a:lnTo>
                  <a:cubicBezTo>
                    <a:pt x="0" y="28925"/>
                    <a:pt x="4147" y="18912"/>
                    <a:pt x="11530" y="11530"/>
                  </a:cubicBezTo>
                  <a:cubicBezTo>
                    <a:pt x="18912" y="4147"/>
                    <a:pt x="28925" y="0"/>
                    <a:pt x="39365" y="0"/>
                  </a:cubicBezTo>
                  <a:close/>
                </a:path>
              </a:pathLst>
            </a:custGeom>
            <a:solidFill>
              <a:srgbClr val="D5EDF1"/>
            </a:solidFill>
            <a:ln cap="rnd">
              <a:noFill/>
              <a:prstDash val="solid"/>
              <a:round/>
            </a:ln>
          </p:spPr>
        </p:sp>
        <p:sp>
          <p:nvSpPr>
            <p:cNvPr id="12" name="TextBox 12"/>
            <p:cNvSpPr txBox="1"/>
            <p:nvPr/>
          </p:nvSpPr>
          <p:spPr>
            <a:xfrm>
              <a:off x="0" y="-57150"/>
              <a:ext cx="1605731" cy="1136309"/>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344836" y="3781994"/>
            <a:ext cx="2457450" cy="457433"/>
          </a:xfrm>
          <a:prstGeom prst="rect">
            <a:avLst/>
          </a:prstGeom>
        </p:spPr>
        <p:txBody>
          <a:bodyPr lIns="0" tIns="0" rIns="0" bIns="0" rtlCol="0" anchor="t">
            <a:spAutoFit/>
          </a:bodyPr>
          <a:lstStyle/>
          <a:p>
            <a:pPr algn="ctr">
              <a:lnSpc>
                <a:spcPts val="3743"/>
              </a:lnSpc>
              <a:spcBef>
                <a:spcPct val="0"/>
              </a:spcBef>
            </a:pPr>
            <a:r>
              <a:rPr lang="en-US" sz="2999" b="1">
                <a:solidFill>
                  <a:srgbClr val="000000"/>
                </a:solidFill>
                <a:ea typeface="Poppins Bold"/>
                <a:cs typeface="Poppins Bold"/>
                <a:sym typeface="Poppins Bold"/>
              </a:rPr>
              <a:t>Trần Hữu Tài</a:t>
            </a:r>
          </a:p>
        </p:txBody>
      </p:sp>
      <p:sp>
        <p:nvSpPr>
          <p:cNvPr id="14" name="TextBox 14"/>
          <p:cNvSpPr txBox="1"/>
          <p:nvPr/>
        </p:nvSpPr>
        <p:spPr>
          <a:xfrm>
            <a:off x="1076322" y="4350180"/>
            <a:ext cx="3075622" cy="457433"/>
          </a:xfrm>
          <a:prstGeom prst="rect">
            <a:avLst/>
          </a:prstGeom>
        </p:spPr>
        <p:txBody>
          <a:bodyPr lIns="0" tIns="0" rIns="0" bIns="0" rtlCol="0" anchor="t">
            <a:spAutoFit/>
          </a:bodyPr>
          <a:lstStyle/>
          <a:p>
            <a:pPr algn="ctr">
              <a:lnSpc>
                <a:spcPts val="3743"/>
              </a:lnSpc>
              <a:spcBef>
                <a:spcPct val="0"/>
              </a:spcBef>
            </a:pPr>
            <a:r>
              <a:rPr lang="en-US" sz="2999" b="1">
                <a:solidFill>
                  <a:srgbClr val="000000"/>
                </a:solidFill>
                <a:ea typeface="Poppins Bold"/>
                <a:cs typeface="Poppins Bold"/>
                <a:sym typeface="Poppins Bold"/>
              </a:rPr>
              <a:t>Nguyễn Văn Tài</a:t>
            </a:r>
          </a:p>
        </p:txBody>
      </p:sp>
      <p:sp>
        <p:nvSpPr>
          <p:cNvPr id="15" name="TextBox 15"/>
          <p:cNvSpPr txBox="1"/>
          <p:nvPr/>
        </p:nvSpPr>
        <p:spPr>
          <a:xfrm>
            <a:off x="591058" y="5020902"/>
            <a:ext cx="4609322" cy="457433"/>
          </a:xfrm>
          <a:prstGeom prst="rect">
            <a:avLst/>
          </a:prstGeom>
        </p:spPr>
        <p:txBody>
          <a:bodyPr lIns="0" tIns="0" rIns="0" bIns="0" rtlCol="0" anchor="t">
            <a:spAutoFit/>
          </a:bodyPr>
          <a:lstStyle/>
          <a:p>
            <a:pPr marL="0" lvl="0" indent="0" algn="l">
              <a:lnSpc>
                <a:spcPts val="3743"/>
              </a:lnSpc>
              <a:spcBef>
                <a:spcPct val="0"/>
              </a:spcBef>
            </a:pPr>
            <a:r>
              <a:rPr lang="en-US" sz="2999" b="1" u="none" strike="noStrike">
                <a:solidFill>
                  <a:srgbClr val="000000"/>
                </a:solidFill>
                <a:ea typeface="Poppins Bold"/>
                <a:cs typeface="Poppins Bold"/>
                <a:sym typeface="Poppins Bold"/>
              </a:rPr>
              <a:t>Nguyễn Phan Hoài Bin</a:t>
            </a:r>
          </a:p>
        </p:txBody>
      </p:sp>
      <p:sp>
        <p:nvSpPr>
          <p:cNvPr id="16" name="TextBox 16"/>
          <p:cNvSpPr txBox="1"/>
          <p:nvPr/>
        </p:nvSpPr>
        <p:spPr>
          <a:xfrm>
            <a:off x="1217260" y="5688414"/>
            <a:ext cx="2712601" cy="457433"/>
          </a:xfrm>
          <a:prstGeom prst="rect">
            <a:avLst/>
          </a:prstGeom>
        </p:spPr>
        <p:txBody>
          <a:bodyPr lIns="0" tIns="0" rIns="0" bIns="0" rtlCol="0" anchor="t">
            <a:spAutoFit/>
          </a:bodyPr>
          <a:lstStyle/>
          <a:p>
            <a:pPr marL="0" lvl="0" indent="0" algn="ctr">
              <a:lnSpc>
                <a:spcPts val="3743"/>
              </a:lnSpc>
              <a:spcBef>
                <a:spcPct val="0"/>
              </a:spcBef>
            </a:pPr>
            <a:r>
              <a:rPr lang="en-US" sz="2999" b="1" u="none" strike="noStrike">
                <a:solidFill>
                  <a:srgbClr val="000000"/>
                </a:solidFill>
                <a:ea typeface="Poppins Bold"/>
                <a:cs typeface="Poppins Bold"/>
                <a:sym typeface="Poppins Bold"/>
              </a:rPr>
              <a:t>Lê Quốc Thịnh</a:t>
            </a:r>
          </a:p>
        </p:txBody>
      </p:sp>
      <p:sp>
        <p:nvSpPr>
          <p:cNvPr id="17" name="TextBox 17"/>
          <p:cNvSpPr txBox="1"/>
          <p:nvPr/>
        </p:nvSpPr>
        <p:spPr>
          <a:xfrm>
            <a:off x="718626" y="6355926"/>
            <a:ext cx="3709869" cy="457433"/>
          </a:xfrm>
          <a:prstGeom prst="rect">
            <a:avLst/>
          </a:prstGeom>
        </p:spPr>
        <p:txBody>
          <a:bodyPr lIns="0" tIns="0" rIns="0" bIns="0" rtlCol="0" anchor="t">
            <a:spAutoFit/>
          </a:bodyPr>
          <a:lstStyle/>
          <a:p>
            <a:pPr marL="0" lvl="0" indent="0" algn="ctr">
              <a:lnSpc>
                <a:spcPts val="3743"/>
              </a:lnSpc>
              <a:spcBef>
                <a:spcPct val="0"/>
              </a:spcBef>
            </a:pPr>
            <a:r>
              <a:rPr lang="en-US" sz="2999" b="1" u="none" strike="noStrike">
                <a:solidFill>
                  <a:srgbClr val="000000"/>
                </a:solidFill>
                <a:ea typeface="Poppins Bold"/>
                <a:cs typeface="Poppins Bold"/>
                <a:sym typeface="Poppins Bold"/>
              </a:rPr>
              <a:t>Trần Thị Thanh Thơ</a:t>
            </a:r>
          </a:p>
        </p:txBody>
      </p:sp>
      <p:grpSp>
        <p:nvGrpSpPr>
          <p:cNvPr id="18" name="Group 18"/>
          <p:cNvGrpSpPr/>
          <p:nvPr/>
        </p:nvGrpSpPr>
        <p:grpSpPr>
          <a:xfrm>
            <a:off x="5200380" y="8489913"/>
            <a:ext cx="1082147" cy="1154057"/>
            <a:chOff x="0" y="0"/>
            <a:chExt cx="285010" cy="303949"/>
          </a:xfrm>
        </p:grpSpPr>
        <p:sp>
          <p:nvSpPr>
            <p:cNvPr id="19" name="Freeform 19"/>
            <p:cNvSpPr/>
            <p:nvPr/>
          </p:nvSpPr>
          <p:spPr>
            <a:xfrm>
              <a:off x="0" y="0"/>
              <a:ext cx="285010" cy="303949"/>
            </a:xfrm>
            <a:custGeom>
              <a:avLst/>
              <a:gdLst/>
              <a:ahLst/>
              <a:cxnLst/>
              <a:rect l="l" t="t" r="r" b="b"/>
              <a:pathLst>
                <a:path w="285010" h="303949">
                  <a:moveTo>
                    <a:pt x="93005" y="0"/>
                  </a:moveTo>
                  <a:lnTo>
                    <a:pt x="192005" y="0"/>
                  </a:lnTo>
                  <a:cubicBezTo>
                    <a:pt x="243370" y="0"/>
                    <a:pt x="285010" y="41640"/>
                    <a:pt x="285010" y="93005"/>
                  </a:cubicBezTo>
                  <a:lnTo>
                    <a:pt x="285010" y="210944"/>
                  </a:lnTo>
                  <a:cubicBezTo>
                    <a:pt x="285010" y="262309"/>
                    <a:pt x="243370" y="303949"/>
                    <a:pt x="192005" y="303949"/>
                  </a:cubicBezTo>
                  <a:lnTo>
                    <a:pt x="93005" y="303949"/>
                  </a:lnTo>
                  <a:cubicBezTo>
                    <a:pt x="41640" y="303949"/>
                    <a:pt x="0" y="262309"/>
                    <a:pt x="0" y="210944"/>
                  </a:cubicBezTo>
                  <a:lnTo>
                    <a:pt x="0" y="93005"/>
                  </a:lnTo>
                  <a:cubicBezTo>
                    <a:pt x="0" y="41640"/>
                    <a:pt x="41640" y="0"/>
                    <a:pt x="93005" y="0"/>
                  </a:cubicBezTo>
                  <a:close/>
                </a:path>
              </a:pathLst>
            </a:custGeom>
            <a:solidFill>
              <a:srgbClr val="D5EDF1">
                <a:alpha val="22745"/>
              </a:srgbClr>
            </a:solidFill>
            <a:ln cap="sq">
              <a:noFill/>
              <a:prstDash val="solid"/>
              <a:miter/>
            </a:ln>
          </p:spPr>
        </p:sp>
        <p:sp>
          <p:nvSpPr>
            <p:cNvPr id="20" name="TextBox 20"/>
            <p:cNvSpPr txBox="1"/>
            <p:nvPr/>
          </p:nvSpPr>
          <p:spPr>
            <a:xfrm>
              <a:off x="0" y="-57150"/>
              <a:ext cx="285010" cy="36109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10861657" y="9169809"/>
            <a:ext cx="1821590" cy="1858288"/>
            <a:chOff x="0" y="0"/>
            <a:chExt cx="479760" cy="489426"/>
          </a:xfrm>
        </p:grpSpPr>
        <p:sp>
          <p:nvSpPr>
            <p:cNvPr id="22" name="Freeform 22"/>
            <p:cNvSpPr/>
            <p:nvPr/>
          </p:nvSpPr>
          <p:spPr>
            <a:xfrm>
              <a:off x="0" y="0"/>
              <a:ext cx="479760" cy="489426"/>
            </a:xfrm>
            <a:custGeom>
              <a:avLst/>
              <a:gdLst/>
              <a:ahLst/>
              <a:cxnLst/>
              <a:rect l="l" t="t" r="r" b="b"/>
              <a:pathLst>
                <a:path w="479760" h="489426">
                  <a:moveTo>
                    <a:pt x="55251" y="0"/>
                  </a:moveTo>
                  <a:lnTo>
                    <a:pt x="424509" y="0"/>
                  </a:lnTo>
                  <a:cubicBezTo>
                    <a:pt x="455024" y="0"/>
                    <a:pt x="479760" y="24737"/>
                    <a:pt x="479760" y="55251"/>
                  </a:cubicBezTo>
                  <a:lnTo>
                    <a:pt x="479760" y="434174"/>
                  </a:lnTo>
                  <a:cubicBezTo>
                    <a:pt x="479760" y="464689"/>
                    <a:pt x="455024" y="489426"/>
                    <a:pt x="424509" y="489426"/>
                  </a:cubicBezTo>
                  <a:lnTo>
                    <a:pt x="55251" y="489426"/>
                  </a:lnTo>
                  <a:cubicBezTo>
                    <a:pt x="24737" y="489426"/>
                    <a:pt x="0" y="464689"/>
                    <a:pt x="0" y="434174"/>
                  </a:cubicBezTo>
                  <a:lnTo>
                    <a:pt x="0" y="55251"/>
                  </a:lnTo>
                  <a:cubicBezTo>
                    <a:pt x="0" y="24737"/>
                    <a:pt x="24737" y="0"/>
                    <a:pt x="55251" y="0"/>
                  </a:cubicBezTo>
                  <a:close/>
                </a:path>
              </a:pathLst>
            </a:custGeom>
            <a:solidFill>
              <a:srgbClr val="D5EDF1">
                <a:alpha val="35686"/>
              </a:srgbClr>
            </a:solidFill>
            <a:ln cap="sq">
              <a:noFill/>
              <a:prstDash val="solid"/>
              <a:miter/>
            </a:ln>
          </p:spPr>
        </p:sp>
        <p:sp>
          <p:nvSpPr>
            <p:cNvPr id="23" name="TextBox 23"/>
            <p:cNvSpPr txBox="1"/>
            <p:nvPr/>
          </p:nvSpPr>
          <p:spPr>
            <a:xfrm>
              <a:off x="0" y="-57150"/>
              <a:ext cx="479760" cy="546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4" name="Group 24"/>
          <p:cNvGrpSpPr/>
          <p:nvPr/>
        </p:nvGrpSpPr>
        <p:grpSpPr>
          <a:xfrm>
            <a:off x="12506265" y="1121357"/>
            <a:ext cx="1082147" cy="1154057"/>
            <a:chOff x="0" y="0"/>
            <a:chExt cx="285010" cy="303949"/>
          </a:xfrm>
        </p:grpSpPr>
        <p:sp>
          <p:nvSpPr>
            <p:cNvPr id="25" name="Freeform 25"/>
            <p:cNvSpPr/>
            <p:nvPr/>
          </p:nvSpPr>
          <p:spPr>
            <a:xfrm>
              <a:off x="0" y="0"/>
              <a:ext cx="285010" cy="303949"/>
            </a:xfrm>
            <a:custGeom>
              <a:avLst/>
              <a:gdLst/>
              <a:ahLst/>
              <a:cxnLst/>
              <a:rect l="l" t="t" r="r" b="b"/>
              <a:pathLst>
                <a:path w="285010" h="303949">
                  <a:moveTo>
                    <a:pt x="93005" y="0"/>
                  </a:moveTo>
                  <a:lnTo>
                    <a:pt x="192005" y="0"/>
                  </a:lnTo>
                  <a:cubicBezTo>
                    <a:pt x="243370" y="0"/>
                    <a:pt x="285010" y="41640"/>
                    <a:pt x="285010" y="93005"/>
                  </a:cubicBezTo>
                  <a:lnTo>
                    <a:pt x="285010" y="210944"/>
                  </a:lnTo>
                  <a:cubicBezTo>
                    <a:pt x="285010" y="262309"/>
                    <a:pt x="243370" y="303949"/>
                    <a:pt x="192005" y="303949"/>
                  </a:cubicBezTo>
                  <a:lnTo>
                    <a:pt x="93005" y="303949"/>
                  </a:lnTo>
                  <a:cubicBezTo>
                    <a:pt x="41640" y="303949"/>
                    <a:pt x="0" y="262309"/>
                    <a:pt x="0" y="210944"/>
                  </a:cubicBezTo>
                  <a:lnTo>
                    <a:pt x="0" y="93005"/>
                  </a:lnTo>
                  <a:cubicBezTo>
                    <a:pt x="0" y="41640"/>
                    <a:pt x="41640" y="0"/>
                    <a:pt x="93005" y="0"/>
                  </a:cubicBezTo>
                  <a:close/>
                </a:path>
              </a:pathLst>
            </a:custGeom>
            <a:solidFill>
              <a:srgbClr val="D5EDF1">
                <a:alpha val="22745"/>
              </a:srgbClr>
            </a:solidFill>
            <a:ln cap="sq">
              <a:noFill/>
              <a:prstDash val="solid"/>
              <a:miter/>
            </a:ln>
          </p:spPr>
        </p:sp>
        <p:sp>
          <p:nvSpPr>
            <p:cNvPr id="26" name="TextBox 26"/>
            <p:cNvSpPr txBox="1"/>
            <p:nvPr/>
          </p:nvSpPr>
          <p:spPr>
            <a:xfrm>
              <a:off x="0" y="-57150"/>
              <a:ext cx="285010" cy="36109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a:off x="7773797" y="8379740"/>
            <a:ext cx="7459571" cy="878560"/>
            <a:chOff x="0" y="0"/>
            <a:chExt cx="1964661" cy="231390"/>
          </a:xfrm>
        </p:grpSpPr>
        <p:sp>
          <p:nvSpPr>
            <p:cNvPr id="28" name="Freeform 28"/>
            <p:cNvSpPr/>
            <p:nvPr/>
          </p:nvSpPr>
          <p:spPr>
            <a:xfrm>
              <a:off x="0" y="0"/>
              <a:ext cx="1964661" cy="231390"/>
            </a:xfrm>
            <a:custGeom>
              <a:avLst/>
              <a:gdLst/>
              <a:ahLst/>
              <a:cxnLst/>
              <a:rect l="l" t="t" r="r" b="b"/>
              <a:pathLst>
                <a:path w="1964661" h="231390">
                  <a:moveTo>
                    <a:pt x="17643" y="0"/>
                  </a:moveTo>
                  <a:lnTo>
                    <a:pt x="1947017" y="0"/>
                  </a:lnTo>
                  <a:cubicBezTo>
                    <a:pt x="1956761" y="0"/>
                    <a:pt x="1964661" y="7899"/>
                    <a:pt x="1964661" y="17643"/>
                  </a:cubicBezTo>
                  <a:lnTo>
                    <a:pt x="1964661" y="213747"/>
                  </a:lnTo>
                  <a:cubicBezTo>
                    <a:pt x="1964661" y="223491"/>
                    <a:pt x="1956761" y="231390"/>
                    <a:pt x="1947017" y="231390"/>
                  </a:cubicBezTo>
                  <a:lnTo>
                    <a:pt x="17643" y="231390"/>
                  </a:lnTo>
                  <a:cubicBezTo>
                    <a:pt x="7899" y="231390"/>
                    <a:pt x="0" y="223491"/>
                    <a:pt x="0" y="213747"/>
                  </a:cubicBezTo>
                  <a:lnTo>
                    <a:pt x="0" y="17643"/>
                  </a:lnTo>
                  <a:cubicBezTo>
                    <a:pt x="0" y="7899"/>
                    <a:pt x="7899" y="0"/>
                    <a:pt x="17643" y="0"/>
                  </a:cubicBezTo>
                  <a:close/>
                </a:path>
              </a:pathLst>
            </a:custGeom>
            <a:solidFill>
              <a:srgbClr val="41B8D5"/>
            </a:solidFill>
          </p:spPr>
        </p:sp>
        <p:sp>
          <p:nvSpPr>
            <p:cNvPr id="29" name="TextBox 29"/>
            <p:cNvSpPr txBox="1"/>
            <p:nvPr/>
          </p:nvSpPr>
          <p:spPr>
            <a:xfrm>
              <a:off x="0" y="-57150"/>
              <a:ext cx="1964661" cy="288540"/>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30" name="Group 30"/>
          <p:cNvGrpSpPr/>
          <p:nvPr/>
        </p:nvGrpSpPr>
        <p:grpSpPr>
          <a:xfrm>
            <a:off x="7773797" y="3339008"/>
            <a:ext cx="7444754" cy="878560"/>
            <a:chOff x="0" y="0"/>
            <a:chExt cx="1960758" cy="231390"/>
          </a:xfrm>
        </p:grpSpPr>
        <p:sp>
          <p:nvSpPr>
            <p:cNvPr id="31" name="Freeform 31"/>
            <p:cNvSpPr/>
            <p:nvPr/>
          </p:nvSpPr>
          <p:spPr>
            <a:xfrm>
              <a:off x="0" y="0"/>
              <a:ext cx="1960758" cy="231390"/>
            </a:xfrm>
            <a:custGeom>
              <a:avLst/>
              <a:gdLst/>
              <a:ahLst/>
              <a:cxnLst/>
              <a:rect l="l" t="t" r="r" b="b"/>
              <a:pathLst>
                <a:path w="1960758" h="231390">
                  <a:moveTo>
                    <a:pt x="17679" y="0"/>
                  </a:moveTo>
                  <a:lnTo>
                    <a:pt x="1943080" y="0"/>
                  </a:lnTo>
                  <a:cubicBezTo>
                    <a:pt x="1947769" y="0"/>
                    <a:pt x="1952265" y="1863"/>
                    <a:pt x="1955580" y="5178"/>
                  </a:cubicBezTo>
                  <a:cubicBezTo>
                    <a:pt x="1958896" y="8493"/>
                    <a:pt x="1960758" y="12990"/>
                    <a:pt x="1960758" y="17679"/>
                  </a:cubicBezTo>
                  <a:lnTo>
                    <a:pt x="1960758" y="213712"/>
                  </a:lnTo>
                  <a:cubicBezTo>
                    <a:pt x="1960758" y="223475"/>
                    <a:pt x="1952843" y="231390"/>
                    <a:pt x="1943080" y="231390"/>
                  </a:cubicBezTo>
                  <a:lnTo>
                    <a:pt x="17679" y="231390"/>
                  </a:lnTo>
                  <a:cubicBezTo>
                    <a:pt x="7915" y="231390"/>
                    <a:pt x="0" y="223475"/>
                    <a:pt x="0" y="213712"/>
                  </a:cubicBezTo>
                  <a:lnTo>
                    <a:pt x="0" y="17679"/>
                  </a:lnTo>
                  <a:cubicBezTo>
                    <a:pt x="0" y="7915"/>
                    <a:pt x="7915" y="0"/>
                    <a:pt x="17679" y="0"/>
                  </a:cubicBezTo>
                  <a:close/>
                </a:path>
              </a:pathLst>
            </a:custGeom>
            <a:solidFill>
              <a:srgbClr val="41B8D5"/>
            </a:solidFill>
          </p:spPr>
        </p:sp>
        <p:sp>
          <p:nvSpPr>
            <p:cNvPr id="32" name="TextBox 32"/>
            <p:cNvSpPr txBox="1"/>
            <p:nvPr/>
          </p:nvSpPr>
          <p:spPr>
            <a:xfrm>
              <a:off x="0" y="-57150"/>
              <a:ext cx="1960758" cy="288540"/>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sp>
        <p:nvSpPr>
          <p:cNvPr id="33" name="TextBox 33"/>
          <p:cNvSpPr txBox="1"/>
          <p:nvPr/>
        </p:nvSpPr>
        <p:spPr>
          <a:xfrm>
            <a:off x="8002936" y="3522990"/>
            <a:ext cx="7215615" cy="411075"/>
          </a:xfrm>
          <a:prstGeom prst="rect">
            <a:avLst/>
          </a:prstGeom>
        </p:spPr>
        <p:txBody>
          <a:bodyPr lIns="0" tIns="0" rIns="0" bIns="0" rtlCol="0" anchor="t">
            <a:spAutoFit/>
          </a:bodyPr>
          <a:lstStyle/>
          <a:p>
            <a:pPr algn="l">
              <a:lnSpc>
                <a:spcPts val="3511"/>
              </a:lnSpc>
              <a:spcBef>
                <a:spcPct val="0"/>
              </a:spcBef>
            </a:pPr>
            <a:r>
              <a:rPr lang="en-US" sz="2199" b="1">
                <a:solidFill>
                  <a:srgbClr val="000000"/>
                </a:solidFill>
                <a:ea typeface="Poppins Bold"/>
                <a:cs typeface="Poppins Bold"/>
                <a:sym typeface="Poppins Bold"/>
              </a:rPr>
              <a:t>1.Core Network, Discovery, Application Lifecycle</a:t>
            </a:r>
          </a:p>
        </p:txBody>
      </p:sp>
      <p:grpSp>
        <p:nvGrpSpPr>
          <p:cNvPr id="34" name="Group 34"/>
          <p:cNvGrpSpPr/>
          <p:nvPr/>
        </p:nvGrpSpPr>
        <p:grpSpPr>
          <a:xfrm>
            <a:off x="7773797" y="7187354"/>
            <a:ext cx="7459571" cy="878560"/>
            <a:chOff x="0" y="0"/>
            <a:chExt cx="1964661" cy="231390"/>
          </a:xfrm>
        </p:grpSpPr>
        <p:sp>
          <p:nvSpPr>
            <p:cNvPr id="35" name="Freeform 35"/>
            <p:cNvSpPr/>
            <p:nvPr/>
          </p:nvSpPr>
          <p:spPr>
            <a:xfrm>
              <a:off x="0" y="0"/>
              <a:ext cx="1964661" cy="231390"/>
            </a:xfrm>
            <a:custGeom>
              <a:avLst/>
              <a:gdLst/>
              <a:ahLst/>
              <a:cxnLst/>
              <a:rect l="l" t="t" r="r" b="b"/>
              <a:pathLst>
                <a:path w="1964661" h="231390">
                  <a:moveTo>
                    <a:pt x="17643" y="0"/>
                  </a:moveTo>
                  <a:lnTo>
                    <a:pt x="1947017" y="0"/>
                  </a:lnTo>
                  <a:cubicBezTo>
                    <a:pt x="1956761" y="0"/>
                    <a:pt x="1964661" y="7899"/>
                    <a:pt x="1964661" y="17643"/>
                  </a:cubicBezTo>
                  <a:lnTo>
                    <a:pt x="1964661" y="213747"/>
                  </a:lnTo>
                  <a:cubicBezTo>
                    <a:pt x="1964661" y="223491"/>
                    <a:pt x="1956761" y="231390"/>
                    <a:pt x="1947017" y="231390"/>
                  </a:cubicBezTo>
                  <a:lnTo>
                    <a:pt x="17643" y="231390"/>
                  </a:lnTo>
                  <a:cubicBezTo>
                    <a:pt x="7899" y="231390"/>
                    <a:pt x="0" y="223491"/>
                    <a:pt x="0" y="213747"/>
                  </a:cubicBezTo>
                  <a:lnTo>
                    <a:pt x="0" y="17643"/>
                  </a:lnTo>
                  <a:cubicBezTo>
                    <a:pt x="0" y="7899"/>
                    <a:pt x="7899" y="0"/>
                    <a:pt x="17643" y="0"/>
                  </a:cubicBezTo>
                  <a:close/>
                </a:path>
              </a:pathLst>
            </a:custGeom>
            <a:solidFill>
              <a:srgbClr val="41B8D5"/>
            </a:solidFill>
          </p:spPr>
        </p:sp>
        <p:sp>
          <p:nvSpPr>
            <p:cNvPr id="36" name="TextBox 36"/>
            <p:cNvSpPr txBox="1"/>
            <p:nvPr/>
          </p:nvSpPr>
          <p:spPr>
            <a:xfrm>
              <a:off x="0" y="-57150"/>
              <a:ext cx="1964661" cy="288540"/>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37" name="Group 37"/>
          <p:cNvGrpSpPr/>
          <p:nvPr/>
        </p:nvGrpSpPr>
        <p:grpSpPr>
          <a:xfrm>
            <a:off x="7845766" y="5903482"/>
            <a:ext cx="7459571" cy="878560"/>
            <a:chOff x="0" y="0"/>
            <a:chExt cx="1964661" cy="231390"/>
          </a:xfrm>
        </p:grpSpPr>
        <p:sp>
          <p:nvSpPr>
            <p:cNvPr id="38" name="Freeform 38"/>
            <p:cNvSpPr/>
            <p:nvPr/>
          </p:nvSpPr>
          <p:spPr>
            <a:xfrm>
              <a:off x="0" y="0"/>
              <a:ext cx="1964661" cy="231390"/>
            </a:xfrm>
            <a:custGeom>
              <a:avLst/>
              <a:gdLst/>
              <a:ahLst/>
              <a:cxnLst/>
              <a:rect l="l" t="t" r="r" b="b"/>
              <a:pathLst>
                <a:path w="1964661" h="231390">
                  <a:moveTo>
                    <a:pt x="17643" y="0"/>
                  </a:moveTo>
                  <a:lnTo>
                    <a:pt x="1947017" y="0"/>
                  </a:lnTo>
                  <a:cubicBezTo>
                    <a:pt x="1956761" y="0"/>
                    <a:pt x="1964661" y="7899"/>
                    <a:pt x="1964661" y="17643"/>
                  </a:cubicBezTo>
                  <a:lnTo>
                    <a:pt x="1964661" y="213747"/>
                  </a:lnTo>
                  <a:cubicBezTo>
                    <a:pt x="1964661" y="223491"/>
                    <a:pt x="1956761" y="231390"/>
                    <a:pt x="1947017" y="231390"/>
                  </a:cubicBezTo>
                  <a:lnTo>
                    <a:pt x="17643" y="231390"/>
                  </a:lnTo>
                  <a:cubicBezTo>
                    <a:pt x="7899" y="231390"/>
                    <a:pt x="0" y="223491"/>
                    <a:pt x="0" y="213747"/>
                  </a:cubicBezTo>
                  <a:lnTo>
                    <a:pt x="0" y="17643"/>
                  </a:lnTo>
                  <a:cubicBezTo>
                    <a:pt x="0" y="7899"/>
                    <a:pt x="7899" y="0"/>
                    <a:pt x="17643" y="0"/>
                  </a:cubicBezTo>
                  <a:close/>
                </a:path>
              </a:pathLst>
            </a:custGeom>
            <a:solidFill>
              <a:srgbClr val="41B8D5"/>
            </a:solidFill>
          </p:spPr>
        </p:sp>
        <p:sp>
          <p:nvSpPr>
            <p:cNvPr id="39" name="TextBox 39"/>
            <p:cNvSpPr txBox="1"/>
            <p:nvPr/>
          </p:nvSpPr>
          <p:spPr>
            <a:xfrm>
              <a:off x="0" y="-57150"/>
              <a:ext cx="1964661" cy="288540"/>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sp>
        <p:nvSpPr>
          <p:cNvPr id="40" name="TextBox 40"/>
          <p:cNvSpPr txBox="1"/>
          <p:nvPr/>
        </p:nvSpPr>
        <p:spPr>
          <a:xfrm>
            <a:off x="8002936" y="6089780"/>
            <a:ext cx="3541395" cy="411075"/>
          </a:xfrm>
          <a:prstGeom prst="rect">
            <a:avLst/>
          </a:prstGeom>
        </p:spPr>
        <p:txBody>
          <a:bodyPr lIns="0" tIns="0" rIns="0" bIns="0" rtlCol="0" anchor="t">
            <a:spAutoFit/>
          </a:bodyPr>
          <a:lstStyle/>
          <a:p>
            <a:pPr algn="ctr">
              <a:lnSpc>
                <a:spcPts val="3511"/>
              </a:lnSpc>
              <a:spcBef>
                <a:spcPct val="0"/>
              </a:spcBef>
            </a:pPr>
            <a:r>
              <a:rPr lang="en-US" sz="2199" b="1">
                <a:solidFill>
                  <a:srgbClr val="000000"/>
                </a:solidFill>
                <a:ea typeface="Poppins Bold"/>
                <a:cs typeface="Poppins Bold"/>
                <a:sym typeface="Poppins Bold"/>
              </a:rPr>
              <a:t>3.Protocol &amp; File Transfer</a:t>
            </a:r>
          </a:p>
        </p:txBody>
      </p:sp>
      <p:grpSp>
        <p:nvGrpSpPr>
          <p:cNvPr id="41" name="Group 41"/>
          <p:cNvGrpSpPr/>
          <p:nvPr/>
        </p:nvGrpSpPr>
        <p:grpSpPr>
          <a:xfrm>
            <a:off x="7821954" y="4635981"/>
            <a:ext cx="7444754" cy="916005"/>
            <a:chOff x="0" y="0"/>
            <a:chExt cx="1960758" cy="241252"/>
          </a:xfrm>
        </p:grpSpPr>
        <p:sp>
          <p:nvSpPr>
            <p:cNvPr id="42" name="Freeform 42"/>
            <p:cNvSpPr/>
            <p:nvPr/>
          </p:nvSpPr>
          <p:spPr>
            <a:xfrm>
              <a:off x="0" y="0"/>
              <a:ext cx="1960758" cy="241252"/>
            </a:xfrm>
            <a:custGeom>
              <a:avLst/>
              <a:gdLst/>
              <a:ahLst/>
              <a:cxnLst/>
              <a:rect l="l" t="t" r="r" b="b"/>
              <a:pathLst>
                <a:path w="1960758" h="241252">
                  <a:moveTo>
                    <a:pt x="17679" y="0"/>
                  </a:moveTo>
                  <a:lnTo>
                    <a:pt x="1943080" y="0"/>
                  </a:lnTo>
                  <a:cubicBezTo>
                    <a:pt x="1947769" y="0"/>
                    <a:pt x="1952265" y="1863"/>
                    <a:pt x="1955580" y="5178"/>
                  </a:cubicBezTo>
                  <a:cubicBezTo>
                    <a:pt x="1958896" y="8493"/>
                    <a:pt x="1960758" y="12990"/>
                    <a:pt x="1960758" y="17679"/>
                  </a:cubicBezTo>
                  <a:lnTo>
                    <a:pt x="1960758" y="223574"/>
                  </a:lnTo>
                  <a:cubicBezTo>
                    <a:pt x="1960758" y="233337"/>
                    <a:pt x="1952843" y="241252"/>
                    <a:pt x="1943080" y="241252"/>
                  </a:cubicBezTo>
                  <a:lnTo>
                    <a:pt x="17679" y="241252"/>
                  </a:lnTo>
                  <a:cubicBezTo>
                    <a:pt x="7915" y="241252"/>
                    <a:pt x="0" y="233337"/>
                    <a:pt x="0" y="223574"/>
                  </a:cubicBezTo>
                  <a:lnTo>
                    <a:pt x="0" y="17679"/>
                  </a:lnTo>
                  <a:cubicBezTo>
                    <a:pt x="0" y="7915"/>
                    <a:pt x="7915" y="0"/>
                    <a:pt x="17679" y="0"/>
                  </a:cubicBezTo>
                  <a:close/>
                </a:path>
              </a:pathLst>
            </a:custGeom>
            <a:solidFill>
              <a:srgbClr val="41B8D5"/>
            </a:solidFill>
          </p:spPr>
        </p:sp>
        <p:sp>
          <p:nvSpPr>
            <p:cNvPr id="43" name="TextBox 43"/>
            <p:cNvSpPr txBox="1"/>
            <p:nvPr/>
          </p:nvSpPr>
          <p:spPr>
            <a:xfrm>
              <a:off x="0" y="-57150"/>
              <a:ext cx="1960758" cy="298402"/>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sp>
        <p:nvSpPr>
          <p:cNvPr id="44" name="TextBox 44"/>
          <p:cNvSpPr txBox="1"/>
          <p:nvPr/>
        </p:nvSpPr>
        <p:spPr>
          <a:xfrm>
            <a:off x="8002936" y="4682909"/>
            <a:ext cx="2891076" cy="411075"/>
          </a:xfrm>
          <a:prstGeom prst="rect">
            <a:avLst/>
          </a:prstGeom>
        </p:spPr>
        <p:txBody>
          <a:bodyPr lIns="0" tIns="0" rIns="0" bIns="0" rtlCol="0" anchor="t">
            <a:spAutoFit/>
          </a:bodyPr>
          <a:lstStyle/>
          <a:p>
            <a:pPr algn="ctr">
              <a:lnSpc>
                <a:spcPts val="3511"/>
              </a:lnSpc>
              <a:spcBef>
                <a:spcPct val="0"/>
              </a:spcBef>
            </a:pPr>
            <a:r>
              <a:rPr lang="en-US" sz="2199" b="1">
                <a:solidFill>
                  <a:srgbClr val="000000"/>
                </a:solidFill>
                <a:ea typeface="Poppins Bold"/>
                <a:cs typeface="Poppins Bold"/>
                <a:sym typeface="Poppins Bold"/>
              </a:rPr>
              <a:t>2.Security &amp; Identity</a:t>
            </a:r>
          </a:p>
        </p:txBody>
      </p:sp>
      <p:sp>
        <p:nvSpPr>
          <p:cNvPr id="45" name="TextBox 45"/>
          <p:cNvSpPr txBox="1"/>
          <p:nvPr/>
        </p:nvSpPr>
        <p:spPr>
          <a:xfrm>
            <a:off x="8002936" y="7287627"/>
            <a:ext cx="3561517" cy="411075"/>
          </a:xfrm>
          <a:prstGeom prst="rect">
            <a:avLst/>
          </a:prstGeom>
        </p:spPr>
        <p:txBody>
          <a:bodyPr lIns="0" tIns="0" rIns="0" bIns="0" rtlCol="0" anchor="t">
            <a:spAutoFit/>
          </a:bodyPr>
          <a:lstStyle/>
          <a:p>
            <a:pPr algn="ctr">
              <a:lnSpc>
                <a:spcPts val="3511"/>
              </a:lnSpc>
              <a:spcBef>
                <a:spcPct val="0"/>
              </a:spcBef>
            </a:pPr>
            <a:r>
              <a:rPr lang="en-US" sz="2199" b="1">
                <a:solidFill>
                  <a:srgbClr val="000000"/>
                </a:solidFill>
                <a:ea typeface="Poppins Bold"/>
                <a:cs typeface="Poppins Bold"/>
                <a:sym typeface="Poppins Bold"/>
              </a:rPr>
              <a:t>4.Protocol &amp; File Transfer</a:t>
            </a:r>
          </a:p>
        </p:txBody>
      </p:sp>
      <p:sp>
        <p:nvSpPr>
          <p:cNvPr id="46" name="TextBox 46"/>
          <p:cNvSpPr txBox="1"/>
          <p:nvPr/>
        </p:nvSpPr>
        <p:spPr>
          <a:xfrm>
            <a:off x="8002936" y="8533399"/>
            <a:ext cx="2540437" cy="411075"/>
          </a:xfrm>
          <a:prstGeom prst="rect">
            <a:avLst/>
          </a:prstGeom>
        </p:spPr>
        <p:txBody>
          <a:bodyPr lIns="0" tIns="0" rIns="0" bIns="0" rtlCol="0" anchor="t">
            <a:spAutoFit/>
          </a:bodyPr>
          <a:lstStyle/>
          <a:p>
            <a:pPr algn="ctr">
              <a:lnSpc>
                <a:spcPts val="3511"/>
              </a:lnSpc>
              <a:spcBef>
                <a:spcPct val="0"/>
              </a:spcBef>
            </a:pPr>
            <a:r>
              <a:rPr lang="en-US" sz="2199" b="1">
                <a:solidFill>
                  <a:srgbClr val="000000"/>
                </a:solidFill>
                <a:ea typeface="Poppins Bold"/>
                <a:cs typeface="Poppins Bold"/>
                <a:sym typeface="Poppins Bold"/>
              </a:rPr>
              <a:t>5.GUI &amp; Controller</a:t>
            </a: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50"/>
                                        <p:tgtEl>
                                          <p:spTgt spid="10"/>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50"/>
                                        <p:tgtEl>
                                          <p:spTgt spid="13"/>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50"/>
                                        <p:tgtEl>
                                          <p:spTgt spid="14"/>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50"/>
                                        <p:tgtEl>
                                          <p:spTgt spid="15"/>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50"/>
                                        <p:tgtEl>
                                          <p:spTgt spid="16"/>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250"/>
                                        <p:tgtEl>
                                          <p:spTgt spid="17"/>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50"/>
                                        <p:tgtEl>
                                          <p:spTgt spid="18"/>
                                        </p:tgtEl>
                                      </p:cBhvr>
                                    </p:animEffect>
                                  </p:childTnLst>
                                </p:cTn>
                              </p:par>
                            </p:childTnLst>
                          </p:cTn>
                        </p:par>
                        <p:par>
                          <p:cTn id="40" fill="hold">
                            <p:stCondLst>
                              <p:cond delay="2250"/>
                            </p:stCondLst>
                            <p:childTnLst>
                              <p:par>
                                <p:cTn id="41" presetID="10" presetClass="entr" presetSubtype="0" fill="hold"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childTnLst>
                          </p:cTn>
                        </p:par>
                        <p:par>
                          <p:cTn id="44" fill="hold">
                            <p:stCondLst>
                              <p:cond delay="2750"/>
                            </p:stCondLst>
                            <p:childTnLst>
                              <p:par>
                                <p:cTn id="45" presetID="10" presetClass="entr" presetSubtype="0"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250"/>
                                        <p:tgtEl>
                                          <p:spTgt spid="21"/>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250"/>
                                        <p:tgtEl>
                                          <p:spTgt spid="24"/>
                                        </p:tgtEl>
                                      </p:cBhvr>
                                    </p:animEffect>
                                  </p:childTnLst>
                                </p:cTn>
                              </p:par>
                            </p:childTnLst>
                          </p:cTn>
                        </p:par>
                        <p:par>
                          <p:cTn id="52" fill="hold">
                            <p:stCondLst>
                              <p:cond delay="3250"/>
                            </p:stCondLst>
                            <p:childTnLst>
                              <p:par>
                                <p:cTn id="53" presetID="10" presetClass="entr" presetSubtype="0" fill="hold" nodeType="after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250"/>
                                        <p:tgtEl>
                                          <p:spTgt spid="41"/>
                                        </p:tgtEl>
                                      </p:cBhvr>
                                    </p:animEffect>
                                  </p:childTnLst>
                                </p:cTn>
                              </p:par>
                            </p:childTnLst>
                          </p:cTn>
                        </p:par>
                        <p:par>
                          <p:cTn id="56" fill="hold">
                            <p:stCondLst>
                              <p:cond delay="3500"/>
                            </p:stCondLst>
                            <p:childTnLst>
                              <p:par>
                                <p:cTn id="57" presetID="10"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250"/>
                                        <p:tgtEl>
                                          <p:spTgt spid="33"/>
                                        </p:tgtEl>
                                      </p:cBhvr>
                                    </p:animEffect>
                                  </p:childTnLst>
                                </p:cTn>
                              </p:par>
                            </p:childTnLst>
                          </p:cTn>
                        </p:par>
                        <p:par>
                          <p:cTn id="60" fill="hold">
                            <p:stCondLst>
                              <p:cond delay="3750"/>
                            </p:stCondLst>
                            <p:childTnLst>
                              <p:par>
                                <p:cTn id="61" presetID="10" presetClass="entr" presetSubtype="0" fill="hold" nodeType="after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250"/>
                                        <p:tgtEl>
                                          <p:spTgt spid="37"/>
                                        </p:tgtEl>
                                      </p:cBhvr>
                                    </p:animEffect>
                                  </p:childTnLst>
                                </p:cTn>
                              </p:par>
                            </p:childTnLst>
                          </p:cTn>
                        </p:par>
                        <p:par>
                          <p:cTn id="64" fill="hold">
                            <p:stCondLst>
                              <p:cond delay="4000"/>
                            </p:stCondLst>
                            <p:childTnLst>
                              <p:par>
                                <p:cTn id="65" presetID="10" presetClass="entr" presetSubtype="0" fill="hold" grpId="0" nodeType="after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250"/>
                                        <p:tgtEl>
                                          <p:spTgt spid="44"/>
                                        </p:tgtEl>
                                      </p:cBhvr>
                                    </p:animEffect>
                                  </p:childTnLst>
                                </p:cTn>
                              </p:par>
                            </p:childTnLst>
                          </p:cTn>
                        </p:par>
                        <p:par>
                          <p:cTn id="68" fill="hold">
                            <p:stCondLst>
                              <p:cond delay="4250"/>
                            </p:stCondLst>
                            <p:childTnLst>
                              <p:par>
                                <p:cTn id="69" presetID="10" presetClass="entr" presetSubtype="0" fill="hold"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250"/>
                                        <p:tgtEl>
                                          <p:spTgt spid="34"/>
                                        </p:tgtEl>
                                      </p:cBhvr>
                                    </p:animEffect>
                                  </p:childTnLst>
                                </p:cTn>
                              </p:par>
                            </p:childTnLst>
                          </p:cTn>
                        </p:par>
                        <p:par>
                          <p:cTn id="72" fill="hold">
                            <p:stCondLst>
                              <p:cond delay="4500"/>
                            </p:stCondLst>
                            <p:childTnLst>
                              <p:par>
                                <p:cTn id="73" presetID="10" presetClass="entr" presetSubtype="0" fill="hold" grpId="0" nodeType="after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250"/>
                                        <p:tgtEl>
                                          <p:spTgt spid="40"/>
                                        </p:tgtEl>
                                      </p:cBhvr>
                                    </p:animEffect>
                                  </p:childTnLst>
                                </p:cTn>
                              </p:par>
                            </p:childTnLst>
                          </p:cTn>
                        </p:par>
                        <p:par>
                          <p:cTn id="76" fill="hold">
                            <p:stCondLst>
                              <p:cond delay="4750"/>
                            </p:stCondLst>
                            <p:childTnLst>
                              <p:par>
                                <p:cTn id="77" presetID="10" presetClass="entr" presetSubtype="0" fill="hold" nodeType="after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50"/>
                                        <p:tgtEl>
                                          <p:spTgt spid="27"/>
                                        </p:tgtEl>
                                      </p:cBhvr>
                                    </p:animEffect>
                                  </p:childTnLst>
                                </p:cTn>
                              </p:par>
                            </p:childTnLst>
                          </p:cTn>
                        </p:par>
                        <p:par>
                          <p:cTn id="80" fill="hold">
                            <p:stCondLst>
                              <p:cond delay="5000"/>
                            </p:stCondLst>
                            <p:childTnLst>
                              <p:par>
                                <p:cTn id="81" presetID="10" presetClass="entr" presetSubtype="0" fill="hold" grpId="0" nodeType="after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250"/>
                                        <p:tgtEl>
                                          <p:spTgt spid="45"/>
                                        </p:tgtEl>
                                      </p:cBhvr>
                                    </p:animEffect>
                                  </p:childTnLst>
                                </p:cTn>
                              </p:par>
                            </p:childTnLst>
                          </p:cTn>
                        </p:par>
                        <p:par>
                          <p:cTn id="84" fill="hold">
                            <p:stCondLst>
                              <p:cond delay="5250"/>
                            </p:stCondLst>
                            <p:childTnLst>
                              <p:par>
                                <p:cTn id="85" presetID="10" presetClass="entr" presetSubtype="0" fill="hold" grpId="0" nodeType="after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2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33" grpId="0"/>
      <p:bldP spid="40" grpId="0"/>
      <p:bldP spid="44" grpId="0"/>
      <p:bldP spid="45" grpId="0"/>
      <p:bldP spid="4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858000" cy="10287000"/>
            <a:chOff x="0" y="0"/>
            <a:chExt cx="9144000" cy="13716000"/>
          </a:xfrm>
        </p:grpSpPr>
        <p:sp>
          <p:nvSpPr>
            <p:cNvPr id="3" name="Freeform 3"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4" name="TextBox 4"/>
          <p:cNvSpPr txBox="1"/>
          <p:nvPr/>
        </p:nvSpPr>
        <p:spPr>
          <a:xfrm>
            <a:off x="7850238" y="1758258"/>
            <a:ext cx="8551962" cy="1073692"/>
          </a:xfrm>
          <a:prstGeom prst="rect">
            <a:avLst/>
          </a:prstGeom>
        </p:spPr>
        <p:txBody>
          <a:bodyPr lIns="0" tIns="0" rIns="0" bIns="0" rtlCol="0" anchor="t">
            <a:spAutoFit/>
          </a:bodyPr>
          <a:lstStyle/>
          <a:p>
            <a:pPr algn="l">
              <a:lnSpc>
                <a:spcPts val="8735"/>
              </a:lnSpc>
            </a:pPr>
            <a:r>
              <a:rPr lang="en-US" sz="6999" b="1">
                <a:solidFill>
                  <a:srgbClr val="312F2B"/>
                </a:solidFill>
                <a:ea typeface="Poppins Bold"/>
                <a:cs typeface="Poppins Bold"/>
                <a:sym typeface="Poppins Bold"/>
              </a:rPr>
              <a:t>TỔNG QUAN DỰ ÁN</a:t>
            </a:r>
          </a:p>
        </p:txBody>
      </p:sp>
      <p:grpSp>
        <p:nvGrpSpPr>
          <p:cNvPr id="5" name="Group 5"/>
          <p:cNvGrpSpPr/>
          <p:nvPr/>
        </p:nvGrpSpPr>
        <p:grpSpPr>
          <a:xfrm>
            <a:off x="7908722" y="3158662"/>
            <a:ext cx="4590459" cy="2115893"/>
            <a:chOff x="0" y="0"/>
            <a:chExt cx="6120613" cy="2821191"/>
          </a:xfrm>
        </p:grpSpPr>
        <p:sp>
          <p:nvSpPr>
            <p:cNvPr id="6" name="Freeform 6"/>
            <p:cNvSpPr/>
            <p:nvPr/>
          </p:nvSpPr>
          <p:spPr>
            <a:xfrm>
              <a:off x="0" y="0"/>
              <a:ext cx="6120638" cy="2821178"/>
            </a:xfrm>
            <a:custGeom>
              <a:avLst/>
              <a:gdLst/>
              <a:ahLst/>
              <a:cxnLst/>
              <a:rect l="l" t="t" r="r" b="b"/>
              <a:pathLst>
                <a:path w="6120638" h="2821178">
                  <a:moveTo>
                    <a:pt x="0" y="159512"/>
                  </a:moveTo>
                  <a:cubicBezTo>
                    <a:pt x="0" y="71374"/>
                    <a:pt x="71374" y="0"/>
                    <a:pt x="159512" y="0"/>
                  </a:cubicBezTo>
                  <a:lnTo>
                    <a:pt x="5961126" y="0"/>
                  </a:lnTo>
                  <a:cubicBezTo>
                    <a:pt x="6049264" y="0"/>
                    <a:pt x="6120638" y="71374"/>
                    <a:pt x="6120638" y="159512"/>
                  </a:cubicBezTo>
                  <a:lnTo>
                    <a:pt x="6120638" y="2661666"/>
                  </a:lnTo>
                  <a:cubicBezTo>
                    <a:pt x="6120638" y="2749804"/>
                    <a:pt x="6049264" y="2821178"/>
                    <a:pt x="5961126" y="2821178"/>
                  </a:cubicBezTo>
                  <a:lnTo>
                    <a:pt x="159512" y="2821178"/>
                  </a:lnTo>
                  <a:cubicBezTo>
                    <a:pt x="71374" y="2821178"/>
                    <a:pt x="0" y="2749804"/>
                    <a:pt x="0" y="2661666"/>
                  </a:cubicBezTo>
                  <a:close/>
                </a:path>
              </a:pathLst>
            </a:custGeom>
            <a:solidFill>
              <a:srgbClr val="D5EBEB"/>
            </a:solidFill>
            <a:ln w="9526" cap="sq">
              <a:solidFill>
                <a:srgbClr val="CECEC9"/>
              </a:solidFill>
              <a:prstDash val="solid"/>
              <a:miter/>
            </a:ln>
          </p:spPr>
        </p:sp>
      </p:grpSp>
      <p:sp>
        <p:nvSpPr>
          <p:cNvPr id="7" name="TextBox 7"/>
          <p:cNvSpPr txBox="1"/>
          <p:nvPr/>
        </p:nvSpPr>
        <p:spPr>
          <a:xfrm>
            <a:off x="8143284" y="3419627"/>
            <a:ext cx="1409343" cy="418384"/>
          </a:xfrm>
          <a:prstGeom prst="rect">
            <a:avLst/>
          </a:prstGeom>
        </p:spPr>
        <p:txBody>
          <a:bodyPr lIns="0" tIns="0" rIns="0" bIns="0" rtlCol="0" anchor="t">
            <a:spAutoFit/>
          </a:bodyPr>
          <a:lstStyle/>
          <a:p>
            <a:pPr algn="l">
              <a:lnSpc>
                <a:spcPts val="3369"/>
              </a:lnSpc>
            </a:pPr>
            <a:r>
              <a:rPr lang="en-US" sz="2700" b="1">
                <a:solidFill>
                  <a:srgbClr val="272525"/>
                </a:solidFill>
                <a:ea typeface="Poppins Bold"/>
                <a:cs typeface="Poppins Bold"/>
                <a:sym typeface="Poppins Bold"/>
              </a:rPr>
              <a:t>Mô hình</a:t>
            </a:r>
          </a:p>
        </p:txBody>
      </p:sp>
      <p:sp>
        <p:nvSpPr>
          <p:cNvPr id="8" name="TextBox 8"/>
          <p:cNvSpPr txBox="1"/>
          <p:nvPr/>
        </p:nvSpPr>
        <p:spPr>
          <a:xfrm>
            <a:off x="8143284" y="3965972"/>
            <a:ext cx="3994842" cy="859979"/>
          </a:xfrm>
          <a:prstGeom prst="rect">
            <a:avLst/>
          </a:prstGeom>
        </p:spPr>
        <p:txBody>
          <a:bodyPr lIns="0" tIns="0" rIns="0" bIns="0" rtlCol="0" anchor="t">
            <a:spAutoFit/>
          </a:bodyPr>
          <a:lstStyle/>
          <a:p>
            <a:pPr algn="l">
              <a:lnSpc>
                <a:spcPts val="3511"/>
              </a:lnSpc>
            </a:pPr>
            <a:r>
              <a:rPr lang="en-US" sz="2200">
                <a:solidFill>
                  <a:srgbClr val="272525"/>
                </a:solidFill>
                <a:ea typeface="Poppins"/>
                <a:cs typeface="Poppins"/>
                <a:sym typeface="Poppins"/>
              </a:rPr>
              <a:t>Serverless P2P — phi tập trung, không điểm chết đơn lẻ</a:t>
            </a:r>
          </a:p>
        </p:txBody>
      </p:sp>
      <p:grpSp>
        <p:nvGrpSpPr>
          <p:cNvPr id="9" name="Group 9"/>
          <p:cNvGrpSpPr/>
          <p:nvPr/>
        </p:nvGrpSpPr>
        <p:grpSpPr>
          <a:xfrm>
            <a:off x="12668698" y="3159919"/>
            <a:ext cx="4590602" cy="2115893"/>
            <a:chOff x="0" y="0"/>
            <a:chExt cx="6120803" cy="2821191"/>
          </a:xfrm>
        </p:grpSpPr>
        <p:sp>
          <p:nvSpPr>
            <p:cNvPr id="10" name="Freeform 10"/>
            <p:cNvSpPr/>
            <p:nvPr/>
          </p:nvSpPr>
          <p:spPr>
            <a:xfrm>
              <a:off x="0" y="0"/>
              <a:ext cx="6120765" cy="2821178"/>
            </a:xfrm>
            <a:custGeom>
              <a:avLst/>
              <a:gdLst/>
              <a:ahLst/>
              <a:cxnLst/>
              <a:rect l="l" t="t" r="r" b="b"/>
              <a:pathLst>
                <a:path w="6120765" h="2821178">
                  <a:moveTo>
                    <a:pt x="0" y="159512"/>
                  </a:moveTo>
                  <a:cubicBezTo>
                    <a:pt x="0" y="71374"/>
                    <a:pt x="71374" y="0"/>
                    <a:pt x="159512" y="0"/>
                  </a:cubicBezTo>
                  <a:lnTo>
                    <a:pt x="5961253" y="0"/>
                  </a:lnTo>
                  <a:cubicBezTo>
                    <a:pt x="6049391" y="0"/>
                    <a:pt x="6120765" y="71374"/>
                    <a:pt x="6120765" y="159512"/>
                  </a:cubicBezTo>
                  <a:lnTo>
                    <a:pt x="6120765" y="2661666"/>
                  </a:lnTo>
                  <a:cubicBezTo>
                    <a:pt x="6120765" y="2749804"/>
                    <a:pt x="6049391" y="2821178"/>
                    <a:pt x="5961253" y="2821178"/>
                  </a:cubicBezTo>
                  <a:lnTo>
                    <a:pt x="159512" y="2821178"/>
                  </a:lnTo>
                  <a:cubicBezTo>
                    <a:pt x="71374" y="2821178"/>
                    <a:pt x="0" y="2749804"/>
                    <a:pt x="0" y="2661666"/>
                  </a:cubicBezTo>
                  <a:close/>
                </a:path>
              </a:pathLst>
            </a:custGeom>
            <a:solidFill>
              <a:srgbClr val="D5EBEB"/>
            </a:solidFill>
            <a:ln w="9526" cap="sq">
              <a:solidFill>
                <a:srgbClr val="CECEC9"/>
              </a:solidFill>
              <a:prstDash val="solid"/>
              <a:miter/>
            </a:ln>
          </p:spPr>
        </p:sp>
      </p:grpSp>
      <p:sp>
        <p:nvSpPr>
          <p:cNvPr id="11" name="TextBox 11"/>
          <p:cNvSpPr txBox="1"/>
          <p:nvPr/>
        </p:nvSpPr>
        <p:spPr>
          <a:xfrm>
            <a:off x="13007731" y="3419627"/>
            <a:ext cx="1737479" cy="418384"/>
          </a:xfrm>
          <a:prstGeom prst="rect">
            <a:avLst/>
          </a:prstGeom>
        </p:spPr>
        <p:txBody>
          <a:bodyPr lIns="0" tIns="0" rIns="0" bIns="0" rtlCol="0" anchor="t">
            <a:spAutoFit/>
          </a:bodyPr>
          <a:lstStyle/>
          <a:p>
            <a:pPr algn="l">
              <a:lnSpc>
                <a:spcPts val="3369"/>
              </a:lnSpc>
            </a:pPr>
            <a:r>
              <a:rPr lang="en-US" sz="2700" b="1">
                <a:solidFill>
                  <a:srgbClr val="272525"/>
                </a:solidFill>
                <a:ea typeface="Poppins Bold"/>
                <a:cs typeface="Poppins Bold"/>
                <a:sym typeface="Poppins Bold"/>
              </a:rPr>
              <a:t>Ngôn ngữ</a:t>
            </a:r>
          </a:p>
        </p:txBody>
      </p:sp>
      <p:sp>
        <p:nvSpPr>
          <p:cNvPr id="12" name="TextBox 12"/>
          <p:cNvSpPr txBox="1"/>
          <p:nvPr/>
        </p:nvSpPr>
        <p:spPr>
          <a:xfrm>
            <a:off x="13007731" y="3965972"/>
            <a:ext cx="3653911" cy="870433"/>
          </a:xfrm>
          <a:prstGeom prst="rect">
            <a:avLst/>
          </a:prstGeom>
        </p:spPr>
        <p:txBody>
          <a:bodyPr lIns="0" tIns="0" rIns="0" bIns="0" rtlCol="0" anchor="t">
            <a:spAutoFit/>
          </a:bodyPr>
          <a:lstStyle/>
          <a:p>
            <a:pPr algn="l">
              <a:lnSpc>
                <a:spcPts val="3511"/>
              </a:lnSpc>
            </a:pPr>
            <a:r>
              <a:rPr lang="en-US" sz="2200">
                <a:solidFill>
                  <a:srgbClr val="272525"/>
                </a:solidFill>
                <a:ea typeface="Poppins"/>
                <a:cs typeface="Poppins"/>
                <a:sym typeface="Poppins"/>
              </a:rPr>
              <a:t>Python 3.13+ · CustomTkinter + Tkinter</a:t>
            </a:r>
          </a:p>
        </p:txBody>
      </p:sp>
      <p:grpSp>
        <p:nvGrpSpPr>
          <p:cNvPr id="13" name="Group 13"/>
          <p:cNvGrpSpPr/>
          <p:nvPr/>
        </p:nvGrpSpPr>
        <p:grpSpPr>
          <a:xfrm>
            <a:off x="7845476" y="5549798"/>
            <a:ext cx="9455048" cy="1662265"/>
            <a:chOff x="0" y="0"/>
            <a:chExt cx="12606731" cy="2216353"/>
          </a:xfrm>
        </p:grpSpPr>
        <p:sp>
          <p:nvSpPr>
            <p:cNvPr id="14" name="Freeform 14"/>
            <p:cNvSpPr/>
            <p:nvPr/>
          </p:nvSpPr>
          <p:spPr>
            <a:xfrm>
              <a:off x="0" y="0"/>
              <a:ext cx="12606655" cy="2216277"/>
            </a:xfrm>
            <a:custGeom>
              <a:avLst/>
              <a:gdLst/>
              <a:ahLst/>
              <a:cxnLst/>
              <a:rect l="l" t="t" r="r" b="b"/>
              <a:pathLst>
                <a:path w="12606655" h="2216277">
                  <a:moveTo>
                    <a:pt x="0" y="159639"/>
                  </a:moveTo>
                  <a:cubicBezTo>
                    <a:pt x="0" y="71501"/>
                    <a:pt x="71501" y="0"/>
                    <a:pt x="159639" y="0"/>
                  </a:cubicBezTo>
                  <a:lnTo>
                    <a:pt x="12447016" y="0"/>
                  </a:lnTo>
                  <a:cubicBezTo>
                    <a:pt x="12535154" y="0"/>
                    <a:pt x="12606655" y="71501"/>
                    <a:pt x="12606655" y="159639"/>
                  </a:cubicBezTo>
                  <a:lnTo>
                    <a:pt x="12606655" y="2056638"/>
                  </a:lnTo>
                  <a:cubicBezTo>
                    <a:pt x="12606655" y="2144776"/>
                    <a:pt x="12535154" y="2216277"/>
                    <a:pt x="12447016" y="2216277"/>
                  </a:cubicBezTo>
                  <a:lnTo>
                    <a:pt x="159639" y="2216277"/>
                  </a:lnTo>
                  <a:cubicBezTo>
                    <a:pt x="71501" y="2216404"/>
                    <a:pt x="0" y="2144903"/>
                    <a:pt x="0" y="2056638"/>
                  </a:cubicBezTo>
                  <a:close/>
                </a:path>
              </a:pathLst>
            </a:custGeom>
            <a:solidFill>
              <a:srgbClr val="D5EBEB"/>
            </a:solidFill>
            <a:ln w="9526" cap="sq">
              <a:solidFill>
                <a:srgbClr val="CECEC9"/>
              </a:solidFill>
              <a:prstDash val="solid"/>
              <a:miter/>
            </a:ln>
          </p:spPr>
        </p:sp>
      </p:grpSp>
      <p:sp>
        <p:nvSpPr>
          <p:cNvPr id="15" name="TextBox 15"/>
          <p:cNvSpPr txBox="1"/>
          <p:nvPr/>
        </p:nvSpPr>
        <p:spPr>
          <a:xfrm>
            <a:off x="8143284" y="5809507"/>
            <a:ext cx="1950482" cy="418384"/>
          </a:xfrm>
          <a:prstGeom prst="rect">
            <a:avLst/>
          </a:prstGeom>
        </p:spPr>
        <p:txBody>
          <a:bodyPr lIns="0" tIns="0" rIns="0" bIns="0" rtlCol="0" anchor="t">
            <a:spAutoFit/>
          </a:bodyPr>
          <a:lstStyle/>
          <a:p>
            <a:pPr algn="l">
              <a:lnSpc>
                <a:spcPts val="3369"/>
              </a:lnSpc>
            </a:pPr>
            <a:r>
              <a:rPr lang="en-US" sz="2700" b="1">
                <a:solidFill>
                  <a:srgbClr val="272525"/>
                </a:solidFill>
                <a:ea typeface="Poppins Bold"/>
                <a:cs typeface="Poppins Bold"/>
                <a:sym typeface="Poppins Bold"/>
              </a:rPr>
              <a:t>Môi trường</a:t>
            </a:r>
          </a:p>
        </p:txBody>
      </p:sp>
      <p:sp>
        <p:nvSpPr>
          <p:cNvPr id="16" name="TextBox 16"/>
          <p:cNvSpPr txBox="1"/>
          <p:nvPr/>
        </p:nvSpPr>
        <p:spPr>
          <a:xfrm>
            <a:off x="8143284" y="6355852"/>
            <a:ext cx="8859441" cy="411138"/>
          </a:xfrm>
          <a:prstGeom prst="rect">
            <a:avLst/>
          </a:prstGeom>
        </p:spPr>
        <p:txBody>
          <a:bodyPr lIns="0" tIns="0" rIns="0" bIns="0" rtlCol="0" anchor="t">
            <a:spAutoFit/>
          </a:bodyPr>
          <a:lstStyle/>
          <a:p>
            <a:pPr algn="l">
              <a:lnSpc>
                <a:spcPts val="3511"/>
              </a:lnSpc>
            </a:pPr>
            <a:r>
              <a:rPr lang="en-US" sz="2200">
                <a:solidFill>
                  <a:srgbClr val="272525"/>
                </a:solidFill>
                <a:ea typeface="Poppins"/>
                <a:cs typeface="Poppins"/>
                <a:sym typeface="Poppins"/>
              </a:rPr>
              <a:t>Windows 10/11 · LAN &amp; Remote</a:t>
            </a:r>
          </a:p>
        </p:txBody>
      </p:sp>
      <p:sp>
        <p:nvSpPr>
          <p:cNvPr id="17" name="TextBox 17"/>
          <p:cNvSpPr txBox="1"/>
          <p:nvPr/>
        </p:nvSpPr>
        <p:spPr>
          <a:xfrm>
            <a:off x="7850238" y="7421461"/>
            <a:ext cx="9445523" cy="859979"/>
          </a:xfrm>
          <a:prstGeom prst="rect">
            <a:avLst/>
          </a:prstGeom>
        </p:spPr>
        <p:txBody>
          <a:bodyPr lIns="0" tIns="0" rIns="0" bIns="0" rtlCol="0" anchor="t">
            <a:spAutoFit/>
          </a:bodyPr>
          <a:lstStyle/>
          <a:p>
            <a:pPr algn="l">
              <a:lnSpc>
                <a:spcPts val="3511"/>
              </a:lnSpc>
            </a:pPr>
            <a:r>
              <a:rPr lang="en-US" sz="2200">
                <a:solidFill>
                  <a:srgbClr val="272525"/>
                </a:solidFill>
                <a:ea typeface="Poppins"/>
                <a:cs typeface="Poppins"/>
                <a:sym typeface="Poppins"/>
              </a:rPr>
              <a:t>Ba động lực chọn đề tài: bảo mật E2EE, kiến trúc phi tập trung và giá trị học thuật từ thực hành Socket TCP/UDP, đa luồng và mã hóa RSA/AES/JWT.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1" grpId="0"/>
      <p:bldP spid="12" grpId="0"/>
      <p:bldP spid="15"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17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txBody>
          <a:bodyPr/>
          <a:lstStyle/>
          <a:p>
            <a:endParaRPr lang="en-US"/>
          </a:p>
        </p:txBody>
      </p:sp>
      <p:grpSp>
        <p:nvGrpSpPr>
          <p:cNvPr id="5" name="Group 5"/>
          <p:cNvGrpSpPr/>
          <p:nvPr/>
        </p:nvGrpSpPr>
        <p:grpSpPr>
          <a:xfrm>
            <a:off x="666990" y="4096379"/>
            <a:ext cx="1459373" cy="1088876"/>
            <a:chOff x="0" y="0"/>
            <a:chExt cx="384362" cy="286782"/>
          </a:xfrm>
        </p:grpSpPr>
        <p:sp>
          <p:nvSpPr>
            <p:cNvPr id="6" name="Freeform 6"/>
            <p:cNvSpPr/>
            <p:nvPr/>
          </p:nvSpPr>
          <p:spPr>
            <a:xfrm>
              <a:off x="0" y="0"/>
              <a:ext cx="384362" cy="286782"/>
            </a:xfrm>
            <a:custGeom>
              <a:avLst/>
              <a:gdLst/>
              <a:ahLst/>
              <a:cxnLst/>
              <a:rect l="l" t="t" r="r" b="b"/>
              <a:pathLst>
                <a:path w="384362" h="286782">
                  <a:moveTo>
                    <a:pt x="74269" y="0"/>
                  </a:moveTo>
                  <a:lnTo>
                    <a:pt x="310092" y="0"/>
                  </a:lnTo>
                  <a:cubicBezTo>
                    <a:pt x="351110" y="0"/>
                    <a:pt x="384362" y="33252"/>
                    <a:pt x="384362" y="74269"/>
                  </a:cubicBezTo>
                  <a:lnTo>
                    <a:pt x="384362" y="212513"/>
                  </a:lnTo>
                  <a:cubicBezTo>
                    <a:pt x="384362" y="253531"/>
                    <a:pt x="351110" y="286782"/>
                    <a:pt x="310092" y="286782"/>
                  </a:cubicBezTo>
                  <a:lnTo>
                    <a:pt x="74269" y="286782"/>
                  </a:lnTo>
                  <a:cubicBezTo>
                    <a:pt x="33252" y="286782"/>
                    <a:pt x="0" y="253531"/>
                    <a:pt x="0" y="212513"/>
                  </a:cubicBezTo>
                  <a:lnTo>
                    <a:pt x="0" y="74269"/>
                  </a:lnTo>
                  <a:cubicBezTo>
                    <a:pt x="0" y="33252"/>
                    <a:pt x="33252" y="0"/>
                    <a:pt x="74269" y="0"/>
                  </a:cubicBezTo>
                  <a:close/>
                </a:path>
              </a:pathLst>
            </a:custGeom>
            <a:solidFill>
              <a:srgbClr val="FDCC6E"/>
            </a:solidFill>
            <a:ln cap="sq">
              <a:noFill/>
              <a:prstDash val="solid"/>
              <a:miter/>
            </a:ln>
          </p:spPr>
        </p:sp>
        <p:sp>
          <p:nvSpPr>
            <p:cNvPr id="7" name="TextBox 7"/>
            <p:cNvSpPr txBox="1"/>
            <p:nvPr/>
          </p:nvSpPr>
          <p:spPr>
            <a:xfrm>
              <a:off x="0" y="-57150"/>
              <a:ext cx="384362" cy="343932"/>
            </a:xfrm>
            <a:prstGeom prst="rect">
              <a:avLst/>
            </a:prstGeom>
          </p:spPr>
          <p:txBody>
            <a:bodyPr lIns="50800" tIns="50800" rIns="50800" bIns="50800" rtlCol="0" anchor="ctr"/>
            <a:lstStyle/>
            <a:p>
              <a:pPr marL="0" lvl="0" indent="0" algn="ctr">
                <a:lnSpc>
                  <a:spcPts val="2659"/>
                </a:lnSpc>
              </a:pPr>
              <a:endParaRPr/>
            </a:p>
          </p:txBody>
        </p:sp>
      </p:grpSp>
      <p:sp>
        <p:nvSpPr>
          <p:cNvPr id="8" name="Freeform 8"/>
          <p:cNvSpPr/>
          <p:nvPr/>
        </p:nvSpPr>
        <p:spPr>
          <a:xfrm>
            <a:off x="782332" y="4096379"/>
            <a:ext cx="839019" cy="1055207"/>
          </a:xfrm>
          <a:custGeom>
            <a:avLst/>
            <a:gdLst/>
            <a:ahLst/>
            <a:cxnLst/>
            <a:rect l="l" t="t" r="r" b="b"/>
            <a:pathLst>
              <a:path w="839019" h="1055207">
                <a:moveTo>
                  <a:pt x="0" y="0"/>
                </a:moveTo>
                <a:lnTo>
                  <a:pt x="839019" y="0"/>
                </a:lnTo>
                <a:lnTo>
                  <a:pt x="839019" y="1055207"/>
                </a:lnTo>
                <a:lnTo>
                  <a:pt x="0" y="1055207"/>
                </a:lnTo>
                <a:lnTo>
                  <a:pt x="0" y="0"/>
                </a:lnTo>
                <a:close/>
              </a:path>
            </a:pathLst>
          </a:custGeom>
          <a:blipFill>
            <a:blip r:embed="rId3"/>
            <a:stretch>
              <a:fillRect/>
            </a:stretch>
          </a:blipFill>
        </p:spPr>
      </p:sp>
      <p:grpSp>
        <p:nvGrpSpPr>
          <p:cNvPr id="9" name="Group 9"/>
          <p:cNvGrpSpPr/>
          <p:nvPr/>
        </p:nvGrpSpPr>
        <p:grpSpPr>
          <a:xfrm>
            <a:off x="1673500" y="4096379"/>
            <a:ext cx="4500908" cy="2494921"/>
            <a:chOff x="0" y="0"/>
            <a:chExt cx="1185424" cy="993388"/>
          </a:xfrm>
        </p:grpSpPr>
        <p:sp>
          <p:nvSpPr>
            <p:cNvPr id="10" name="Freeform 10"/>
            <p:cNvSpPr/>
            <p:nvPr/>
          </p:nvSpPr>
          <p:spPr>
            <a:xfrm>
              <a:off x="0" y="0"/>
              <a:ext cx="1185424" cy="993388"/>
            </a:xfrm>
            <a:custGeom>
              <a:avLst/>
              <a:gdLst/>
              <a:ahLst/>
              <a:cxnLst/>
              <a:rect l="l" t="t" r="r" b="b"/>
              <a:pathLst>
                <a:path w="1185424" h="993388">
                  <a:moveTo>
                    <a:pt x="87724" y="0"/>
                  </a:moveTo>
                  <a:lnTo>
                    <a:pt x="1097700" y="0"/>
                  </a:lnTo>
                  <a:cubicBezTo>
                    <a:pt x="1120966" y="0"/>
                    <a:pt x="1143279" y="9242"/>
                    <a:pt x="1159731" y="25694"/>
                  </a:cubicBezTo>
                  <a:cubicBezTo>
                    <a:pt x="1176182" y="42145"/>
                    <a:pt x="1185424" y="64458"/>
                    <a:pt x="1185424" y="87724"/>
                  </a:cubicBezTo>
                  <a:lnTo>
                    <a:pt x="1185424" y="905664"/>
                  </a:lnTo>
                  <a:cubicBezTo>
                    <a:pt x="1185424" y="928930"/>
                    <a:pt x="1176182" y="951243"/>
                    <a:pt x="1159731" y="967695"/>
                  </a:cubicBezTo>
                  <a:cubicBezTo>
                    <a:pt x="1143279" y="984146"/>
                    <a:pt x="1120966" y="993388"/>
                    <a:pt x="1097700" y="993388"/>
                  </a:cubicBezTo>
                  <a:lnTo>
                    <a:pt x="87724" y="993388"/>
                  </a:lnTo>
                  <a:cubicBezTo>
                    <a:pt x="39275" y="993388"/>
                    <a:pt x="0" y="954113"/>
                    <a:pt x="0" y="905664"/>
                  </a:cubicBezTo>
                  <a:lnTo>
                    <a:pt x="0" y="87724"/>
                  </a:lnTo>
                  <a:cubicBezTo>
                    <a:pt x="0" y="39275"/>
                    <a:pt x="39275" y="0"/>
                    <a:pt x="87724" y="0"/>
                  </a:cubicBezTo>
                  <a:close/>
                </a:path>
              </a:pathLst>
            </a:custGeom>
            <a:solidFill>
              <a:srgbClr val="FFFFFF"/>
            </a:solidFill>
          </p:spPr>
        </p:sp>
        <p:sp>
          <p:nvSpPr>
            <p:cNvPr id="11" name="TextBox 11"/>
            <p:cNvSpPr txBox="1"/>
            <p:nvPr/>
          </p:nvSpPr>
          <p:spPr>
            <a:xfrm>
              <a:off x="0" y="-57150"/>
              <a:ext cx="1185424" cy="1050538"/>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1967904" y="4390954"/>
            <a:ext cx="3912101" cy="1962781"/>
          </a:xfrm>
          <a:prstGeom prst="rect">
            <a:avLst/>
          </a:prstGeom>
        </p:spPr>
        <p:txBody>
          <a:bodyPr lIns="0" tIns="0" rIns="0" bIns="0" rtlCol="0" anchor="t">
            <a:spAutoFit/>
          </a:bodyPr>
          <a:lstStyle/>
          <a:p>
            <a:pPr marL="0" lvl="0" indent="0" algn="just">
              <a:lnSpc>
                <a:spcPts val="3079"/>
              </a:lnSpc>
            </a:pPr>
            <a:r>
              <a:rPr lang="en-US" sz="2199">
                <a:solidFill>
                  <a:srgbClr val="1D2159"/>
                </a:solidFill>
                <a:ea typeface="Poppins"/>
                <a:cs typeface="Poppins"/>
                <a:sym typeface="Poppins"/>
              </a:rPr>
              <a:t>Bảo mật &amp; Quyền riêng tư: Tránh rò rỉ dữ liệu trên server tập trung. Dữ liệu chỉ tồn tại trên thiết bị người dùng, không qua bên thứ ba.</a:t>
            </a:r>
          </a:p>
        </p:txBody>
      </p:sp>
      <p:sp>
        <p:nvSpPr>
          <p:cNvPr id="13" name="TextBox 13"/>
          <p:cNvSpPr txBox="1"/>
          <p:nvPr/>
        </p:nvSpPr>
        <p:spPr>
          <a:xfrm>
            <a:off x="2591019" y="2180696"/>
            <a:ext cx="13420286" cy="1324402"/>
          </a:xfrm>
          <a:prstGeom prst="rect">
            <a:avLst/>
          </a:prstGeom>
        </p:spPr>
        <p:txBody>
          <a:bodyPr lIns="0" tIns="0" rIns="0" bIns="0" rtlCol="0" anchor="t">
            <a:spAutoFit/>
          </a:bodyPr>
          <a:lstStyle/>
          <a:p>
            <a:pPr marL="0" lvl="0" indent="0" algn="ctr">
              <a:lnSpc>
                <a:spcPts val="11016"/>
              </a:lnSpc>
            </a:pPr>
            <a:r>
              <a:rPr lang="en-US" sz="7869" b="1">
                <a:solidFill>
                  <a:srgbClr val="1D2159"/>
                </a:solidFill>
                <a:ea typeface="Poppins Bold"/>
                <a:cs typeface="Poppins Bold"/>
                <a:sym typeface="Poppins Bold"/>
              </a:rPr>
              <a:t>LÝ DO CHỌN ĐỀ TÀI</a:t>
            </a:r>
          </a:p>
        </p:txBody>
      </p:sp>
      <p:grpSp>
        <p:nvGrpSpPr>
          <p:cNvPr id="14" name="Group 14"/>
          <p:cNvGrpSpPr/>
          <p:nvPr/>
        </p:nvGrpSpPr>
        <p:grpSpPr>
          <a:xfrm>
            <a:off x="6536358" y="4096379"/>
            <a:ext cx="1459373" cy="1088876"/>
            <a:chOff x="0" y="0"/>
            <a:chExt cx="384362" cy="286782"/>
          </a:xfrm>
        </p:grpSpPr>
        <p:sp>
          <p:nvSpPr>
            <p:cNvPr id="15" name="Freeform 15"/>
            <p:cNvSpPr/>
            <p:nvPr/>
          </p:nvSpPr>
          <p:spPr>
            <a:xfrm>
              <a:off x="0" y="0"/>
              <a:ext cx="384362" cy="286782"/>
            </a:xfrm>
            <a:custGeom>
              <a:avLst/>
              <a:gdLst/>
              <a:ahLst/>
              <a:cxnLst/>
              <a:rect l="l" t="t" r="r" b="b"/>
              <a:pathLst>
                <a:path w="384362" h="286782">
                  <a:moveTo>
                    <a:pt x="74269" y="0"/>
                  </a:moveTo>
                  <a:lnTo>
                    <a:pt x="310092" y="0"/>
                  </a:lnTo>
                  <a:cubicBezTo>
                    <a:pt x="351110" y="0"/>
                    <a:pt x="384362" y="33252"/>
                    <a:pt x="384362" y="74269"/>
                  </a:cubicBezTo>
                  <a:lnTo>
                    <a:pt x="384362" y="212513"/>
                  </a:lnTo>
                  <a:cubicBezTo>
                    <a:pt x="384362" y="253531"/>
                    <a:pt x="351110" y="286782"/>
                    <a:pt x="310092" y="286782"/>
                  </a:cubicBezTo>
                  <a:lnTo>
                    <a:pt x="74269" y="286782"/>
                  </a:lnTo>
                  <a:cubicBezTo>
                    <a:pt x="33252" y="286782"/>
                    <a:pt x="0" y="253531"/>
                    <a:pt x="0" y="212513"/>
                  </a:cubicBezTo>
                  <a:lnTo>
                    <a:pt x="0" y="74269"/>
                  </a:lnTo>
                  <a:cubicBezTo>
                    <a:pt x="0" y="33252"/>
                    <a:pt x="33252" y="0"/>
                    <a:pt x="74269" y="0"/>
                  </a:cubicBezTo>
                  <a:close/>
                </a:path>
              </a:pathLst>
            </a:custGeom>
            <a:solidFill>
              <a:srgbClr val="FDCC6E"/>
            </a:solidFill>
            <a:ln cap="sq">
              <a:noFill/>
              <a:prstDash val="solid"/>
              <a:miter/>
            </a:ln>
          </p:spPr>
        </p:sp>
        <p:sp>
          <p:nvSpPr>
            <p:cNvPr id="16" name="TextBox 16"/>
            <p:cNvSpPr txBox="1"/>
            <p:nvPr/>
          </p:nvSpPr>
          <p:spPr>
            <a:xfrm>
              <a:off x="0" y="-57150"/>
              <a:ext cx="384362" cy="343932"/>
            </a:xfrm>
            <a:prstGeom prst="rect">
              <a:avLst/>
            </a:prstGeom>
          </p:spPr>
          <p:txBody>
            <a:bodyPr lIns="50800" tIns="50800" rIns="50800" bIns="50800" rtlCol="0" anchor="ctr"/>
            <a:lstStyle/>
            <a:p>
              <a:pPr marL="0" lvl="0" indent="0" algn="ctr">
                <a:lnSpc>
                  <a:spcPts val="2659"/>
                </a:lnSpc>
              </a:pPr>
              <a:endParaRPr/>
            </a:p>
          </p:txBody>
        </p:sp>
      </p:grpSp>
      <p:sp>
        <p:nvSpPr>
          <p:cNvPr id="17" name="Freeform 17"/>
          <p:cNvSpPr/>
          <p:nvPr/>
        </p:nvSpPr>
        <p:spPr>
          <a:xfrm>
            <a:off x="6654745" y="4148985"/>
            <a:ext cx="826280" cy="948384"/>
          </a:xfrm>
          <a:custGeom>
            <a:avLst/>
            <a:gdLst/>
            <a:ahLst/>
            <a:cxnLst/>
            <a:rect l="l" t="t" r="r" b="b"/>
            <a:pathLst>
              <a:path w="826280" h="948384">
                <a:moveTo>
                  <a:pt x="0" y="0"/>
                </a:moveTo>
                <a:lnTo>
                  <a:pt x="826280" y="0"/>
                </a:lnTo>
                <a:lnTo>
                  <a:pt x="826280" y="948385"/>
                </a:lnTo>
                <a:lnTo>
                  <a:pt x="0" y="948385"/>
                </a:lnTo>
                <a:lnTo>
                  <a:pt x="0" y="0"/>
                </a:lnTo>
                <a:close/>
              </a:path>
            </a:pathLst>
          </a:custGeom>
          <a:blipFill>
            <a:blip r:embed="rId4"/>
            <a:stretch>
              <a:fillRect/>
            </a:stretch>
          </a:blipFill>
        </p:spPr>
      </p:sp>
      <p:grpSp>
        <p:nvGrpSpPr>
          <p:cNvPr id="18" name="Group 18"/>
          <p:cNvGrpSpPr/>
          <p:nvPr/>
        </p:nvGrpSpPr>
        <p:grpSpPr>
          <a:xfrm>
            <a:off x="7542868" y="4096379"/>
            <a:ext cx="4500908" cy="2494921"/>
            <a:chOff x="0" y="0"/>
            <a:chExt cx="1185424" cy="993388"/>
          </a:xfrm>
        </p:grpSpPr>
        <p:sp>
          <p:nvSpPr>
            <p:cNvPr id="19" name="Freeform 19"/>
            <p:cNvSpPr/>
            <p:nvPr/>
          </p:nvSpPr>
          <p:spPr>
            <a:xfrm>
              <a:off x="0" y="0"/>
              <a:ext cx="1185424" cy="993388"/>
            </a:xfrm>
            <a:custGeom>
              <a:avLst/>
              <a:gdLst/>
              <a:ahLst/>
              <a:cxnLst/>
              <a:rect l="l" t="t" r="r" b="b"/>
              <a:pathLst>
                <a:path w="1185424" h="993388">
                  <a:moveTo>
                    <a:pt x="87724" y="0"/>
                  </a:moveTo>
                  <a:lnTo>
                    <a:pt x="1097700" y="0"/>
                  </a:lnTo>
                  <a:cubicBezTo>
                    <a:pt x="1120966" y="0"/>
                    <a:pt x="1143279" y="9242"/>
                    <a:pt x="1159731" y="25694"/>
                  </a:cubicBezTo>
                  <a:cubicBezTo>
                    <a:pt x="1176182" y="42145"/>
                    <a:pt x="1185424" y="64458"/>
                    <a:pt x="1185424" y="87724"/>
                  </a:cubicBezTo>
                  <a:lnTo>
                    <a:pt x="1185424" y="905664"/>
                  </a:lnTo>
                  <a:cubicBezTo>
                    <a:pt x="1185424" y="928930"/>
                    <a:pt x="1176182" y="951243"/>
                    <a:pt x="1159731" y="967695"/>
                  </a:cubicBezTo>
                  <a:cubicBezTo>
                    <a:pt x="1143279" y="984146"/>
                    <a:pt x="1120966" y="993388"/>
                    <a:pt x="1097700" y="993388"/>
                  </a:cubicBezTo>
                  <a:lnTo>
                    <a:pt x="87724" y="993388"/>
                  </a:lnTo>
                  <a:cubicBezTo>
                    <a:pt x="39275" y="993388"/>
                    <a:pt x="0" y="954113"/>
                    <a:pt x="0" y="905664"/>
                  </a:cubicBezTo>
                  <a:lnTo>
                    <a:pt x="0" y="87724"/>
                  </a:lnTo>
                  <a:cubicBezTo>
                    <a:pt x="0" y="39275"/>
                    <a:pt x="39275" y="0"/>
                    <a:pt x="87724" y="0"/>
                  </a:cubicBezTo>
                  <a:close/>
                </a:path>
              </a:pathLst>
            </a:custGeom>
            <a:solidFill>
              <a:srgbClr val="FFFFFF"/>
            </a:solidFill>
          </p:spPr>
        </p:sp>
        <p:sp>
          <p:nvSpPr>
            <p:cNvPr id="20" name="TextBox 20"/>
            <p:cNvSpPr txBox="1"/>
            <p:nvPr/>
          </p:nvSpPr>
          <p:spPr>
            <a:xfrm>
              <a:off x="0" y="-57150"/>
              <a:ext cx="1185424" cy="1050538"/>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7837271" y="4390954"/>
            <a:ext cx="3912101" cy="1565237"/>
          </a:xfrm>
          <a:prstGeom prst="rect">
            <a:avLst/>
          </a:prstGeom>
        </p:spPr>
        <p:txBody>
          <a:bodyPr lIns="0" tIns="0" rIns="0" bIns="0" rtlCol="0" anchor="t">
            <a:spAutoFit/>
          </a:bodyPr>
          <a:lstStyle/>
          <a:p>
            <a:pPr marL="0" lvl="0" indent="0" algn="just">
              <a:lnSpc>
                <a:spcPts val="3079"/>
              </a:lnSpc>
            </a:pPr>
            <a:r>
              <a:rPr lang="en-US" sz="2199">
                <a:solidFill>
                  <a:srgbClr val="1D2159"/>
                </a:solidFill>
                <a:ea typeface="Poppins"/>
                <a:cs typeface="Poppins"/>
                <a:sym typeface="Poppins"/>
              </a:rPr>
              <a:t>Tính phi tập trung: Loại bỏ điểm chết (single-point-of-failure). Hệ thống hoạt động liên tục ngay cả khi một nút mạng bị ngắt kết nối.</a:t>
            </a:r>
          </a:p>
        </p:txBody>
      </p:sp>
      <p:grpSp>
        <p:nvGrpSpPr>
          <p:cNvPr id="22" name="Group 22"/>
          <p:cNvGrpSpPr/>
          <p:nvPr/>
        </p:nvGrpSpPr>
        <p:grpSpPr>
          <a:xfrm>
            <a:off x="12405726" y="4096379"/>
            <a:ext cx="1459373" cy="1088876"/>
            <a:chOff x="0" y="0"/>
            <a:chExt cx="384362" cy="286782"/>
          </a:xfrm>
        </p:grpSpPr>
        <p:sp>
          <p:nvSpPr>
            <p:cNvPr id="23" name="Freeform 23"/>
            <p:cNvSpPr/>
            <p:nvPr/>
          </p:nvSpPr>
          <p:spPr>
            <a:xfrm>
              <a:off x="0" y="0"/>
              <a:ext cx="384362" cy="286782"/>
            </a:xfrm>
            <a:custGeom>
              <a:avLst/>
              <a:gdLst/>
              <a:ahLst/>
              <a:cxnLst/>
              <a:rect l="l" t="t" r="r" b="b"/>
              <a:pathLst>
                <a:path w="384362" h="286782">
                  <a:moveTo>
                    <a:pt x="74269" y="0"/>
                  </a:moveTo>
                  <a:lnTo>
                    <a:pt x="310092" y="0"/>
                  </a:lnTo>
                  <a:cubicBezTo>
                    <a:pt x="351110" y="0"/>
                    <a:pt x="384362" y="33252"/>
                    <a:pt x="384362" y="74269"/>
                  </a:cubicBezTo>
                  <a:lnTo>
                    <a:pt x="384362" y="212513"/>
                  </a:lnTo>
                  <a:cubicBezTo>
                    <a:pt x="384362" y="253531"/>
                    <a:pt x="351110" y="286782"/>
                    <a:pt x="310092" y="286782"/>
                  </a:cubicBezTo>
                  <a:lnTo>
                    <a:pt x="74269" y="286782"/>
                  </a:lnTo>
                  <a:cubicBezTo>
                    <a:pt x="33252" y="286782"/>
                    <a:pt x="0" y="253531"/>
                    <a:pt x="0" y="212513"/>
                  </a:cubicBezTo>
                  <a:lnTo>
                    <a:pt x="0" y="74269"/>
                  </a:lnTo>
                  <a:cubicBezTo>
                    <a:pt x="0" y="33252"/>
                    <a:pt x="33252" y="0"/>
                    <a:pt x="74269" y="0"/>
                  </a:cubicBezTo>
                  <a:close/>
                </a:path>
              </a:pathLst>
            </a:custGeom>
            <a:solidFill>
              <a:srgbClr val="FDCC6E"/>
            </a:solidFill>
            <a:ln cap="sq">
              <a:noFill/>
              <a:prstDash val="solid"/>
              <a:miter/>
            </a:ln>
          </p:spPr>
        </p:sp>
        <p:sp>
          <p:nvSpPr>
            <p:cNvPr id="24" name="TextBox 24"/>
            <p:cNvSpPr txBox="1"/>
            <p:nvPr/>
          </p:nvSpPr>
          <p:spPr>
            <a:xfrm>
              <a:off x="0" y="-57150"/>
              <a:ext cx="384362" cy="343932"/>
            </a:xfrm>
            <a:prstGeom prst="rect">
              <a:avLst/>
            </a:prstGeom>
          </p:spPr>
          <p:txBody>
            <a:bodyPr lIns="50800" tIns="50800" rIns="50800" bIns="50800" rtlCol="0" anchor="ctr"/>
            <a:lstStyle/>
            <a:p>
              <a:pPr marL="0" lvl="0" indent="0" algn="ctr">
                <a:lnSpc>
                  <a:spcPts val="2659"/>
                </a:lnSpc>
              </a:pPr>
              <a:endParaRPr/>
            </a:p>
          </p:txBody>
        </p:sp>
      </p:grpSp>
      <p:sp>
        <p:nvSpPr>
          <p:cNvPr id="25" name="Freeform 25"/>
          <p:cNvSpPr/>
          <p:nvPr/>
        </p:nvSpPr>
        <p:spPr>
          <a:xfrm>
            <a:off x="12315886" y="4285806"/>
            <a:ext cx="1086178" cy="857694"/>
          </a:xfrm>
          <a:custGeom>
            <a:avLst/>
            <a:gdLst/>
            <a:ahLst/>
            <a:cxnLst/>
            <a:rect l="l" t="t" r="r" b="b"/>
            <a:pathLst>
              <a:path w="1086178" h="857694">
                <a:moveTo>
                  <a:pt x="0" y="0"/>
                </a:moveTo>
                <a:lnTo>
                  <a:pt x="1086178" y="0"/>
                </a:lnTo>
                <a:lnTo>
                  <a:pt x="1086178" y="857694"/>
                </a:lnTo>
                <a:lnTo>
                  <a:pt x="0" y="857694"/>
                </a:lnTo>
                <a:lnTo>
                  <a:pt x="0" y="0"/>
                </a:lnTo>
                <a:close/>
              </a:path>
            </a:pathLst>
          </a:custGeom>
          <a:blipFill>
            <a:blip r:embed="rId5"/>
            <a:stretch>
              <a:fillRect/>
            </a:stretch>
          </a:blipFill>
        </p:spPr>
      </p:sp>
      <p:grpSp>
        <p:nvGrpSpPr>
          <p:cNvPr id="26" name="Group 26"/>
          <p:cNvGrpSpPr/>
          <p:nvPr/>
        </p:nvGrpSpPr>
        <p:grpSpPr>
          <a:xfrm>
            <a:off x="13412235" y="4096379"/>
            <a:ext cx="4500908" cy="2494921"/>
            <a:chOff x="0" y="0"/>
            <a:chExt cx="1185424" cy="993388"/>
          </a:xfrm>
        </p:grpSpPr>
        <p:sp>
          <p:nvSpPr>
            <p:cNvPr id="27" name="Freeform 27"/>
            <p:cNvSpPr/>
            <p:nvPr/>
          </p:nvSpPr>
          <p:spPr>
            <a:xfrm>
              <a:off x="0" y="0"/>
              <a:ext cx="1185424" cy="993388"/>
            </a:xfrm>
            <a:custGeom>
              <a:avLst/>
              <a:gdLst/>
              <a:ahLst/>
              <a:cxnLst/>
              <a:rect l="l" t="t" r="r" b="b"/>
              <a:pathLst>
                <a:path w="1185424" h="993388">
                  <a:moveTo>
                    <a:pt x="87724" y="0"/>
                  </a:moveTo>
                  <a:lnTo>
                    <a:pt x="1097700" y="0"/>
                  </a:lnTo>
                  <a:cubicBezTo>
                    <a:pt x="1120966" y="0"/>
                    <a:pt x="1143279" y="9242"/>
                    <a:pt x="1159731" y="25694"/>
                  </a:cubicBezTo>
                  <a:cubicBezTo>
                    <a:pt x="1176182" y="42145"/>
                    <a:pt x="1185424" y="64458"/>
                    <a:pt x="1185424" y="87724"/>
                  </a:cubicBezTo>
                  <a:lnTo>
                    <a:pt x="1185424" y="905664"/>
                  </a:lnTo>
                  <a:cubicBezTo>
                    <a:pt x="1185424" y="928930"/>
                    <a:pt x="1176182" y="951243"/>
                    <a:pt x="1159731" y="967695"/>
                  </a:cubicBezTo>
                  <a:cubicBezTo>
                    <a:pt x="1143279" y="984146"/>
                    <a:pt x="1120966" y="993388"/>
                    <a:pt x="1097700" y="993388"/>
                  </a:cubicBezTo>
                  <a:lnTo>
                    <a:pt x="87724" y="993388"/>
                  </a:lnTo>
                  <a:cubicBezTo>
                    <a:pt x="39275" y="993388"/>
                    <a:pt x="0" y="954113"/>
                    <a:pt x="0" y="905664"/>
                  </a:cubicBezTo>
                  <a:lnTo>
                    <a:pt x="0" y="87724"/>
                  </a:lnTo>
                  <a:cubicBezTo>
                    <a:pt x="0" y="39275"/>
                    <a:pt x="39275" y="0"/>
                    <a:pt x="87724" y="0"/>
                  </a:cubicBezTo>
                  <a:close/>
                </a:path>
              </a:pathLst>
            </a:custGeom>
            <a:solidFill>
              <a:srgbClr val="FFFFFF"/>
            </a:solidFill>
          </p:spPr>
        </p:sp>
        <p:sp>
          <p:nvSpPr>
            <p:cNvPr id="28" name="TextBox 28"/>
            <p:cNvSpPr txBox="1"/>
            <p:nvPr/>
          </p:nvSpPr>
          <p:spPr>
            <a:xfrm>
              <a:off x="0" y="-57150"/>
              <a:ext cx="1185424" cy="1050538"/>
            </a:xfrm>
            <a:prstGeom prst="rect">
              <a:avLst/>
            </a:prstGeom>
          </p:spPr>
          <p:txBody>
            <a:bodyPr lIns="50800" tIns="50800" rIns="50800" bIns="50800" rtlCol="0" anchor="ctr"/>
            <a:lstStyle/>
            <a:p>
              <a:pPr marL="0" lvl="0" indent="0" algn="ctr">
                <a:lnSpc>
                  <a:spcPts val="2659"/>
                </a:lnSpc>
              </a:pPr>
              <a:endParaRPr/>
            </a:p>
          </p:txBody>
        </p:sp>
      </p:grpSp>
      <p:sp>
        <p:nvSpPr>
          <p:cNvPr id="29" name="TextBox 29"/>
          <p:cNvSpPr txBox="1"/>
          <p:nvPr/>
        </p:nvSpPr>
        <p:spPr>
          <a:xfrm>
            <a:off x="13706639" y="4390954"/>
            <a:ext cx="3912101" cy="1962781"/>
          </a:xfrm>
          <a:prstGeom prst="rect">
            <a:avLst/>
          </a:prstGeom>
        </p:spPr>
        <p:txBody>
          <a:bodyPr lIns="0" tIns="0" rIns="0" bIns="0" rtlCol="0" anchor="t">
            <a:spAutoFit/>
          </a:bodyPr>
          <a:lstStyle/>
          <a:p>
            <a:pPr marL="0" lvl="0" indent="0" algn="just">
              <a:lnSpc>
                <a:spcPts val="3079"/>
              </a:lnSpc>
            </a:pPr>
            <a:r>
              <a:rPr lang="en-US" sz="2199">
                <a:solidFill>
                  <a:srgbClr val="1D2159"/>
                </a:solidFill>
                <a:ea typeface="Poppins"/>
                <a:cs typeface="Poppins"/>
                <a:sym typeface="Poppins"/>
              </a:rPr>
              <a:t>Giá trị học thuật: Thực hành Socket TCP/UDP, lập trình đa luồng, mã hóa RSA-2048, AES (Fernet), xác thực JWT trong môi trường thực tế.</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
                                        <p:tgtEl>
                                          <p:spTgt spid="13"/>
                                        </p:tgtEl>
                                      </p:cBhvr>
                                    </p:animEffect>
                                  </p:childTnLst>
                                </p:cTn>
                              </p:par>
                            </p:childTnLst>
                          </p:cTn>
                        </p:par>
                        <p:par>
                          <p:cTn id="12" fill="hold">
                            <p:stCondLst>
                              <p:cond delay="260"/>
                            </p:stCondLst>
                            <p:childTnLst>
                              <p:par>
                                <p:cTn id="13" presetID="10" presetClass="entr" presetSubtype="0" fill="hold" nodeType="afterEffect">
                                  <p:stCondLst>
                                    <p:cond delay="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50"/>
                                        <p:tgtEl>
                                          <p:spTgt spid="5"/>
                                        </p:tgtEl>
                                      </p:cBhvr>
                                    </p:animEffect>
                                  </p:childTnLst>
                                </p:cTn>
                              </p:par>
                            </p:childTnLst>
                          </p:cTn>
                        </p:par>
                        <p:par>
                          <p:cTn id="16" fill="hold">
                            <p:stCondLst>
                              <p:cond delay="56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par>
                          <p:cTn id="20" fill="hold">
                            <p:stCondLst>
                              <p:cond delay="810"/>
                            </p:stCondLst>
                            <p:childTnLst>
                              <p:par>
                                <p:cTn id="21" presetID="10" presetClass="entr" presetSubtype="0" fill="hold" nodeType="afterEffect">
                                  <p:stCondLst>
                                    <p:cond delay="2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50"/>
                                        <p:tgtEl>
                                          <p:spTgt spid="9"/>
                                        </p:tgtEl>
                                      </p:cBhvr>
                                    </p:animEffect>
                                  </p:childTnLst>
                                </p:cTn>
                              </p:par>
                            </p:childTnLst>
                          </p:cTn>
                        </p:par>
                        <p:par>
                          <p:cTn id="24" fill="hold">
                            <p:stCondLst>
                              <p:cond delay="131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childTnLst>
                          </p:cTn>
                        </p:par>
                        <p:par>
                          <p:cTn id="28" fill="hold">
                            <p:stCondLst>
                              <p:cond delay="1560"/>
                            </p:stCondLst>
                            <p:childTnLst>
                              <p:par>
                                <p:cTn id="29" presetID="10"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50"/>
                                        <p:tgtEl>
                                          <p:spTgt spid="14"/>
                                        </p:tgtEl>
                                      </p:cBhvr>
                                    </p:animEffect>
                                  </p:childTnLst>
                                </p:cTn>
                              </p:par>
                            </p:childTnLst>
                          </p:cTn>
                        </p:par>
                        <p:par>
                          <p:cTn id="32" fill="hold">
                            <p:stCondLst>
                              <p:cond delay="1810"/>
                            </p:stCondLst>
                            <p:childTnLst>
                              <p:par>
                                <p:cTn id="33" presetID="10" presetClass="entr" presetSubtype="0"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250"/>
                                        <p:tgtEl>
                                          <p:spTgt spid="17"/>
                                        </p:tgtEl>
                                      </p:cBhvr>
                                    </p:animEffect>
                                  </p:childTnLst>
                                </p:cTn>
                              </p:par>
                            </p:childTnLst>
                          </p:cTn>
                        </p:par>
                        <p:par>
                          <p:cTn id="36" fill="hold">
                            <p:stCondLst>
                              <p:cond delay="2060"/>
                            </p:stCondLst>
                            <p:childTnLst>
                              <p:par>
                                <p:cTn id="37" presetID="10" presetClass="entr" presetSubtype="0"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50"/>
                                        <p:tgtEl>
                                          <p:spTgt spid="18"/>
                                        </p:tgtEl>
                                      </p:cBhvr>
                                    </p:animEffect>
                                  </p:childTnLst>
                                </p:cTn>
                              </p:par>
                            </p:childTnLst>
                          </p:cTn>
                        </p:par>
                        <p:par>
                          <p:cTn id="40" fill="hold">
                            <p:stCondLst>
                              <p:cond delay="2310"/>
                            </p:stCondLst>
                            <p:childTnLst>
                              <p:par>
                                <p:cTn id="41" presetID="10"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250"/>
                                        <p:tgtEl>
                                          <p:spTgt spid="21"/>
                                        </p:tgtEl>
                                      </p:cBhvr>
                                    </p:animEffect>
                                  </p:childTnLst>
                                </p:cTn>
                              </p:par>
                            </p:childTnLst>
                          </p:cTn>
                        </p:par>
                        <p:par>
                          <p:cTn id="44" fill="hold">
                            <p:stCondLst>
                              <p:cond delay="2560"/>
                            </p:stCondLst>
                            <p:childTnLst>
                              <p:par>
                                <p:cTn id="45" presetID="10" presetClass="entr" presetSubtype="0"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250"/>
                                        <p:tgtEl>
                                          <p:spTgt spid="22"/>
                                        </p:tgtEl>
                                      </p:cBhvr>
                                    </p:animEffect>
                                  </p:childTnLst>
                                </p:cTn>
                              </p:par>
                            </p:childTnLst>
                          </p:cTn>
                        </p:par>
                        <p:par>
                          <p:cTn id="48" fill="hold">
                            <p:stCondLst>
                              <p:cond delay="2810"/>
                            </p:stCondLst>
                            <p:childTnLst>
                              <p:par>
                                <p:cTn id="49" presetID="10" presetClass="entr" presetSubtype="0"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50"/>
                                        <p:tgtEl>
                                          <p:spTgt spid="25"/>
                                        </p:tgtEl>
                                      </p:cBhvr>
                                    </p:animEffect>
                                  </p:childTnLst>
                                </p:cTn>
                              </p:par>
                            </p:childTnLst>
                          </p:cTn>
                        </p:par>
                        <p:par>
                          <p:cTn id="52" fill="hold">
                            <p:stCondLst>
                              <p:cond delay="3060"/>
                            </p:stCondLst>
                            <p:childTnLst>
                              <p:par>
                                <p:cTn id="53" presetID="10" presetClass="entr" presetSubtype="0" fill="hold" nodeType="after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250"/>
                                        <p:tgtEl>
                                          <p:spTgt spid="26"/>
                                        </p:tgtEl>
                                      </p:cBhvr>
                                    </p:animEffect>
                                  </p:childTnLst>
                                </p:cTn>
                              </p:par>
                            </p:childTnLst>
                          </p:cTn>
                        </p:par>
                        <p:par>
                          <p:cTn id="56" fill="hold">
                            <p:stCondLst>
                              <p:cond delay="3310"/>
                            </p:stCondLst>
                            <p:childTnLst>
                              <p:par>
                                <p:cTn id="57" presetID="10"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2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1"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txBody>
          <a:bodyPr/>
          <a:lstStyle/>
          <a:p>
            <a:endParaRPr lang="en-US"/>
          </a:p>
        </p:txBody>
      </p:sp>
      <p:sp>
        <p:nvSpPr>
          <p:cNvPr id="3" name="Freeform 3" descr="preencoded.png"/>
          <p:cNvSpPr/>
          <p:nvPr/>
        </p:nvSpPr>
        <p:spPr>
          <a:xfrm>
            <a:off x="9827402" y="2864768"/>
            <a:ext cx="7909984" cy="2490719"/>
          </a:xfrm>
          <a:custGeom>
            <a:avLst/>
            <a:gdLst/>
            <a:ahLst/>
            <a:cxnLst/>
            <a:rect l="l" t="t" r="r" b="b"/>
            <a:pathLst>
              <a:path w="7909984" h="2490719">
                <a:moveTo>
                  <a:pt x="0" y="0"/>
                </a:moveTo>
                <a:lnTo>
                  <a:pt x="7909983" y="0"/>
                </a:lnTo>
                <a:lnTo>
                  <a:pt x="7909983" y="2490719"/>
                </a:lnTo>
                <a:lnTo>
                  <a:pt x="0" y="2490719"/>
                </a:lnTo>
                <a:lnTo>
                  <a:pt x="0" y="0"/>
                </a:lnTo>
                <a:close/>
              </a:path>
            </a:pathLst>
          </a:custGeom>
          <a:blipFill>
            <a:blip r:embed="rId3">
              <a:extLst>
                <a:ext uri="{96DAC541-7B7A-43D3-8B79-37D633B846F1}">
                  <asvg:svgBlip xmlns:asvg="http://schemas.microsoft.com/office/drawing/2016/SVG/main" r:embed="rId4"/>
                </a:ext>
              </a:extLst>
            </a:blip>
            <a:stretch>
              <a:fillRect t="-223" b="-223"/>
            </a:stretch>
          </a:blipFill>
        </p:spPr>
      </p:sp>
      <p:sp>
        <p:nvSpPr>
          <p:cNvPr id="4" name="Freeform 4" descr="preencoded.png"/>
          <p:cNvSpPr/>
          <p:nvPr/>
        </p:nvSpPr>
        <p:spPr>
          <a:xfrm>
            <a:off x="1200295" y="2864767"/>
            <a:ext cx="7909984" cy="2490719"/>
          </a:xfrm>
          <a:custGeom>
            <a:avLst/>
            <a:gdLst/>
            <a:ahLst/>
            <a:cxnLst/>
            <a:rect l="l" t="t" r="r" b="b"/>
            <a:pathLst>
              <a:path w="7909984" h="2490719">
                <a:moveTo>
                  <a:pt x="0" y="0"/>
                </a:moveTo>
                <a:lnTo>
                  <a:pt x="7909984" y="0"/>
                </a:lnTo>
                <a:lnTo>
                  <a:pt x="7909984" y="2490719"/>
                </a:lnTo>
                <a:lnTo>
                  <a:pt x="0" y="2490719"/>
                </a:lnTo>
                <a:lnTo>
                  <a:pt x="0" y="0"/>
                </a:lnTo>
                <a:close/>
              </a:path>
            </a:pathLst>
          </a:custGeom>
          <a:blipFill>
            <a:blip r:embed="rId3">
              <a:extLst>
                <a:ext uri="{96DAC541-7B7A-43D3-8B79-37D633B846F1}">
                  <asvg:svgBlip xmlns:asvg="http://schemas.microsoft.com/office/drawing/2016/SVG/main" r:embed="rId4"/>
                </a:ext>
              </a:extLst>
            </a:blip>
            <a:stretch>
              <a:fillRect t="-223" b="-223"/>
            </a:stretch>
          </a:blipFill>
        </p:spPr>
      </p:sp>
      <p:grpSp>
        <p:nvGrpSpPr>
          <p:cNvPr id="5" name="Group 5"/>
          <p:cNvGrpSpPr/>
          <p:nvPr/>
        </p:nvGrpSpPr>
        <p:grpSpPr>
          <a:xfrm>
            <a:off x="4866905" y="3013301"/>
            <a:ext cx="340223" cy="642137"/>
            <a:chOff x="0" y="0"/>
            <a:chExt cx="453631" cy="856183"/>
          </a:xfrm>
        </p:grpSpPr>
        <p:sp>
          <p:nvSpPr>
            <p:cNvPr id="6" name="Freeform 6"/>
            <p:cNvSpPr/>
            <p:nvPr/>
          </p:nvSpPr>
          <p:spPr>
            <a:xfrm>
              <a:off x="0" y="0"/>
              <a:ext cx="453629" cy="856176"/>
            </a:xfrm>
            <a:custGeom>
              <a:avLst/>
              <a:gdLst/>
              <a:ahLst/>
              <a:cxnLst/>
              <a:rect l="l" t="t" r="r" b="b"/>
              <a:pathLst>
                <a:path w="453629" h="856176">
                  <a:moveTo>
                    <a:pt x="0" y="0"/>
                  </a:moveTo>
                  <a:lnTo>
                    <a:pt x="453629" y="0"/>
                  </a:lnTo>
                  <a:lnTo>
                    <a:pt x="453629" y="856176"/>
                  </a:lnTo>
                  <a:lnTo>
                    <a:pt x="0" y="856176"/>
                  </a:lnTo>
                  <a:close/>
                </a:path>
              </a:pathLst>
            </a:custGeom>
            <a:blipFill>
              <a:blip r:embed="rId5">
                <a:alphaModFix amt="0"/>
              </a:blip>
              <a:stretch>
                <a:fillRect l="-110352" r="-110352" b="33782"/>
              </a:stretch>
            </a:blipFill>
          </p:spPr>
        </p:sp>
        <p:sp>
          <p:nvSpPr>
            <p:cNvPr id="7" name="TextBox 7"/>
            <p:cNvSpPr txBox="1"/>
            <p:nvPr/>
          </p:nvSpPr>
          <p:spPr>
            <a:xfrm>
              <a:off x="0" y="-19050"/>
              <a:ext cx="453631" cy="875233"/>
            </a:xfrm>
            <a:prstGeom prst="rect">
              <a:avLst/>
            </a:prstGeom>
          </p:spPr>
          <p:txBody>
            <a:bodyPr lIns="0" tIns="0" rIns="0" bIns="0" rtlCol="0" anchor="ctr"/>
            <a:lstStyle/>
            <a:p>
              <a:pPr algn="ctr">
                <a:lnSpc>
                  <a:spcPts val="3120"/>
                </a:lnSpc>
              </a:pPr>
              <a:r>
                <a:rPr lang="en-US" sz="2600">
                  <a:solidFill>
                    <a:srgbClr val="000000"/>
                  </a:solidFill>
                  <a:ea typeface="Poppins"/>
                  <a:cs typeface="Poppins"/>
                  <a:sym typeface="Poppins"/>
                </a:rPr>
                <a:t>1</a:t>
              </a:r>
            </a:p>
          </p:txBody>
        </p:sp>
      </p:grpSp>
      <p:grpSp>
        <p:nvGrpSpPr>
          <p:cNvPr id="8" name="Group 8"/>
          <p:cNvGrpSpPr/>
          <p:nvPr/>
        </p:nvGrpSpPr>
        <p:grpSpPr>
          <a:xfrm>
            <a:off x="13541679" y="2944835"/>
            <a:ext cx="340223" cy="642137"/>
            <a:chOff x="0" y="0"/>
            <a:chExt cx="453631" cy="856183"/>
          </a:xfrm>
        </p:grpSpPr>
        <p:sp>
          <p:nvSpPr>
            <p:cNvPr id="9" name="Freeform 9"/>
            <p:cNvSpPr/>
            <p:nvPr/>
          </p:nvSpPr>
          <p:spPr>
            <a:xfrm>
              <a:off x="0" y="0"/>
              <a:ext cx="453629" cy="856176"/>
            </a:xfrm>
            <a:custGeom>
              <a:avLst/>
              <a:gdLst/>
              <a:ahLst/>
              <a:cxnLst/>
              <a:rect l="l" t="t" r="r" b="b"/>
              <a:pathLst>
                <a:path w="453629" h="856176">
                  <a:moveTo>
                    <a:pt x="0" y="0"/>
                  </a:moveTo>
                  <a:lnTo>
                    <a:pt x="453629" y="0"/>
                  </a:lnTo>
                  <a:lnTo>
                    <a:pt x="453629" y="856176"/>
                  </a:lnTo>
                  <a:lnTo>
                    <a:pt x="0" y="856176"/>
                  </a:lnTo>
                  <a:close/>
                </a:path>
              </a:pathLst>
            </a:custGeom>
            <a:blipFill>
              <a:blip r:embed="rId5">
                <a:alphaModFix amt="0"/>
              </a:blip>
              <a:stretch>
                <a:fillRect l="-110352" r="-110352" b="33782"/>
              </a:stretch>
            </a:blipFill>
          </p:spPr>
        </p:sp>
        <p:sp>
          <p:nvSpPr>
            <p:cNvPr id="10" name="TextBox 10"/>
            <p:cNvSpPr txBox="1"/>
            <p:nvPr/>
          </p:nvSpPr>
          <p:spPr>
            <a:xfrm>
              <a:off x="0" y="-19050"/>
              <a:ext cx="453631" cy="875233"/>
            </a:xfrm>
            <a:prstGeom prst="rect">
              <a:avLst/>
            </a:prstGeom>
          </p:spPr>
          <p:txBody>
            <a:bodyPr lIns="0" tIns="0" rIns="0" bIns="0" rtlCol="0" anchor="ctr"/>
            <a:lstStyle/>
            <a:p>
              <a:pPr algn="ctr">
                <a:lnSpc>
                  <a:spcPts val="3120"/>
                </a:lnSpc>
              </a:pPr>
              <a:r>
                <a:rPr lang="en-US" sz="2600">
                  <a:solidFill>
                    <a:srgbClr val="000000"/>
                  </a:solidFill>
                  <a:ea typeface="Poppins"/>
                  <a:cs typeface="Poppins"/>
                  <a:sym typeface="Poppins"/>
                </a:rPr>
                <a:t>2</a:t>
              </a:r>
            </a:p>
          </p:txBody>
        </p:sp>
      </p:grpSp>
      <p:sp>
        <p:nvSpPr>
          <p:cNvPr id="11" name="Freeform 11" descr="preencoded.png"/>
          <p:cNvSpPr/>
          <p:nvPr/>
        </p:nvSpPr>
        <p:spPr>
          <a:xfrm>
            <a:off x="982075" y="6322519"/>
            <a:ext cx="8009934" cy="2522191"/>
          </a:xfrm>
          <a:custGeom>
            <a:avLst/>
            <a:gdLst/>
            <a:ahLst/>
            <a:cxnLst/>
            <a:rect l="l" t="t" r="r" b="b"/>
            <a:pathLst>
              <a:path w="8009934" h="2522191">
                <a:moveTo>
                  <a:pt x="0" y="0"/>
                </a:moveTo>
                <a:lnTo>
                  <a:pt x="8009934" y="0"/>
                </a:lnTo>
                <a:lnTo>
                  <a:pt x="8009934" y="2522191"/>
                </a:lnTo>
                <a:lnTo>
                  <a:pt x="0" y="2522191"/>
                </a:lnTo>
                <a:lnTo>
                  <a:pt x="0" y="0"/>
                </a:lnTo>
                <a:close/>
              </a:path>
            </a:pathLst>
          </a:custGeom>
          <a:blipFill>
            <a:blip r:embed="rId3">
              <a:extLst>
                <a:ext uri="{96DAC541-7B7A-43D3-8B79-37D633B846F1}">
                  <asvg:svgBlip xmlns:asvg="http://schemas.microsoft.com/office/drawing/2016/SVG/main" r:embed="rId4"/>
                </a:ext>
              </a:extLst>
            </a:blip>
            <a:stretch>
              <a:fillRect t="-223" b="-223"/>
            </a:stretch>
          </a:blipFill>
        </p:spPr>
      </p:sp>
      <p:grpSp>
        <p:nvGrpSpPr>
          <p:cNvPr id="12" name="Group 12"/>
          <p:cNvGrpSpPr/>
          <p:nvPr/>
        </p:nvGrpSpPr>
        <p:grpSpPr>
          <a:xfrm>
            <a:off x="4816930" y="6438336"/>
            <a:ext cx="340223" cy="642137"/>
            <a:chOff x="0" y="0"/>
            <a:chExt cx="453631" cy="856183"/>
          </a:xfrm>
        </p:grpSpPr>
        <p:sp>
          <p:nvSpPr>
            <p:cNvPr id="13" name="Freeform 13"/>
            <p:cNvSpPr/>
            <p:nvPr/>
          </p:nvSpPr>
          <p:spPr>
            <a:xfrm>
              <a:off x="0" y="0"/>
              <a:ext cx="453629" cy="856176"/>
            </a:xfrm>
            <a:custGeom>
              <a:avLst/>
              <a:gdLst/>
              <a:ahLst/>
              <a:cxnLst/>
              <a:rect l="l" t="t" r="r" b="b"/>
              <a:pathLst>
                <a:path w="453629" h="856176">
                  <a:moveTo>
                    <a:pt x="0" y="0"/>
                  </a:moveTo>
                  <a:lnTo>
                    <a:pt x="453629" y="0"/>
                  </a:lnTo>
                  <a:lnTo>
                    <a:pt x="453629" y="856176"/>
                  </a:lnTo>
                  <a:lnTo>
                    <a:pt x="0" y="856176"/>
                  </a:lnTo>
                  <a:close/>
                </a:path>
              </a:pathLst>
            </a:custGeom>
            <a:blipFill>
              <a:blip r:embed="rId5">
                <a:alphaModFix amt="0"/>
              </a:blip>
              <a:stretch>
                <a:fillRect l="-110352" r="-110352" b="33782"/>
              </a:stretch>
            </a:blipFill>
          </p:spPr>
        </p:sp>
        <p:sp>
          <p:nvSpPr>
            <p:cNvPr id="14" name="TextBox 14"/>
            <p:cNvSpPr txBox="1"/>
            <p:nvPr/>
          </p:nvSpPr>
          <p:spPr>
            <a:xfrm>
              <a:off x="0" y="-19050"/>
              <a:ext cx="453631" cy="875233"/>
            </a:xfrm>
            <a:prstGeom prst="rect">
              <a:avLst/>
            </a:prstGeom>
          </p:spPr>
          <p:txBody>
            <a:bodyPr lIns="0" tIns="0" rIns="0" bIns="0" rtlCol="0" anchor="ctr"/>
            <a:lstStyle/>
            <a:p>
              <a:pPr algn="ctr">
                <a:lnSpc>
                  <a:spcPts val="3120"/>
                </a:lnSpc>
              </a:pPr>
              <a:r>
                <a:rPr lang="en-US" sz="2600">
                  <a:solidFill>
                    <a:srgbClr val="000000"/>
                  </a:solidFill>
                  <a:ea typeface="Poppins"/>
                  <a:cs typeface="Poppins"/>
                  <a:sym typeface="Poppins"/>
                </a:rPr>
                <a:t>3</a:t>
              </a:r>
            </a:p>
          </p:txBody>
        </p:sp>
      </p:grpSp>
      <p:sp>
        <p:nvSpPr>
          <p:cNvPr id="15" name="Freeform 15" descr="preencoded.png"/>
          <p:cNvSpPr/>
          <p:nvPr/>
        </p:nvSpPr>
        <p:spPr>
          <a:xfrm>
            <a:off x="9827402" y="6377306"/>
            <a:ext cx="7909984" cy="2490719"/>
          </a:xfrm>
          <a:custGeom>
            <a:avLst/>
            <a:gdLst/>
            <a:ahLst/>
            <a:cxnLst/>
            <a:rect l="l" t="t" r="r" b="b"/>
            <a:pathLst>
              <a:path w="7909984" h="2490719">
                <a:moveTo>
                  <a:pt x="0" y="0"/>
                </a:moveTo>
                <a:lnTo>
                  <a:pt x="7909983" y="0"/>
                </a:lnTo>
                <a:lnTo>
                  <a:pt x="7909983" y="2490718"/>
                </a:lnTo>
                <a:lnTo>
                  <a:pt x="0" y="2490718"/>
                </a:lnTo>
                <a:lnTo>
                  <a:pt x="0" y="0"/>
                </a:lnTo>
                <a:close/>
              </a:path>
            </a:pathLst>
          </a:custGeom>
          <a:blipFill>
            <a:blip r:embed="rId3">
              <a:extLst>
                <a:ext uri="{96DAC541-7B7A-43D3-8B79-37D633B846F1}">
                  <asvg:svgBlip xmlns:asvg="http://schemas.microsoft.com/office/drawing/2016/SVG/main" r:embed="rId4"/>
                </a:ext>
              </a:extLst>
            </a:blip>
            <a:stretch>
              <a:fillRect t="-223" b="-223"/>
            </a:stretch>
          </a:blipFill>
        </p:spPr>
      </p:sp>
      <p:grpSp>
        <p:nvGrpSpPr>
          <p:cNvPr id="16" name="Group 16"/>
          <p:cNvGrpSpPr/>
          <p:nvPr/>
        </p:nvGrpSpPr>
        <p:grpSpPr>
          <a:xfrm>
            <a:off x="13612282" y="6438336"/>
            <a:ext cx="340223" cy="642137"/>
            <a:chOff x="0" y="0"/>
            <a:chExt cx="453631" cy="856183"/>
          </a:xfrm>
        </p:grpSpPr>
        <p:sp>
          <p:nvSpPr>
            <p:cNvPr id="17" name="Freeform 17"/>
            <p:cNvSpPr/>
            <p:nvPr/>
          </p:nvSpPr>
          <p:spPr>
            <a:xfrm>
              <a:off x="0" y="0"/>
              <a:ext cx="453629" cy="856176"/>
            </a:xfrm>
            <a:custGeom>
              <a:avLst/>
              <a:gdLst/>
              <a:ahLst/>
              <a:cxnLst/>
              <a:rect l="l" t="t" r="r" b="b"/>
              <a:pathLst>
                <a:path w="453629" h="856176">
                  <a:moveTo>
                    <a:pt x="0" y="0"/>
                  </a:moveTo>
                  <a:lnTo>
                    <a:pt x="453629" y="0"/>
                  </a:lnTo>
                  <a:lnTo>
                    <a:pt x="453629" y="856176"/>
                  </a:lnTo>
                  <a:lnTo>
                    <a:pt x="0" y="856176"/>
                  </a:lnTo>
                  <a:close/>
                </a:path>
              </a:pathLst>
            </a:custGeom>
            <a:blipFill>
              <a:blip r:embed="rId5">
                <a:alphaModFix amt="0"/>
              </a:blip>
              <a:stretch>
                <a:fillRect l="-110352" r="-110352" b="33782"/>
              </a:stretch>
            </a:blipFill>
          </p:spPr>
        </p:sp>
        <p:sp>
          <p:nvSpPr>
            <p:cNvPr id="18" name="TextBox 18"/>
            <p:cNvSpPr txBox="1"/>
            <p:nvPr/>
          </p:nvSpPr>
          <p:spPr>
            <a:xfrm>
              <a:off x="0" y="-19050"/>
              <a:ext cx="453631" cy="875233"/>
            </a:xfrm>
            <a:prstGeom prst="rect">
              <a:avLst/>
            </a:prstGeom>
          </p:spPr>
          <p:txBody>
            <a:bodyPr lIns="0" tIns="0" rIns="0" bIns="0" rtlCol="0" anchor="ctr"/>
            <a:lstStyle/>
            <a:p>
              <a:pPr algn="ctr">
                <a:lnSpc>
                  <a:spcPts val="3120"/>
                </a:lnSpc>
              </a:pPr>
              <a:r>
                <a:rPr lang="en-US" sz="2600">
                  <a:solidFill>
                    <a:srgbClr val="000000"/>
                  </a:solidFill>
                  <a:ea typeface="Poppins"/>
                  <a:cs typeface="Poppins"/>
                  <a:sym typeface="Poppins"/>
                </a:rPr>
                <a:t>4</a:t>
              </a:r>
            </a:p>
          </p:txBody>
        </p:sp>
      </p:grpSp>
      <p:sp>
        <p:nvSpPr>
          <p:cNvPr id="21" name="Freeform 21"/>
          <p:cNvSpPr/>
          <p:nvPr/>
        </p:nvSpPr>
        <p:spPr>
          <a:xfrm>
            <a:off x="1289669" y="3530113"/>
            <a:ext cx="473254" cy="473254"/>
          </a:xfrm>
          <a:custGeom>
            <a:avLst/>
            <a:gdLst/>
            <a:ahLst/>
            <a:cxnLst/>
            <a:rect l="l" t="t" r="r" b="b"/>
            <a:pathLst>
              <a:path w="473254" h="473254">
                <a:moveTo>
                  <a:pt x="0" y="0"/>
                </a:moveTo>
                <a:lnTo>
                  <a:pt x="473254" y="0"/>
                </a:lnTo>
                <a:lnTo>
                  <a:pt x="473254" y="473254"/>
                </a:lnTo>
                <a:lnTo>
                  <a:pt x="0" y="473254"/>
                </a:lnTo>
                <a:lnTo>
                  <a:pt x="0" y="0"/>
                </a:lnTo>
                <a:close/>
              </a:path>
            </a:pathLst>
          </a:custGeom>
          <a:blipFill>
            <a:blip r:embed="rId6"/>
            <a:stretch>
              <a:fillRect/>
            </a:stretch>
          </a:blipFill>
        </p:spPr>
      </p:sp>
      <p:sp>
        <p:nvSpPr>
          <p:cNvPr id="22" name="Freeform 22"/>
          <p:cNvSpPr/>
          <p:nvPr/>
        </p:nvSpPr>
        <p:spPr>
          <a:xfrm>
            <a:off x="10162317" y="3512645"/>
            <a:ext cx="490723" cy="490723"/>
          </a:xfrm>
          <a:custGeom>
            <a:avLst/>
            <a:gdLst/>
            <a:ahLst/>
            <a:cxnLst/>
            <a:rect l="l" t="t" r="r" b="b"/>
            <a:pathLst>
              <a:path w="490723" h="490723">
                <a:moveTo>
                  <a:pt x="0" y="0"/>
                </a:moveTo>
                <a:lnTo>
                  <a:pt x="490723" y="0"/>
                </a:lnTo>
                <a:lnTo>
                  <a:pt x="490723" y="490722"/>
                </a:lnTo>
                <a:lnTo>
                  <a:pt x="0" y="490722"/>
                </a:lnTo>
                <a:lnTo>
                  <a:pt x="0" y="0"/>
                </a:lnTo>
                <a:close/>
              </a:path>
            </a:pathLst>
          </a:custGeom>
          <a:blipFill>
            <a:blip r:embed="rId7"/>
            <a:stretch>
              <a:fillRect/>
            </a:stretch>
          </a:blipFill>
        </p:spPr>
      </p:sp>
      <p:sp>
        <p:nvSpPr>
          <p:cNvPr id="23" name="Freeform 23"/>
          <p:cNvSpPr/>
          <p:nvPr/>
        </p:nvSpPr>
        <p:spPr>
          <a:xfrm>
            <a:off x="1232066" y="6956179"/>
            <a:ext cx="394932" cy="453471"/>
          </a:xfrm>
          <a:custGeom>
            <a:avLst/>
            <a:gdLst/>
            <a:ahLst/>
            <a:cxnLst/>
            <a:rect l="l" t="t" r="r" b="b"/>
            <a:pathLst>
              <a:path w="394932" h="453471">
                <a:moveTo>
                  <a:pt x="0" y="0"/>
                </a:moveTo>
                <a:lnTo>
                  <a:pt x="394932" y="0"/>
                </a:lnTo>
                <a:lnTo>
                  <a:pt x="394932" y="453471"/>
                </a:lnTo>
                <a:lnTo>
                  <a:pt x="0" y="4534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10162317" y="7080473"/>
            <a:ext cx="434405" cy="537944"/>
          </a:xfrm>
          <a:custGeom>
            <a:avLst/>
            <a:gdLst/>
            <a:ahLst/>
            <a:cxnLst/>
            <a:rect l="l" t="t" r="r" b="b"/>
            <a:pathLst>
              <a:path w="434405" h="537944">
                <a:moveTo>
                  <a:pt x="0" y="0"/>
                </a:moveTo>
                <a:lnTo>
                  <a:pt x="434405" y="0"/>
                </a:lnTo>
                <a:lnTo>
                  <a:pt x="434405" y="537944"/>
                </a:lnTo>
                <a:lnTo>
                  <a:pt x="0" y="53794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5" name="TextBox 25"/>
          <p:cNvSpPr txBox="1"/>
          <p:nvPr/>
        </p:nvSpPr>
        <p:spPr>
          <a:xfrm>
            <a:off x="1471941" y="4014878"/>
            <a:ext cx="7456344" cy="1381353"/>
          </a:xfrm>
          <a:prstGeom prst="rect">
            <a:avLst/>
          </a:prstGeom>
        </p:spPr>
        <p:txBody>
          <a:bodyPr lIns="0" tIns="0" rIns="0" bIns="0" rtlCol="0" anchor="t">
            <a:spAutoFit/>
          </a:bodyPr>
          <a:lstStyle/>
          <a:p>
            <a:pPr algn="l">
              <a:lnSpc>
                <a:spcPts val="2713"/>
              </a:lnSpc>
            </a:pPr>
            <a:r>
              <a:rPr lang="en-US" sz="1700">
                <a:solidFill>
                  <a:srgbClr val="272525"/>
                </a:solidFill>
                <a:ea typeface="Poppins"/>
                <a:cs typeface="Poppins"/>
                <a:sym typeface="Poppins"/>
              </a:rPr>
              <a:t>Hoàn thiện một ứng dụng chat P2P với giao diện trực quan, thân thiện người dùng, hỗ trợ nhắn tin thời gian thực với mã hóa đầu cuối E2EE đảm bảo quyền riêng tư tuyệt đối cho người dùng.</a:t>
            </a:r>
          </a:p>
          <a:p>
            <a:pPr algn="l">
              <a:lnSpc>
                <a:spcPts val="2713"/>
              </a:lnSpc>
            </a:pPr>
            <a:endParaRPr lang="en-US" sz="1700">
              <a:solidFill>
                <a:srgbClr val="272525"/>
              </a:solidFill>
              <a:ea typeface="Poppins"/>
              <a:cs typeface="Poppins"/>
              <a:sym typeface="Poppins"/>
            </a:endParaRPr>
          </a:p>
        </p:txBody>
      </p:sp>
      <p:sp>
        <p:nvSpPr>
          <p:cNvPr id="26" name="TextBox 26"/>
          <p:cNvSpPr txBox="1"/>
          <p:nvPr/>
        </p:nvSpPr>
        <p:spPr>
          <a:xfrm>
            <a:off x="4947015" y="696877"/>
            <a:ext cx="8352086" cy="1232582"/>
          </a:xfrm>
          <a:prstGeom prst="rect">
            <a:avLst/>
          </a:prstGeom>
        </p:spPr>
        <p:txBody>
          <a:bodyPr lIns="0" tIns="0" rIns="0" bIns="0" rtlCol="0" anchor="t">
            <a:spAutoFit/>
          </a:bodyPr>
          <a:lstStyle/>
          <a:p>
            <a:pPr algn="l">
              <a:lnSpc>
                <a:spcPts val="9983"/>
              </a:lnSpc>
            </a:pPr>
            <a:r>
              <a:rPr lang="en-US" sz="7999" b="1">
                <a:solidFill>
                  <a:srgbClr val="312F2B"/>
                </a:solidFill>
                <a:ea typeface="Poppins Bold"/>
                <a:cs typeface="Poppins Bold"/>
                <a:sym typeface="Poppins Bold"/>
              </a:rPr>
              <a:t>MỤC TIÊU ĐỒ ÁN</a:t>
            </a:r>
          </a:p>
        </p:txBody>
      </p:sp>
      <p:sp>
        <p:nvSpPr>
          <p:cNvPr id="27" name="TextBox 27"/>
          <p:cNvSpPr txBox="1"/>
          <p:nvPr/>
        </p:nvSpPr>
        <p:spPr>
          <a:xfrm>
            <a:off x="1867698" y="3571698"/>
            <a:ext cx="3847267" cy="366979"/>
          </a:xfrm>
          <a:prstGeom prst="rect">
            <a:avLst/>
          </a:prstGeom>
        </p:spPr>
        <p:txBody>
          <a:bodyPr lIns="0" tIns="0" rIns="0" bIns="0" rtlCol="0" anchor="t">
            <a:spAutoFit/>
          </a:bodyPr>
          <a:lstStyle/>
          <a:p>
            <a:pPr algn="l">
              <a:lnSpc>
                <a:spcPts val="2870"/>
              </a:lnSpc>
            </a:pPr>
            <a:r>
              <a:rPr lang="en-US" sz="2300">
                <a:solidFill>
                  <a:srgbClr val="272525"/>
                </a:solidFill>
                <a:ea typeface="Poppins"/>
                <a:cs typeface="Poppins"/>
                <a:sym typeface="Poppins"/>
              </a:rPr>
              <a:t>Hệ thống chat P2P an toàn</a:t>
            </a:r>
          </a:p>
        </p:txBody>
      </p:sp>
      <p:sp>
        <p:nvSpPr>
          <p:cNvPr id="28" name="TextBox 28"/>
          <p:cNvSpPr txBox="1"/>
          <p:nvPr/>
        </p:nvSpPr>
        <p:spPr>
          <a:xfrm>
            <a:off x="10680213" y="3636388"/>
            <a:ext cx="4099084" cy="366979"/>
          </a:xfrm>
          <a:prstGeom prst="rect">
            <a:avLst/>
          </a:prstGeom>
        </p:spPr>
        <p:txBody>
          <a:bodyPr lIns="0" tIns="0" rIns="0" bIns="0" rtlCol="0" anchor="t">
            <a:spAutoFit/>
          </a:bodyPr>
          <a:lstStyle/>
          <a:p>
            <a:pPr algn="l">
              <a:lnSpc>
                <a:spcPts val="2870"/>
              </a:lnSpc>
            </a:pPr>
            <a:r>
              <a:rPr lang="en-US" sz="2300">
                <a:solidFill>
                  <a:srgbClr val="272525"/>
                </a:solidFill>
                <a:ea typeface="Poppins"/>
                <a:cs typeface="Poppins"/>
                <a:sym typeface="Poppins"/>
              </a:rPr>
              <a:t>Phát hiện mạng LAN tự động</a:t>
            </a:r>
          </a:p>
        </p:txBody>
      </p:sp>
      <p:sp>
        <p:nvSpPr>
          <p:cNvPr id="29" name="TextBox 29"/>
          <p:cNvSpPr txBox="1"/>
          <p:nvPr/>
        </p:nvSpPr>
        <p:spPr>
          <a:xfrm>
            <a:off x="1867698" y="7112760"/>
            <a:ext cx="3621524" cy="366979"/>
          </a:xfrm>
          <a:prstGeom prst="rect">
            <a:avLst/>
          </a:prstGeom>
        </p:spPr>
        <p:txBody>
          <a:bodyPr lIns="0" tIns="0" rIns="0" bIns="0" rtlCol="0" anchor="t">
            <a:spAutoFit/>
          </a:bodyPr>
          <a:lstStyle/>
          <a:p>
            <a:pPr algn="l">
              <a:lnSpc>
                <a:spcPts val="2870"/>
              </a:lnSpc>
            </a:pPr>
            <a:r>
              <a:rPr lang="en-US" sz="2300">
                <a:solidFill>
                  <a:srgbClr val="272525"/>
                </a:solidFill>
                <a:ea typeface="Poppins"/>
                <a:cs typeface="Poppins"/>
                <a:sym typeface="Poppins"/>
              </a:rPr>
              <a:t>Truyền file an toàn ≤10MB</a:t>
            </a:r>
          </a:p>
        </p:txBody>
      </p:sp>
      <p:sp>
        <p:nvSpPr>
          <p:cNvPr id="30" name="TextBox 30"/>
          <p:cNvSpPr txBox="1"/>
          <p:nvPr/>
        </p:nvSpPr>
        <p:spPr>
          <a:xfrm>
            <a:off x="1471941" y="7555514"/>
            <a:ext cx="7366692" cy="1038453"/>
          </a:xfrm>
          <a:prstGeom prst="rect">
            <a:avLst/>
          </a:prstGeom>
        </p:spPr>
        <p:txBody>
          <a:bodyPr lIns="0" tIns="0" rIns="0" bIns="0" rtlCol="0" anchor="t">
            <a:spAutoFit/>
          </a:bodyPr>
          <a:lstStyle/>
          <a:p>
            <a:pPr algn="l">
              <a:lnSpc>
                <a:spcPts val="2713"/>
              </a:lnSpc>
            </a:pPr>
            <a:r>
              <a:rPr lang="en-US" sz="1700">
                <a:solidFill>
                  <a:srgbClr val="272525"/>
                </a:solidFill>
                <a:ea typeface="Poppins"/>
                <a:cs typeface="Poppins"/>
                <a:sym typeface="Poppins"/>
              </a:rPr>
              <a:t>Hỗ trợ truyền tải file lên đến 10MB với cơ chế băm nhỏ dữ liệu thành chunk và kiểm tra tính toàn vẹn bằng SHA-256.</a:t>
            </a:r>
          </a:p>
          <a:p>
            <a:pPr algn="l">
              <a:lnSpc>
                <a:spcPts val="2713"/>
              </a:lnSpc>
            </a:pPr>
            <a:endParaRPr lang="en-US" sz="1700">
              <a:solidFill>
                <a:srgbClr val="272525"/>
              </a:solidFill>
              <a:ea typeface="Poppins"/>
              <a:cs typeface="Poppins"/>
              <a:sym typeface="Poppins"/>
            </a:endParaRPr>
          </a:p>
        </p:txBody>
      </p:sp>
      <p:sp>
        <p:nvSpPr>
          <p:cNvPr id="31" name="TextBox 31"/>
          <p:cNvSpPr txBox="1"/>
          <p:nvPr/>
        </p:nvSpPr>
        <p:spPr>
          <a:xfrm>
            <a:off x="10680213" y="7216635"/>
            <a:ext cx="3145988" cy="366979"/>
          </a:xfrm>
          <a:prstGeom prst="rect">
            <a:avLst/>
          </a:prstGeom>
        </p:spPr>
        <p:txBody>
          <a:bodyPr lIns="0" tIns="0" rIns="0" bIns="0" rtlCol="0" anchor="t">
            <a:spAutoFit/>
          </a:bodyPr>
          <a:lstStyle/>
          <a:p>
            <a:pPr algn="l">
              <a:lnSpc>
                <a:spcPts val="2870"/>
              </a:lnSpc>
            </a:pPr>
            <a:r>
              <a:rPr lang="en-US" sz="2300">
                <a:solidFill>
                  <a:srgbClr val="272525"/>
                </a:solidFill>
                <a:ea typeface="Poppins"/>
                <a:cs typeface="Poppins"/>
                <a:sym typeface="Poppins"/>
              </a:rPr>
              <a:t>Chống tấn công MITM</a:t>
            </a:r>
          </a:p>
        </p:txBody>
      </p:sp>
      <p:sp>
        <p:nvSpPr>
          <p:cNvPr id="32" name="TextBox 32"/>
          <p:cNvSpPr txBox="1"/>
          <p:nvPr/>
        </p:nvSpPr>
        <p:spPr>
          <a:xfrm>
            <a:off x="10162317" y="7593140"/>
            <a:ext cx="7366845" cy="1038453"/>
          </a:xfrm>
          <a:prstGeom prst="rect">
            <a:avLst/>
          </a:prstGeom>
        </p:spPr>
        <p:txBody>
          <a:bodyPr lIns="0" tIns="0" rIns="0" bIns="0" rtlCol="0" anchor="t">
            <a:spAutoFit/>
          </a:bodyPr>
          <a:lstStyle/>
          <a:p>
            <a:pPr algn="l">
              <a:lnSpc>
                <a:spcPts val="2713"/>
              </a:lnSpc>
            </a:pPr>
            <a:r>
              <a:rPr lang="en-US" sz="1700">
                <a:solidFill>
                  <a:srgbClr val="272525"/>
                </a:solidFill>
                <a:ea typeface="Poppins"/>
                <a:cs typeface="Poppins"/>
                <a:sym typeface="Poppins"/>
              </a:rPr>
              <a:t>Áp dụng mô hình TOFU (Trust On First Use) để ghi nhớ vân tay số của máy lạ, cảnh báo ngay khi vân tay tha</a:t>
            </a:r>
          </a:p>
          <a:p>
            <a:pPr algn="l">
              <a:lnSpc>
                <a:spcPts val="2713"/>
              </a:lnSpc>
            </a:pPr>
            <a:endParaRPr lang="en-US" sz="1700">
              <a:solidFill>
                <a:srgbClr val="272525"/>
              </a:solidFill>
              <a:ea typeface="Poppins"/>
              <a:cs typeface="Poppins"/>
              <a:sym typeface="Poppins"/>
            </a:endParaRPr>
          </a:p>
        </p:txBody>
      </p:sp>
      <p:sp>
        <p:nvSpPr>
          <p:cNvPr id="33" name="TextBox 33"/>
          <p:cNvSpPr txBox="1"/>
          <p:nvPr/>
        </p:nvSpPr>
        <p:spPr>
          <a:xfrm>
            <a:off x="10162317" y="4050992"/>
            <a:ext cx="7740072" cy="604520"/>
          </a:xfrm>
          <a:prstGeom prst="rect">
            <a:avLst/>
          </a:prstGeom>
        </p:spPr>
        <p:txBody>
          <a:bodyPr lIns="0" tIns="0" rIns="0" bIns="0" rtlCol="0" anchor="t">
            <a:spAutoFit/>
          </a:bodyPr>
          <a:lstStyle/>
          <a:p>
            <a:pPr algn="l">
              <a:lnSpc>
                <a:spcPts val="2380"/>
              </a:lnSpc>
              <a:spcBef>
                <a:spcPct val="0"/>
              </a:spcBef>
            </a:pPr>
            <a:r>
              <a:rPr lang="en-US" sz="1700">
                <a:solidFill>
                  <a:srgbClr val="000000"/>
                </a:solidFill>
                <a:ea typeface="Poppins"/>
                <a:cs typeface="Poppins"/>
                <a:sym typeface="Poppins"/>
              </a:rPr>
              <a:t>Tự động quét và phát hiện các máy trạm trong mạng LAN thông qua UDP Broadcast, giúp người dùng kết nối nhanh chóng.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50"/>
                                        <p:tgtEl>
                                          <p:spTgt spid="3"/>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50"/>
                                        <p:tgtEl>
                                          <p:spTgt spid="5"/>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50"/>
                                        <p:tgtEl>
                                          <p:spTgt spid="11"/>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50"/>
                                        <p:tgtEl>
                                          <p:spTgt spid="12"/>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250"/>
                                        <p:tgtEl>
                                          <p:spTgt spid="15"/>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50"/>
                                        <p:tgtEl>
                                          <p:spTgt spid="16"/>
                                        </p:tgtEl>
                                      </p:cBhvr>
                                    </p:animEffect>
                                  </p:childTnLst>
                                </p:cTn>
                              </p:par>
                            </p:childTnLst>
                          </p:cTn>
                        </p:par>
                        <p:par>
                          <p:cTn id="40" fill="hold">
                            <p:stCondLst>
                              <p:cond delay="2250"/>
                            </p:stCondLst>
                            <p:childTnLst>
                              <p:par>
                                <p:cTn id="41" presetID="10" presetClass="entr" presetSubtype="0"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250"/>
                                        <p:tgtEl>
                                          <p:spTgt spid="21"/>
                                        </p:tgtEl>
                                      </p:cBhvr>
                                    </p:animEffect>
                                  </p:childTnLst>
                                </p:cTn>
                              </p:par>
                            </p:childTnLst>
                          </p:cTn>
                        </p:par>
                        <p:par>
                          <p:cTn id="44" fill="hold">
                            <p:stCondLst>
                              <p:cond delay="2500"/>
                            </p:stCondLst>
                            <p:childTnLst>
                              <p:par>
                                <p:cTn id="45" presetID="10" presetClass="entr" presetSubtype="0"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250"/>
                                        <p:tgtEl>
                                          <p:spTgt spid="22"/>
                                        </p:tgtEl>
                                      </p:cBhvr>
                                    </p:animEffect>
                                  </p:childTnLst>
                                </p:cTn>
                              </p:par>
                            </p:childTnLst>
                          </p:cTn>
                        </p:par>
                        <p:par>
                          <p:cTn id="48" fill="hold">
                            <p:stCondLst>
                              <p:cond delay="2750"/>
                            </p:stCondLst>
                            <p:childTnLst>
                              <p:par>
                                <p:cTn id="49" presetID="10" presetClass="entr" presetSubtype="0" fill="hold"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250"/>
                                        <p:tgtEl>
                                          <p:spTgt spid="23"/>
                                        </p:tgtEl>
                                      </p:cBhvr>
                                    </p:animEffect>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250"/>
                                        <p:tgtEl>
                                          <p:spTgt spid="25"/>
                                        </p:tgtEl>
                                      </p:cBhvr>
                                    </p:animEffect>
                                  </p:childTnLst>
                                </p:cTn>
                              </p:par>
                            </p:childTnLst>
                          </p:cTn>
                        </p:par>
                        <p:par>
                          <p:cTn id="56" fill="hold">
                            <p:stCondLst>
                              <p:cond delay="3250"/>
                            </p:stCondLst>
                            <p:childTnLst>
                              <p:par>
                                <p:cTn id="57" presetID="10" presetClass="entr" presetSubtype="0"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250"/>
                                        <p:tgtEl>
                                          <p:spTgt spid="27"/>
                                        </p:tgtEl>
                                      </p:cBhvr>
                                    </p:animEffect>
                                  </p:childTnLst>
                                </p:cTn>
                              </p:par>
                            </p:childTnLst>
                          </p:cTn>
                        </p:par>
                        <p:par>
                          <p:cTn id="60" fill="hold">
                            <p:stCondLst>
                              <p:cond delay="350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250"/>
                                        <p:tgtEl>
                                          <p:spTgt spid="24"/>
                                        </p:tgtEl>
                                      </p:cBhvr>
                                    </p:animEffect>
                                  </p:childTnLst>
                                </p:cTn>
                              </p:par>
                            </p:childTnLst>
                          </p:cTn>
                        </p:par>
                        <p:par>
                          <p:cTn id="64" fill="hold">
                            <p:stCondLst>
                              <p:cond delay="3750"/>
                            </p:stCondLst>
                            <p:childTnLst>
                              <p:par>
                                <p:cTn id="65" presetID="10" presetClass="entr" presetSubtype="0" fill="hold" grpId="0"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250"/>
                                        <p:tgtEl>
                                          <p:spTgt spid="28"/>
                                        </p:tgtEl>
                                      </p:cBhvr>
                                    </p:animEffect>
                                  </p:childTnLst>
                                </p:cTn>
                              </p:par>
                            </p:childTnLst>
                          </p:cTn>
                        </p:par>
                        <p:par>
                          <p:cTn id="68" fill="hold">
                            <p:stCondLst>
                              <p:cond delay="4000"/>
                            </p:stCondLst>
                            <p:childTnLst>
                              <p:par>
                                <p:cTn id="69" presetID="10" presetClass="entr" presetSubtype="0" fill="hold" grpId="0" nodeType="after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250"/>
                                        <p:tgtEl>
                                          <p:spTgt spid="26"/>
                                        </p:tgtEl>
                                      </p:cBhvr>
                                    </p:animEffect>
                                  </p:childTnLst>
                                </p:cTn>
                              </p:par>
                            </p:childTnLst>
                          </p:cTn>
                        </p:par>
                        <p:par>
                          <p:cTn id="72" fill="hold">
                            <p:stCondLst>
                              <p:cond delay="4250"/>
                            </p:stCondLst>
                            <p:childTnLst>
                              <p:par>
                                <p:cTn id="73" presetID="10" presetClass="entr" presetSubtype="0" fill="hold" grpId="0" nodeType="after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250"/>
                                        <p:tgtEl>
                                          <p:spTgt spid="33"/>
                                        </p:tgtEl>
                                      </p:cBhvr>
                                    </p:animEffect>
                                  </p:childTnLst>
                                </p:cTn>
                              </p:par>
                            </p:childTnLst>
                          </p:cTn>
                        </p:par>
                        <p:par>
                          <p:cTn id="76" fill="hold">
                            <p:stCondLst>
                              <p:cond delay="4500"/>
                            </p:stCondLst>
                            <p:childTnLst>
                              <p:par>
                                <p:cTn id="77" presetID="10" presetClass="entr" presetSubtype="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250"/>
                                        <p:tgtEl>
                                          <p:spTgt spid="29"/>
                                        </p:tgtEl>
                                      </p:cBhvr>
                                    </p:animEffect>
                                  </p:childTnLst>
                                </p:cTn>
                              </p:par>
                            </p:childTnLst>
                          </p:cTn>
                        </p:par>
                        <p:par>
                          <p:cTn id="80" fill="hold">
                            <p:stCondLst>
                              <p:cond delay="4750"/>
                            </p:stCondLst>
                            <p:childTnLst>
                              <p:par>
                                <p:cTn id="81" presetID="10" presetClass="entr" presetSubtype="0" fill="hold" grpId="0" nodeType="after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250"/>
                                        <p:tgtEl>
                                          <p:spTgt spid="30"/>
                                        </p:tgtEl>
                                      </p:cBhvr>
                                    </p:animEffect>
                                  </p:childTnLst>
                                </p:cTn>
                              </p:par>
                            </p:childTnLst>
                          </p:cTn>
                        </p:par>
                        <p:par>
                          <p:cTn id="84" fill="hold">
                            <p:stCondLst>
                              <p:cond delay="5000"/>
                            </p:stCondLst>
                            <p:childTnLst>
                              <p:par>
                                <p:cTn id="85" presetID="10" presetClass="entr" presetSubtype="0"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250"/>
                                        <p:tgtEl>
                                          <p:spTgt spid="31"/>
                                        </p:tgtEl>
                                      </p:cBhvr>
                                    </p:animEffect>
                                  </p:childTnLst>
                                </p:cTn>
                              </p:par>
                            </p:childTnLst>
                          </p:cTn>
                        </p:par>
                        <p:par>
                          <p:cTn id="88" fill="hold">
                            <p:stCondLst>
                              <p:cond delay="5250"/>
                            </p:stCondLst>
                            <p:childTnLst>
                              <p:par>
                                <p:cTn id="89" presetID="10" presetClass="entr" presetSubtype="0" fill="hold" grpId="0" nodeType="after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5" grpId="0"/>
      <p:bldP spid="26" grpId="0"/>
      <p:bldP spid="27" grpId="0"/>
      <p:bldP spid="28" grpId="0"/>
      <p:bldP spid="29" grpId="0"/>
      <p:bldP spid="30" grpId="0"/>
      <p:bldP spid="31" grpId="0"/>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76913" y="-2343"/>
            <a:ext cx="14558487" cy="926792"/>
          </a:xfrm>
          <a:prstGeom prst="rect">
            <a:avLst/>
          </a:prstGeom>
        </p:spPr>
        <p:txBody>
          <a:bodyPr lIns="0" tIns="0" rIns="0" bIns="0" rtlCol="0" anchor="t">
            <a:spAutoFit/>
          </a:bodyPr>
          <a:lstStyle/>
          <a:p>
            <a:pPr algn="ctr">
              <a:lnSpc>
                <a:spcPts val="7700"/>
              </a:lnSpc>
              <a:spcBef>
                <a:spcPct val="0"/>
              </a:spcBef>
            </a:pPr>
            <a:r>
              <a:rPr lang="en-US" sz="5500" b="1">
                <a:solidFill>
                  <a:srgbClr val="000000"/>
                </a:solidFill>
                <a:ea typeface="Poppins Bold"/>
                <a:cs typeface="Poppins Bold"/>
                <a:sym typeface="Poppins Bold"/>
              </a:rPr>
              <a:t>KIẾN TRÚC TỔNG THỂ HỆ THỐNG P2P CHAT</a:t>
            </a:r>
          </a:p>
        </p:txBody>
      </p:sp>
      <p:grpSp>
        <p:nvGrpSpPr>
          <p:cNvPr id="3" name="Group 3"/>
          <p:cNvGrpSpPr/>
          <p:nvPr/>
        </p:nvGrpSpPr>
        <p:grpSpPr>
          <a:xfrm>
            <a:off x="974390" y="4415547"/>
            <a:ext cx="6334227" cy="822025"/>
            <a:chOff x="0" y="0"/>
            <a:chExt cx="1668274" cy="216501"/>
          </a:xfrm>
        </p:grpSpPr>
        <p:sp>
          <p:nvSpPr>
            <p:cNvPr id="4" name="Freeform 4"/>
            <p:cNvSpPr/>
            <p:nvPr/>
          </p:nvSpPr>
          <p:spPr>
            <a:xfrm>
              <a:off x="0" y="0"/>
              <a:ext cx="1668274" cy="216501"/>
            </a:xfrm>
            <a:custGeom>
              <a:avLst/>
              <a:gdLst/>
              <a:ahLst/>
              <a:cxnLst/>
              <a:rect l="l" t="t" r="r" b="b"/>
              <a:pathLst>
                <a:path w="1668274" h="216501">
                  <a:moveTo>
                    <a:pt x="20778" y="0"/>
                  </a:moveTo>
                  <a:lnTo>
                    <a:pt x="1647496" y="0"/>
                  </a:lnTo>
                  <a:cubicBezTo>
                    <a:pt x="1658971" y="0"/>
                    <a:pt x="1668274" y="9303"/>
                    <a:pt x="1668274" y="20778"/>
                  </a:cubicBezTo>
                  <a:lnTo>
                    <a:pt x="1668274" y="195723"/>
                  </a:lnTo>
                  <a:cubicBezTo>
                    <a:pt x="1668274" y="207198"/>
                    <a:pt x="1658971" y="216501"/>
                    <a:pt x="1647496" y="216501"/>
                  </a:cubicBezTo>
                  <a:lnTo>
                    <a:pt x="20778" y="216501"/>
                  </a:lnTo>
                  <a:cubicBezTo>
                    <a:pt x="9303" y="216501"/>
                    <a:pt x="0" y="207198"/>
                    <a:pt x="0" y="195723"/>
                  </a:cubicBezTo>
                  <a:lnTo>
                    <a:pt x="0" y="20778"/>
                  </a:lnTo>
                  <a:cubicBezTo>
                    <a:pt x="0" y="9303"/>
                    <a:pt x="9303" y="0"/>
                    <a:pt x="20778" y="0"/>
                  </a:cubicBezTo>
                  <a:close/>
                </a:path>
              </a:pathLst>
            </a:custGeom>
            <a:solidFill>
              <a:srgbClr val="F2E3FF"/>
            </a:solidFill>
          </p:spPr>
        </p:sp>
        <p:sp>
          <p:nvSpPr>
            <p:cNvPr id="5" name="TextBox 5"/>
            <p:cNvSpPr txBox="1"/>
            <p:nvPr/>
          </p:nvSpPr>
          <p:spPr>
            <a:xfrm>
              <a:off x="0" y="-57150"/>
              <a:ext cx="1668274" cy="27365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7842938"/>
            <a:ext cx="6334227" cy="964972"/>
            <a:chOff x="0" y="0"/>
            <a:chExt cx="1668274" cy="254149"/>
          </a:xfrm>
        </p:grpSpPr>
        <p:sp>
          <p:nvSpPr>
            <p:cNvPr id="7" name="Freeform 7"/>
            <p:cNvSpPr/>
            <p:nvPr/>
          </p:nvSpPr>
          <p:spPr>
            <a:xfrm>
              <a:off x="0" y="0"/>
              <a:ext cx="1668274" cy="254149"/>
            </a:xfrm>
            <a:custGeom>
              <a:avLst/>
              <a:gdLst/>
              <a:ahLst/>
              <a:cxnLst/>
              <a:rect l="l" t="t" r="r" b="b"/>
              <a:pathLst>
                <a:path w="1668274" h="254149">
                  <a:moveTo>
                    <a:pt x="20778" y="0"/>
                  </a:moveTo>
                  <a:lnTo>
                    <a:pt x="1647496" y="0"/>
                  </a:lnTo>
                  <a:cubicBezTo>
                    <a:pt x="1658971" y="0"/>
                    <a:pt x="1668274" y="9303"/>
                    <a:pt x="1668274" y="20778"/>
                  </a:cubicBezTo>
                  <a:lnTo>
                    <a:pt x="1668274" y="233371"/>
                  </a:lnTo>
                  <a:cubicBezTo>
                    <a:pt x="1668274" y="244846"/>
                    <a:pt x="1658971" y="254149"/>
                    <a:pt x="1647496" y="254149"/>
                  </a:cubicBezTo>
                  <a:lnTo>
                    <a:pt x="20778" y="254149"/>
                  </a:lnTo>
                  <a:cubicBezTo>
                    <a:pt x="9303" y="254149"/>
                    <a:pt x="0" y="244846"/>
                    <a:pt x="0" y="233371"/>
                  </a:cubicBezTo>
                  <a:lnTo>
                    <a:pt x="0" y="20778"/>
                  </a:lnTo>
                  <a:cubicBezTo>
                    <a:pt x="0" y="9303"/>
                    <a:pt x="9303" y="0"/>
                    <a:pt x="20778" y="0"/>
                  </a:cubicBezTo>
                  <a:close/>
                </a:path>
              </a:pathLst>
            </a:custGeom>
            <a:solidFill>
              <a:srgbClr val="E5E5E0"/>
            </a:solidFill>
          </p:spPr>
        </p:sp>
        <p:sp>
          <p:nvSpPr>
            <p:cNvPr id="8" name="TextBox 8"/>
            <p:cNvSpPr txBox="1"/>
            <p:nvPr/>
          </p:nvSpPr>
          <p:spPr>
            <a:xfrm>
              <a:off x="0" y="-57150"/>
              <a:ext cx="1668274" cy="311299"/>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28700" y="2195061"/>
            <a:ext cx="6334227" cy="1051261"/>
            <a:chOff x="0" y="0"/>
            <a:chExt cx="1668274" cy="276875"/>
          </a:xfrm>
        </p:grpSpPr>
        <p:sp>
          <p:nvSpPr>
            <p:cNvPr id="10" name="Freeform 10"/>
            <p:cNvSpPr/>
            <p:nvPr/>
          </p:nvSpPr>
          <p:spPr>
            <a:xfrm>
              <a:off x="0" y="0"/>
              <a:ext cx="1668274" cy="276875"/>
            </a:xfrm>
            <a:custGeom>
              <a:avLst/>
              <a:gdLst/>
              <a:ahLst/>
              <a:cxnLst/>
              <a:rect l="l" t="t" r="r" b="b"/>
              <a:pathLst>
                <a:path w="1668274" h="276875">
                  <a:moveTo>
                    <a:pt x="20778" y="0"/>
                  </a:moveTo>
                  <a:lnTo>
                    <a:pt x="1647496" y="0"/>
                  </a:lnTo>
                  <a:cubicBezTo>
                    <a:pt x="1658971" y="0"/>
                    <a:pt x="1668274" y="9303"/>
                    <a:pt x="1668274" y="20778"/>
                  </a:cubicBezTo>
                  <a:lnTo>
                    <a:pt x="1668274" y="256097"/>
                  </a:lnTo>
                  <a:cubicBezTo>
                    <a:pt x="1668274" y="267573"/>
                    <a:pt x="1658971" y="276875"/>
                    <a:pt x="1647496" y="276875"/>
                  </a:cubicBezTo>
                  <a:lnTo>
                    <a:pt x="20778" y="276875"/>
                  </a:lnTo>
                  <a:cubicBezTo>
                    <a:pt x="9303" y="276875"/>
                    <a:pt x="0" y="267573"/>
                    <a:pt x="0" y="256097"/>
                  </a:cubicBezTo>
                  <a:lnTo>
                    <a:pt x="0" y="20778"/>
                  </a:lnTo>
                  <a:cubicBezTo>
                    <a:pt x="0" y="9303"/>
                    <a:pt x="9303" y="0"/>
                    <a:pt x="20778" y="0"/>
                  </a:cubicBezTo>
                  <a:close/>
                </a:path>
              </a:pathLst>
            </a:custGeom>
            <a:solidFill>
              <a:srgbClr val="D5EDF1"/>
            </a:solidFill>
          </p:spPr>
        </p:sp>
        <p:sp>
          <p:nvSpPr>
            <p:cNvPr id="11" name="TextBox 11"/>
            <p:cNvSpPr txBox="1"/>
            <p:nvPr/>
          </p:nvSpPr>
          <p:spPr>
            <a:xfrm>
              <a:off x="0" y="-57150"/>
              <a:ext cx="1668274" cy="334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028700" y="5338760"/>
            <a:ext cx="6279917" cy="1152536"/>
            <a:chOff x="0" y="0"/>
            <a:chExt cx="1653970" cy="303549"/>
          </a:xfrm>
        </p:grpSpPr>
        <p:sp>
          <p:nvSpPr>
            <p:cNvPr id="13" name="Freeform 13"/>
            <p:cNvSpPr/>
            <p:nvPr/>
          </p:nvSpPr>
          <p:spPr>
            <a:xfrm>
              <a:off x="0" y="0"/>
              <a:ext cx="1653970" cy="303549"/>
            </a:xfrm>
            <a:custGeom>
              <a:avLst/>
              <a:gdLst/>
              <a:ahLst/>
              <a:cxnLst/>
              <a:rect l="l" t="t" r="r" b="b"/>
              <a:pathLst>
                <a:path w="1653970" h="303549">
                  <a:moveTo>
                    <a:pt x="20958" y="0"/>
                  </a:moveTo>
                  <a:lnTo>
                    <a:pt x="1633012" y="0"/>
                  </a:lnTo>
                  <a:cubicBezTo>
                    <a:pt x="1644587" y="0"/>
                    <a:pt x="1653970" y="9383"/>
                    <a:pt x="1653970" y="20958"/>
                  </a:cubicBezTo>
                  <a:lnTo>
                    <a:pt x="1653970" y="282591"/>
                  </a:lnTo>
                  <a:cubicBezTo>
                    <a:pt x="1653970" y="294166"/>
                    <a:pt x="1644587" y="303549"/>
                    <a:pt x="1633012" y="303549"/>
                  </a:cubicBezTo>
                  <a:lnTo>
                    <a:pt x="20958" y="303549"/>
                  </a:lnTo>
                  <a:cubicBezTo>
                    <a:pt x="15399" y="303549"/>
                    <a:pt x="10069" y="301341"/>
                    <a:pt x="6138" y="297410"/>
                  </a:cubicBezTo>
                  <a:cubicBezTo>
                    <a:pt x="2208" y="293480"/>
                    <a:pt x="0" y="288149"/>
                    <a:pt x="0" y="282591"/>
                  </a:cubicBezTo>
                  <a:lnTo>
                    <a:pt x="0" y="20958"/>
                  </a:lnTo>
                  <a:cubicBezTo>
                    <a:pt x="0" y="9383"/>
                    <a:pt x="9383" y="0"/>
                    <a:pt x="20958" y="0"/>
                  </a:cubicBezTo>
                  <a:close/>
                </a:path>
              </a:pathLst>
            </a:custGeom>
            <a:solidFill>
              <a:srgbClr val="D4ECFA"/>
            </a:solidFill>
          </p:spPr>
        </p:sp>
        <p:sp>
          <p:nvSpPr>
            <p:cNvPr id="14" name="TextBox 14"/>
            <p:cNvSpPr txBox="1"/>
            <p:nvPr/>
          </p:nvSpPr>
          <p:spPr>
            <a:xfrm>
              <a:off x="0" y="-57150"/>
              <a:ext cx="1653970" cy="360699"/>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28700" y="6644252"/>
            <a:ext cx="6279917" cy="1122486"/>
            <a:chOff x="0" y="0"/>
            <a:chExt cx="1653970" cy="295634"/>
          </a:xfrm>
        </p:grpSpPr>
        <p:sp>
          <p:nvSpPr>
            <p:cNvPr id="16" name="Freeform 16"/>
            <p:cNvSpPr/>
            <p:nvPr/>
          </p:nvSpPr>
          <p:spPr>
            <a:xfrm>
              <a:off x="0" y="0"/>
              <a:ext cx="1653970" cy="295634"/>
            </a:xfrm>
            <a:custGeom>
              <a:avLst/>
              <a:gdLst/>
              <a:ahLst/>
              <a:cxnLst/>
              <a:rect l="l" t="t" r="r" b="b"/>
              <a:pathLst>
                <a:path w="1653970" h="295634">
                  <a:moveTo>
                    <a:pt x="20958" y="0"/>
                  </a:moveTo>
                  <a:lnTo>
                    <a:pt x="1633012" y="0"/>
                  </a:lnTo>
                  <a:cubicBezTo>
                    <a:pt x="1644587" y="0"/>
                    <a:pt x="1653970" y="9383"/>
                    <a:pt x="1653970" y="20958"/>
                  </a:cubicBezTo>
                  <a:lnTo>
                    <a:pt x="1653970" y="274676"/>
                  </a:lnTo>
                  <a:cubicBezTo>
                    <a:pt x="1653970" y="280235"/>
                    <a:pt x="1651762" y="285565"/>
                    <a:pt x="1647831" y="289496"/>
                  </a:cubicBezTo>
                  <a:cubicBezTo>
                    <a:pt x="1643901" y="293426"/>
                    <a:pt x="1638570" y="295634"/>
                    <a:pt x="1633012" y="295634"/>
                  </a:cubicBezTo>
                  <a:lnTo>
                    <a:pt x="20958" y="295634"/>
                  </a:lnTo>
                  <a:cubicBezTo>
                    <a:pt x="9383" y="295634"/>
                    <a:pt x="0" y="286251"/>
                    <a:pt x="0" y="274676"/>
                  </a:cubicBezTo>
                  <a:lnTo>
                    <a:pt x="0" y="20958"/>
                  </a:lnTo>
                  <a:cubicBezTo>
                    <a:pt x="0" y="9383"/>
                    <a:pt x="9383" y="0"/>
                    <a:pt x="20958" y="0"/>
                  </a:cubicBezTo>
                  <a:close/>
                </a:path>
              </a:pathLst>
            </a:custGeom>
            <a:solidFill>
              <a:srgbClr val="FFF5C1"/>
            </a:solidFill>
          </p:spPr>
        </p:sp>
        <p:sp>
          <p:nvSpPr>
            <p:cNvPr id="17" name="TextBox 17"/>
            <p:cNvSpPr txBox="1"/>
            <p:nvPr/>
          </p:nvSpPr>
          <p:spPr>
            <a:xfrm>
              <a:off x="0" y="-57150"/>
              <a:ext cx="1653970" cy="352784"/>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809330" y="1586911"/>
            <a:ext cx="6731424" cy="7499194"/>
            <a:chOff x="0" y="0"/>
            <a:chExt cx="1772885" cy="1975096"/>
          </a:xfrm>
        </p:grpSpPr>
        <p:sp>
          <p:nvSpPr>
            <p:cNvPr id="19" name="Freeform 19"/>
            <p:cNvSpPr/>
            <p:nvPr/>
          </p:nvSpPr>
          <p:spPr>
            <a:xfrm>
              <a:off x="0" y="0"/>
              <a:ext cx="1772885" cy="1975096"/>
            </a:xfrm>
            <a:custGeom>
              <a:avLst/>
              <a:gdLst/>
              <a:ahLst/>
              <a:cxnLst/>
              <a:rect l="l" t="t" r="r" b="b"/>
              <a:pathLst>
                <a:path w="1772885" h="1975096">
                  <a:moveTo>
                    <a:pt x="19552" y="0"/>
                  </a:moveTo>
                  <a:lnTo>
                    <a:pt x="1753333" y="0"/>
                  </a:lnTo>
                  <a:cubicBezTo>
                    <a:pt x="1764132" y="0"/>
                    <a:pt x="1772885" y="8754"/>
                    <a:pt x="1772885" y="19552"/>
                  </a:cubicBezTo>
                  <a:lnTo>
                    <a:pt x="1772885" y="1955545"/>
                  </a:lnTo>
                  <a:cubicBezTo>
                    <a:pt x="1772885" y="1966343"/>
                    <a:pt x="1764132" y="1975096"/>
                    <a:pt x="1753333" y="1975096"/>
                  </a:cubicBezTo>
                  <a:lnTo>
                    <a:pt x="19552" y="1975096"/>
                  </a:lnTo>
                  <a:cubicBezTo>
                    <a:pt x="8754" y="1975096"/>
                    <a:pt x="0" y="1966343"/>
                    <a:pt x="0" y="1955545"/>
                  </a:cubicBezTo>
                  <a:lnTo>
                    <a:pt x="0" y="19552"/>
                  </a:lnTo>
                  <a:cubicBezTo>
                    <a:pt x="0" y="8754"/>
                    <a:pt x="8754" y="0"/>
                    <a:pt x="19552" y="0"/>
                  </a:cubicBezTo>
                  <a:close/>
                </a:path>
              </a:pathLst>
            </a:custGeom>
            <a:ln w="38100" cap="sq">
              <a:solidFill>
                <a:srgbClr val="D5EDF1"/>
              </a:solidFill>
              <a:prstDash val="solid"/>
              <a:miter/>
            </a:ln>
          </p:spPr>
        </p:sp>
        <p:sp>
          <p:nvSpPr>
            <p:cNvPr id="20" name="TextBox 20"/>
            <p:cNvSpPr txBox="1"/>
            <p:nvPr/>
          </p:nvSpPr>
          <p:spPr>
            <a:xfrm>
              <a:off x="0" y="-57150"/>
              <a:ext cx="1772885" cy="2032246"/>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0438046" y="1586911"/>
            <a:ext cx="6821254" cy="7628700"/>
            <a:chOff x="0" y="0"/>
            <a:chExt cx="1796544" cy="2009205"/>
          </a:xfrm>
        </p:grpSpPr>
        <p:sp>
          <p:nvSpPr>
            <p:cNvPr id="22" name="Freeform 22"/>
            <p:cNvSpPr/>
            <p:nvPr/>
          </p:nvSpPr>
          <p:spPr>
            <a:xfrm>
              <a:off x="0" y="0"/>
              <a:ext cx="1796544" cy="2009205"/>
            </a:xfrm>
            <a:custGeom>
              <a:avLst/>
              <a:gdLst/>
              <a:ahLst/>
              <a:cxnLst/>
              <a:rect l="l" t="t" r="r" b="b"/>
              <a:pathLst>
                <a:path w="1796544" h="2009205">
                  <a:moveTo>
                    <a:pt x="19294" y="0"/>
                  </a:moveTo>
                  <a:lnTo>
                    <a:pt x="1777250" y="0"/>
                  </a:lnTo>
                  <a:cubicBezTo>
                    <a:pt x="1787906" y="0"/>
                    <a:pt x="1796544" y="8638"/>
                    <a:pt x="1796544" y="19294"/>
                  </a:cubicBezTo>
                  <a:lnTo>
                    <a:pt x="1796544" y="1989911"/>
                  </a:lnTo>
                  <a:cubicBezTo>
                    <a:pt x="1796544" y="2000567"/>
                    <a:pt x="1787906" y="2009205"/>
                    <a:pt x="1777250" y="2009205"/>
                  </a:cubicBezTo>
                  <a:lnTo>
                    <a:pt x="19294" y="2009205"/>
                  </a:lnTo>
                  <a:cubicBezTo>
                    <a:pt x="14177" y="2009205"/>
                    <a:pt x="9270" y="2007172"/>
                    <a:pt x="5651" y="2003554"/>
                  </a:cubicBezTo>
                  <a:cubicBezTo>
                    <a:pt x="2033" y="1999935"/>
                    <a:pt x="0" y="1995028"/>
                    <a:pt x="0" y="1989911"/>
                  </a:cubicBezTo>
                  <a:lnTo>
                    <a:pt x="0" y="19294"/>
                  </a:lnTo>
                  <a:cubicBezTo>
                    <a:pt x="0" y="8638"/>
                    <a:pt x="8638" y="0"/>
                    <a:pt x="19294" y="0"/>
                  </a:cubicBezTo>
                  <a:close/>
                </a:path>
              </a:pathLst>
            </a:custGeom>
            <a:ln w="38100" cap="sq">
              <a:solidFill>
                <a:srgbClr val="D5EDF1"/>
              </a:solidFill>
              <a:prstDash val="solid"/>
              <a:miter/>
            </a:ln>
          </p:spPr>
        </p:sp>
        <p:sp>
          <p:nvSpPr>
            <p:cNvPr id="23" name="TextBox 23"/>
            <p:cNvSpPr txBox="1"/>
            <p:nvPr/>
          </p:nvSpPr>
          <p:spPr>
            <a:xfrm>
              <a:off x="0" y="-57150"/>
              <a:ext cx="1796544" cy="2066355"/>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028700" y="3350115"/>
            <a:ext cx="6334227" cy="997715"/>
            <a:chOff x="0" y="0"/>
            <a:chExt cx="1668274" cy="262773"/>
          </a:xfrm>
        </p:grpSpPr>
        <p:sp>
          <p:nvSpPr>
            <p:cNvPr id="25" name="Freeform 25"/>
            <p:cNvSpPr/>
            <p:nvPr/>
          </p:nvSpPr>
          <p:spPr>
            <a:xfrm>
              <a:off x="0" y="0"/>
              <a:ext cx="1668274" cy="262773"/>
            </a:xfrm>
            <a:custGeom>
              <a:avLst/>
              <a:gdLst/>
              <a:ahLst/>
              <a:cxnLst/>
              <a:rect l="l" t="t" r="r" b="b"/>
              <a:pathLst>
                <a:path w="1668274" h="262773">
                  <a:moveTo>
                    <a:pt x="20778" y="0"/>
                  </a:moveTo>
                  <a:lnTo>
                    <a:pt x="1647496" y="0"/>
                  </a:lnTo>
                  <a:cubicBezTo>
                    <a:pt x="1658971" y="0"/>
                    <a:pt x="1668274" y="9303"/>
                    <a:pt x="1668274" y="20778"/>
                  </a:cubicBezTo>
                  <a:lnTo>
                    <a:pt x="1668274" y="241995"/>
                  </a:lnTo>
                  <a:cubicBezTo>
                    <a:pt x="1668274" y="253470"/>
                    <a:pt x="1658971" y="262773"/>
                    <a:pt x="1647496" y="262773"/>
                  </a:cubicBezTo>
                  <a:lnTo>
                    <a:pt x="20778" y="262773"/>
                  </a:lnTo>
                  <a:cubicBezTo>
                    <a:pt x="9303" y="262773"/>
                    <a:pt x="0" y="253470"/>
                    <a:pt x="0" y="241995"/>
                  </a:cubicBezTo>
                  <a:lnTo>
                    <a:pt x="0" y="20778"/>
                  </a:lnTo>
                  <a:cubicBezTo>
                    <a:pt x="0" y="9303"/>
                    <a:pt x="9303" y="0"/>
                    <a:pt x="20778" y="0"/>
                  </a:cubicBezTo>
                  <a:close/>
                </a:path>
              </a:pathLst>
            </a:custGeom>
            <a:solidFill>
              <a:srgbClr val="D5F1D7"/>
            </a:solidFill>
          </p:spPr>
        </p:sp>
        <p:sp>
          <p:nvSpPr>
            <p:cNvPr id="26" name="TextBox 26"/>
            <p:cNvSpPr txBox="1"/>
            <p:nvPr/>
          </p:nvSpPr>
          <p:spPr>
            <a:xfrm>
              <a:off x="0" y="-57150"/>
              <a:ext cx="1668274" cy="319923"/>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0635479" y="2184217"/>
            <a:ext cx="6438761" cy="1051261"/>
            <a:chOff x="0" y="0"/>
            <a:chExt cx="1695805" cy="276875"/>
          </a:xfrm>
        </p:grpSpPr>
        <p:sp>
          <p:nvSpPr>
            <p:cNvPr id="28" name="Freeform 28"/>
            <p:cNvSpPr/>
            <p:nvPr/>
          </p:nvSpPr>
          <p:spPr>
            <a:xfrm>
              <a:off x="0" y="0"/>
              <a:ext cx="1695805" cy="276875"/>
            </a:xfrm>
            <a:custGeom>
              <a:avLst/>
              <a:gdLst/>
              <a:ahLst/>
              <a:cxnLst/>
              <a:rect l="l" t="t" r="r" b="b"/>
              <a:pathLst>
                <a:path w="1695805" h="276875">
                  <a:moveTo>
                    <a:pt x="20441" y="0"/>
                  </a:moveTo>
                  <a:lnTo>
                    <a:pt x="1675365" y="0"/>
                  </a:lnTo>
                  <a:cubicBezTo>
                    <a:pt x="1680786" y="0"/>
                    <a:pt x="1685985" y="2154"/>
                    <a:pt x="1689819" y="5987"/>
                  </a:cubicBezTo>
                  <a:cubicBezTo>
                    <a:pt x="1693652" y="9820"/>
                    <a:pt x="1695805" y="15019"/>
                    <a:pt x="1695805" y="20441"/>
                  </a:cubicBezTo>
                  <a:lnTo>
                    <a:pt x="1695805" y="256435"/>
                  </a:lnTo>
                  <a:cubicBezTo>
                    <a:pt x="1695805" y="267724"/>
                    <a:pt x="1686654" y="276875"/>
                    <a:pt x="1675365" y="276875"/>
                  </a:cubicBezTo>
                  <a:lnTo>
                    <a:pt x="20441" y="276875"/>
                  </a:lnTo>
                  <a:cubicBezTo>
                    <a:pt x="15019" y="276875"/>
                    <a:pt x="9820" y="274722"/>
                    <a:pt x="5987" y="270888"/>
                  </a:cubicBezTo>
                  <a:cubicBezTo>
                    <a:pt x="2154" y="267055"/>
                    <a:pt x="0" y="261856"/>
                    <a:pt x="0" y="256435"/>
                  </a:cubicBezTo>
                  <a:lnTo>
                    <a:pt x="0" y="20441"/>
                  </a:lnTo>
                  <a:cubicBezTo>
                    <a:pt x="0" y="15019"/>
                    <a:pt x="2154" y="9820"/>
                    <a:pt x="5987" y="5987"/>
                  </a:cubicBezTo>
                  <a:cubicBezTo>
                    <a:pt x="9820" y="2154"/>
                    <a:pt x="15019" y="0"/>
                    <a:pt x="20441" y="0"/>
                  </a:cubicBezTo>
                  <a:close/>
                </a:path>
              </a:pathLst>
            </a:custGeom>
            <a:solidFill>
              <a:srgbClr val="D5EDF1"/>
            </a:solidFill>
          </p:spPr>
        </p:sp>
        <p:sp>
          <p:nvSpPr>
            <p:cNvPr id="29" name="TextBox 29"/>
            <p:cNvSpPr txBox="1"/>
            <p:nvPr/>
          </p:nvSpPr>
          <p:spPr>
            <a:xfrm>
              <a:off x="0" y="-57150"/>
              <a:ext cx="1695805" cy="334025"/>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0635479" y="3394897"/>
            <a:ext cx="6438761" cy="997715"/>
            <a:chOff x="0" y="0"/>
            <a:chExt cx="1695805" cy="262773"/>
          </a:xfrm>
        </p:grpSpPr>
        <p:sp>
          <p:nvSpPr>
            <p:cNvPr id="31" name="Freeform 31"/>
            <p:cNvSpPr/>
            <p:nvPr/>
          </p:nvSpPr>
          <p:spPr>
            <a:xfrm>
              <a:off x="0" y="0"/>
              <a:ext cx="1695805" cy="262773"/>
            </a:xfrm>
            <a:custGeom>
              <a:avLst/>
              <a:gdLst/>
              <a:ahLst/>
              <a:cxnLst/>
              <a:rect l="l" t="t" r="r" b="b"/>
              <a:pathLst>
                <a:path w="1695805" h="262773">
                  <a:moveTo>
                    <a:pt x="20441" y="0"/>
                  </a:moveTo>
                  <a:lnTo>
                    <a:pt x="1675365" y="0"/>
                  </a:lnTo>
                  <a:cubicBezTo>
                    <a:pt x="1680786" y="0"/>
                    <a:pt x="1685985" y="2154"/>
                    <a:pt x="1689819" y="5987"/>
                  </a:cubicBezTo>
                  <a:cubicBezTo>
                    <a:pt x="1693652" y="9820"/>
                    <a:pt x="1695805" y="15019"/>
                    <a:pt x="1695805" y="20441"/>
                  </a:cubicBezTo>
                  <a:lnTo>
                    <a:pt x="1695805" y="242332"/>
                  </a:lnTo>
                  <a:cubicBezTo>
                    <a:pt x="1695805" y="247753"/>
                    <a:pt x="1693652" y="252952"/>
                    <a:pt x="1689819" y="256786"/>
                  </a:cubicBezTo>
                  <a:cubicBezTo>
                    <a:pt x="1685985" y="260619"/>
                    <a:pt x="1680786" y="262773"/>
                    <a:pt x="1675365" y="262773"/>
                  </a:cubicBezTo>
                  <a:lnTo>
                    <a:pt x="20441" y="262773"/>
                  </a:lnTo>
                  <a:cubicBezTo>
                    <a:pt x="15019" y="262773"/>
                    <a:pt x="9820" y="260619"/>
                    <a:pt x="5987" y="256786"/>
                  </a:cubicBezTo>
                  <a:cubicBezTo>
                    <a:pt x="2154" y="252952"/>
                    <a:pt x="0" y="247753"/>
                    <a:pt x="0" y="242332"/>
                  </a:cubicBezTo>
                  <a:lnTo>
                    <a:pt x="0" y="20441"/>
                  </a:lnTo>
                  <a:cubicBezTo>
                    <a:pt x="0" y="15019"/>
                    <a:pt x="2154" y="9820"/>
                    <a:pt x="5987" y="5987"/>
                  </a:cubicBezTo>
                  <a:cubicBezTo>
                    <a:pt x="9820" y="2154"/>
                    <a:pt x="15019" y="0"/>
                    <a:pt x="20441" y="0"/>
                  </a:cubicBezTo>
                  <a:close/>
                </a:path>
              </a:pathLst>
            </a:custGeom>
            <a:solidFill>
              <a:srgbClr val="D5F1D7"/>
            </a:solidFill>
          </p:spPr>
        </p:sp>
        <p:sp>
          <p:nvSpPr>
            <p:cNvPr id="32" name="TextBox 32"/>
            <p:cNvSpPr txBox="1"/>
            <p:nvPr/>
          </p:nvSpPr>
          <p:spPr>
            <a:xfrm>
              <a:off x="0" y="-57150"/>
              <a:ext cx="1695805" cy="319923"/>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10635479" y="4514483"/>
            <a:ext cx="6438761" cy="822025"/>
            <a:chOff x="0" y="0"/>
            <a:chExt cx="1695805" cy="216501"/>
          </a:xfrm>
        </p:grpSpPr>
        <p:sp>
          <p:nvSpPr>
            <p:cNvPr id="34" name="Freeform 34"/>
            <p:cNvSpPr/>
            <p:nvPr/>
          </p:nvSpPr>
          <p:spPr>
            <a:xfrm>
              <a:off x="0" y="0"/>
              <a:ext cx="1695805" cy="216501"/>
            </a:xfrm>
            <a:custGeom>
              <a:avLst/>
              <a:gdLst/>
              <a:ahLst/>
              <a:cxnLst/>
              <a:rect l="l" t="t" r="r" b="b"/>
              <a:pathLst>
                <a:path w="1695805" h="216501">
                  <a:moveTo>
                    <a:pt x="20441" y="0"/>
                  </a:moveTo>
                  <a:lnTo>
                    <a:pt x="1675365" y="0"/>
                  </a:lnTo>
                  <a:cubicBezTo>
                    <a:pt x="1680786" y="0"/>
                    <a:pt x="1685985" y="2154"/>
                    <a:pt x="1689819" y="5987"/>
                  </a:cubicBezTo>
                  <a:cubicBezTo>
                    <a:pt x="1693652" y="9820"/>
                    <a:pt x="1695805" y="15019"/>
                    <a:pt x="1695805" y="20441"/>
                  </a:cubicBezTo>
                  <a:lnTo>
                    <a:pt x="1695805" y="196060"/>
                  </a:lnTo>
                  <a:cubicBezTo>
                    <a:pt x="1695805" y="201481"/>
                    <a:pt x="1693652" y="206680"/>
                    <a:pt x="1689819" y="210514"/>
                  </a:cubicBezTo>
                  <a:cubicBezTo>
                    <a:pt x="1685985" y="214347"/>
                    <a:pt x="1680786" y="216501"/>
                    <a:pt x="1675365" y="216501"/>
                  </a:cubicBezTo>
                  <a:lnTo>
                    <a:pt x="20441" y="216501"/>
                  </a:lnTo>
                  <a:cubicBezTo>
                    <a:pt x="15019" y="216501"/>
                    <a:pt x="9820" y="214347"/>
                    <a:pt x="5987" y="210514"/>
                  </a:cubicBezTo>
                  <a:cubicBezTo>
                    <a:pt x="2154" y="206680"/>
                    <a:pt x="0" y="201481"/>
                    <a:pt x="0" y="196060"/>
                  </a:cubicBezTo>
                  <a:lnTo>
                    <a:pt x="0" y="20441"/>
                  </a:lnTo>
                  <a:cubicBezTo>
                    <a:pt x="0" y="15019"/>
                    <a:pt x="2154" y="9820"/>
                    <a:pt x="5987" y="5987"/>
                  </a:cubicBezTo>
                  <a:cubicBezTo>
                    <a:pt x="9820" y="2154"/>
                    <a:pt x="15019" y="0"/>
                    <a:pt x="20441" y="0"/>
                  </a:cubicBezTo>
                  <a:close/>
                </a:path>
              </a:pathLst>
            </a:custGeom>
            <a:solidFill>
              <a:srgbClr val="F2E3FF"/>
            </a:solidFill>
          </p:spPr>
        </p:sp>
        <p:sp>
          <p:nvSpPr>
            <p:cNvPr id="35" name="TextBox 35"/>
            <p:cNvSpPr txBox="1"/>
            <p:nvPr/>
          </p:nvSpPr>
          <p:spPr>
            <a:xfrm>
              <a:off x="0" y="-57150"/>
              <a:ext cx="1695805" cy="273651"/>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10635479" y="5460333"/>
            <a:ext cx="6438761" cy="1152536"/>
            <a:chOff x="0" y="0"/>
            <a:chExt cx="1695805" cy="303549"/>
          </a:xfrm>
        </p:grpSpPr>
        <p:sp>
          <p:nvSpPr>
            <p:cNvPr id="37" name="Freeform 37"/>
            <p:cNvSpPr/>
            <p:nvPr/>
          </p:nvSpPr>
          <p:spPr>
            <a:xfrm>
              <a:off x="0" y="0"/>
              <a:ext cx="1695805" cy="303549"/>
            </a:xfrm>
            <a:custGeom>
              <a:avLst/>
              <a:gdLst/>
              <a:ahLst/>
              <a:cxnLst/>
              <a:rect l="l" t="t" r="r" b="b"/>
              <a:pathLst>
                <a:path w="1695805" h="303549">
                  <a:moveTo>
                    <a:pt x="20441" y="0"/>
                  </a:moveTo>
                  <a:lnTo>
                    <a:pt x="1675365" y="0"/>
                  </a:lnTo>
                  <a:cubicBezTo>
                    <a:pt x="1680786" y="0"/>
                    <a:pt x="1685985" y="2154"/>
                    <a:pt x="1689819" y="5987"/>
                  </a:cubicBezTo>
                  <a:cubicBezTo>
                    <a:pt x="1693652" y="9820"/>
                    <a:pt x="1695805" y="15019"/>
                    <a:pt x="1695805" y="20441"/>
                  </a:cubicBezTo>
                  <a:lnTo>
                    <a:pt x="1695805" y="283108"/>
                  </a:lnTo>
                  <a:cubicBezTo>
                    <a:pt x="1695805" y="294397"/>
                    <a:pt x="1686654" y="303549"/>
                    <a:pt x="1675365" y="303549"/>
                  </a:cubicBezTo>
                  <a:lnTo>
                    <a:pt x="20441" y="303549"/>
                  </a:lnTo>
                  <a:cubicBezTo>
                    <a:pt x="15019" y="303549"/>
                    <a:pt x="9820" y="301395"/>
                    <a:pt x="5987" y="297562"/>
                  </a:cubicBezTo>
                  <a:cubicBezTo>
                    <a:pt x="2154" y="293728"/>
                    <a:pt x="0" y="288529"/>
                    <a:pt x="0" y="283108"/>
                  </a:cubicBezTo>
                  <a:lnTo>
                    <a:pt x="0" y="20441"/>
                  </a:lnTo>
                  <a:cubicBezTo>
                    <a:pt x="0" y="15019"/>
                    <a:pt x="2154" y="9820"/>
                    <a:pt x="5987" y="5987"/>
                  </a:cubicBezTo>
                  <a:cubicBezTo>
                    <a:pt x="9820" y="2154"/>
                    <a:pt x="15019" y="0"/>
                    <a:pt x="20441" y="0"/>
                  </a:cubicBezTo>
                  <a:close/>
                </a:path>
              </a:pathLst>
            </a:custGeom>
            <a:solidFill>
              <a:srgbClr val="D4ECFA"/>
            </a:solidFill>
          </p:spPr>
        </p:sp>
        <p:sp>
          <p:nvSpPr>
            <p:cNvPr id="38" name="TextBox 38"/>
            <p:cNvSpPr txBox="1"/>
            <p:nvPr/>
          </p:nvSpPr>
          <p:spPr>
            <a:xfrm>
              <a:off x="0" y="-57150"/>
              <a:ext cx="1695805" cy="360699"/>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0657032" y="6758314"/>
            <a:ext cx="6417209" cy="1122486"/>
            <a:chOff x="0" y="0"/>
            <a:chExt cx="1690129" cy="295634"/>
          </a:xfrm>
        </p:grpSpPr>
        <p:sp>
          <p:nvSpPr>
            <p:cNvPr id="40" name="Freeform 40"/>
            <p:cNvSpPr/>
            <p:nvPr/>
          </p:nvSpPr>
          <p:spPr>
            <a:xfrm>
              <a:off x="0" y="0"/>
              <a:ext cx="1690129" cy="295634"/>
            </a:xfrm>
            <a:custGeom>
              <a:avLst/>
              <a:gdLst/>
              <a:ahLst/>
              <a:cxnLst/>
              <a:rect l="l" t="t" r="r" b="b"/>
              <a:pathLst>
                <a:path w="1690129" h="295634">
                  <a:moveTo>
                    <a:pt x="20509" y="0"/>
                  </a:moveTo>
                  <a:lnTo>
                    <a:pt x="1669620" y="0"/>
                  </a:lnTo>
                  <a:cubicBezTo>
                    <a:pt x="1675059" y="0"/>
                    <a:pt x="1680276" y="2161"/>
                    <a:pt x="1684122" y="6007"/>
                  </a:cubicBezTo>
                  <a:cubicBezTo>
                    <a:pt x="1687968" y="9853"/>
                    <a:pt x="1690129" y="15070"/>
                    <a:pt x="1690129" y="20509"/>
                  </a:cubicBezTo>
                  <a:lnTo>
                    <a:pt x="1690129" y="275125"/>
                  </a:lnTo>
                  <a:cubicBezTo>
                    <a:pt x="1690129" y="280564"/>
                    <a:pt x="1687968" y="285781"/>
                    <a:pt x="1684122" y="289627"/>
                  </a:cubicBezTo>
                  <a:cubicBezTo>
                    <a:pt x="1680276" y="293473"/>
                    <a:pt x="1675059" y="295634"/>
                    <a:pt x="1669620" y="295634"/>
                  </a:cubicBezTo>
                  <a:lnTo>
                    <a:pt x="20509" y="295634"/>
                  </a:lnTo>
                  <a:cubicBezTo>
                    <a:pt x="15070" y="295634"/>
                    <a:pt x="9853" y="293473"/>
                    <a:pt x="6007" y="289627"/>
                  </a:cubicBezTo>
                  <a:cubicBezTo>
                    <a:pt x="2161" y="285781"/>
                    <a:pt x="0" y="280564"/>
                    <a:pt x="0" y="275125"/>
                  </a:cubicBezTo>
                  <a:lnTo>
                    <a:pt x="0" y="20509"/>
                  </a:lnTo>
                  <a:cubicBezTo>
                    <a:pt x="0" y="15070"/>
                    <a:pt x="2161" y="9853"/>
                    <a:pt x="6007" y="6007"/>
                  </a:cubicBezTo>
                  <a:cubicBezTo>
                    <a:pt x="9853" y="2161"/>
                    <a:pt x="15070" y="0"/>
                    <a:pt x="20509" y="0"/>
                  </a:cubicBezTo>
                  <a:close/>
                </a:path>
              </a:pathLst>
            </a:custGeom>
            <a:solidFill>
              <a:srgbClr val="FFF5C1"/>
            </a:solidFill>
          </p:spPr>
        </p:sp>
        <p:sp>
          <p:nvSpPr>
            <p:cNvPr id="41" name="TextBox 41"/>
            <p:cNvSpPr txBox="1"/>
            <p:nvPr/>
          </p:nvSpPr>
          <p:spPr>
            <a:xfrm>
              <a:off x="0" y="-57150"/>
              <a:ext cx="1690129" cy="352784"/>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0635479" y="7948128"/>
            <a:ext cx="6438761" cy="964972"/>
            <a:chOff x="0" y="0"/>
            <a:chExt cx="1695805" cy="254149"/>
          </a:xfrm>
        </p:grpSpPr>
        <p:sp>
          <p:nvSpPr>
            <p:cNvPr id="43" name="Freeform 43"/>
            <p:cNvSpPr/>
            <p:nvPr/>
          </p:nvSpPr>
          <p:spPr>
            <a:xfrm>
              <a:off x="0" y="0"/>
              <a:ext cx="1695805" cy="254149"/>
            </a:xfrm>
            <a:custGeom>
              <a:avLst/>
              <a:gdLst/>
              <a:ahLst/>
              <a:cxnLst/>
              <a:rect l="l" t="t" r="r" b="b"/>
              <a:pathLst>
                <a:path w="1695805" h="254149">
                  <a:moveTo>
                    <a:pt x="20441" y="0"/>
                  </a:moveTo>
                  <a:lnTo>
                    <a:pt x="1675365" y="0"/>
                  </a:lnTo>
                  <a:cubicBezTo>
                    <a:pt x="1680786" y="0"/>
                    <a:pt x="1685985" y="2154"/>
                    <a:pt x="1689819" y="5987"/>
                  </a:cubicBezTo>
                  <a:cubicBezTo>
                    <a:pt x="1693652" y="9820"/>
                    <a:pt x="1695805" y="15019"/>
                    <a:pt x="1695805" y="20441"/>
                  </a:cubicBezTo>
                  <a:lnTo>
                    <a:pt x="1695805" y="233708"/>
                  </a:lnTo>
                  <a:cubicBezTo>
                    <a:pt x="1695805" y="244997"/>
                    <a:pt x="1686654" y="254149"/>
                    <a:pt x="1675365" y="254149"/>
                  </a:cubicBezTo>
                  <a:lnTo>
                    <a:pt x="20441" y="254149"/>
                  </a:lnTo>
                  <a:cubicBezTo>
                    <a:pt x="15019" y="254149"/>
                    <a:pt x="9820" y="251995"/>
                    <a:pt x="5987" y="248162"/>
                  </a:cubicBezTo>
                  <a:cubicBezTo>
                    <a:pt x="2154" y="244329"/>
                    <a:pt x="0" y="239130"/>
                    <a:pt x="0" y="233708"/>
                  </a:cubicBezTo>
                  <a:lnTo>
                    <a:pt x="0" y="20441"/>
                  </a:lnTo>
                  <a:cubicBezTo>
                    <a:pt x="0" y="15019"/>
                    <a:pt x="2154" y="9820"/>
                    <a:pt x="5987" y="5987"/>
                  </a:cubicBezTo>
                  <a:cubicBezTo>
                    <a:pt x="9820" y="2154"/>
                    <a:pt x="15019" y="0"/>
                    <a:pt x="20441" y="0"/>
                  </a:cubicBezTo>
                  <a:close/>
                </a:path>
              </a:pathLst>
            </a:custGeom>
            <a:solidFill>
              <a:srgbClr val="E5E5E0"/>
            </a:solidFill>
          </p:spPr>
        </p:sp>
        <p:sp>
          <p:nvSpPr>
            <p:cNvPr id="44" name="TextBox 44"/>
            <p:cNvSpPr txBox="1"/>
            <p:nvPr/>
          </p:nvSpPr>
          <p:spPr>
            <a:xfrm>
              <a:off x="0" y="-57150"/>
              <a:ext cx="1695805" cy="311299"/>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2565884" y="1220032"/>
            <a:ext cx="3086100" cy="729431"/>
            <a:chOff x="0" y="0"/>
            <a:chExt cx="812800" cy="192113"/>
          </a:xfrm>
        </p:grpSpPr>
        <p:sp>
          <p:nvSpPr>
            <p:cNvPr id="46" name="Freeform 46"/>
            <p:cNvSpPr/>
            <p:nvPr/>
          </p:nvSpPr>
          <p:spPr>
            <a:xfrm>
              <a:off x="0" y="0"/>
              <a:ext cx="812800" cy="192113"/>
            </a:xfrm>
            <a:custGeom>
              <a:avLst/>
              <a:gdLst/>
              <a:ahLst/>
              <a:cxnLst/>
              <a:rect l="l" t="t" r="r" b="b"/>
              <a:pathLst>
                <a:path w="812800" h="192113">
                  <a:moveTo>
                    <a:pt x="42647" y="0"/>
                  </a:moveTo>
                  <a:lnTo>
                    <a:pt x="770153" y="0"/>
                  </a:lnTo>
                  <a:cubicBezTo>
                    <a:pt x="781464" y="0"/>
                    <a:pt x="792311" y="4493"/>
                    <a:pt x="800309" y="12491"/>
                  </a:cubicBezTo>
                  <a:cubicBezTo>
                    <a:pt x="808307" y="20489"/>
                    <a:pt x="812800" y="31336"/>
                    <a:pt x="812800" y="42647"/>
                  </a:cubicBezTo>
                  <a:lnTo>
                    <a:pt x="812800" y="149467"/>
                  </a:lnTo>
                  <a:cubicBezTo>
                    <a:pt x="812800" y="160777"/>
                    <a:pt x="808307" y="171625"/>
                    <a:pt x="800309" y="179622"/>
                  </a:cubicBezTo>
                  <a:cubicBezTo>
                    <a:pt x="792311" y="187620"/>
                    <a:pt x="781464" y="192113"/>
                    <a:pt x="770153" y="192113"/>
                  </a:cubicBezTo>
                  <a:lnTo>
                    <a:pt x="42647" y="192113"/>
                  </a:lnTo>
                  <a:cubicBezTo>
                    <a:pt x="19094" y="192113"/>
                    <a:pt x="0" y="173020"/>
                    <a:pt x="0" y="149467"/>
                  </a:cubicBezTo>
                  <a:lnTo>
                    <a:pt x="0" y="42647"/>
                  </a:lnTo>
                  <a:cubicBezTo>
                    <a:pt x="0" y="31336"/>
                    <a:pt x="4493" y="20489"/>
                    <a:pt x="12491" y="12491"/>
                  </a:cubicBezTo>
                  <a:cubicBezTo>
                    <a:pt x="20489" y="4493"/>
                    <a:pt x="31336" y="0"/>
                    <a:pt x="42647" y="0"/>
                  </a:cubicBezTo>
                  <a:close/>
                </a:path>
              </a:pathLst>
            </a:custGeom>
            <a:solidFill>
              <a:srgbClr val="005EBF"/>
            </a:solidFill>
          </p:spPr>
        </p:sp>
        <p:sp>
          <p:nvSpPr>
            <p:cNvPr id="47" name="TextBox 47"/>
            <p:cNvSpPr txBox="1"/>
            <p:nvPr/>
          </p:nvSpPr>
          <p:spPr>
            <a:xfrm>
              <a:off x="0" y="-57150"/>
              <a:ext cx="812800" cy="249263"/>
            </a:xfrm>
            <a:prstGeom prst="rect">
              <a:avLst/>
            </a:prstGeom>
          </p:spPr>
          <p:txBody>
            <a:bodyPr lIns="50800" tIns="50800" rIns="50800" bIns="50800" rtlCol="0" anchor="ctr"/>
            <a:lstStyle/>
            <a:p>
              <a:pPr algn="ctr">
                <a:lnSpc>
                  <a:spcPts val="2380"/>
                </a:lnSpc>
              </a:pPr>
              <a:r>
                <a:rPr lang="en-US" sz="1700" b="1">
                  <a:solidFill>
                    <a:srgbClr val="FFFFFF"/>
                  </a:solidFill>
                  <a:ea typeface="Poppins Bold"/>
                  <a:cs typeface="Poppins Bold"/>
                  <a:sym typeface="Poppins Bold"/>
                </a:rPr>
                <a:t>MÁY A (PEER)</a:t>
              </a:r>
            </a:p>
          </p:txBody>
        </p:sp>
      </p:grpSp>
      <p:grpSp>
        <p:nvGrpSpPr>
          <p:cNvPr id="48" name="Group 48"/>
          <p:cNvGrpSpPr/>
          <p:nvPr/>
        </p:nvGrpSpPr>
        <p:grpSpPr>
          <a:xfrm>
            <a:off x="12542749" y="1252898"/>
            <a:ext cx="3086100" cy="729431"/>
            <a:chOff x="0" y="0"/>
            <a:chExt cx="812800" cy="192113"/>
          </a:xfrm>
        </p:grpSpPr>
        <p:sp>
          <p:nvSpPr>
            <p:cNvPr id="49" name="Freeform 49"/>
            <p:cNvSpPr/>
            <p:nvPr/>
          </p:nvSpPr>
          <p:spPr>
            <a:xfrm>
              <a:off x="0" y="0"/>
              <a:ext cx="812800" cy="192113"/>
            </a:xfrm>
            <a:custGeom>
              <a:avLst/>
              <a:gdLst/>
              <a:ahLst/>
              <a:cxnLst/>
              <a:rect l="l" t="t" r="r" b="b"/>
              <a:pathLst>
                <a:path w="812800" h="192113">
                  <a:moveTo>
                    <a:pt x="42647" y="0"/>
                  </a:moveTo>
                  <a:lnTo>
                    <a:pt x="770153" y="0"/>
                  </a:lnTo>
                  <a:cubicBezTo>
                    <a:pt x="781464" y="0"/>
                    <a:pt x="792311" y="4493"/>
                    <a:pt x="800309" y="12491"/>
                  </a:cubicBezTo>
                  <a:cubicBezTo>
                    <a:pt x="808307" y="20489"/>
                    <a:pt x="812800" y="31336"/>
                    <a:pt x="812800" y="42647"/>
                  </a:cubicBezTo>
                  <a:lnTo>
                    <a:pt x="812800" y="149467"/>
                  </a:lnTo>
                  <a:cubicBezTo>
                    <a:pt x="812800" y="160777"/>
                    <a:pt x="808307" y="171625"/>
                    <a:pt x="800309" y="179622"/>
                  </a:cubicBezTo>
                  <a:cubicBezTo>
                    <a:pt x="792311" y="187620"/>
                    <a:pt x="781464" y="192113"/>
                    <a:pt x="770153" y="192113"/>
                  </a:cubicBezTo>
                  <a:lnTo>
                    <a:pt x="42647" y="192113"/>
                  </a:lnTo>
                  <a:cubicBezTo>
                    <a:pt x="19094" y="192113"/>
                    <a:pt x="0" y="173020"/>
                    <a:pt x="0" y="149467"/>
                  </a:cubicBezTo>
                  <a:lnTo>
                    <a:pt x="0" y="42647"/>
                  </a:lnTo>
                  <a:cubicBezTo>
                    <a:pt x="0" y="31336"/>
                    <a:pt x="4493" y="20489"/>
                    <a:pt x="12491" y="12491"/>
                  </a:cubicBezTo>
                  <a:cubicBezTo>
                    <a:pt x="20489" y="4493"/>
                    <a:pt x="31336" y="0"/>
                    <a:pt x="42647" y="0"/>
                  </a:cubicBezTo>
                  <a:close/>
                </a:path>
              </a:pathLst>
            </a:custGeom>
            <a:solidFill>
              <a:srgbClr val="005EBF"/>
            </a:solidFill>
          </p:spPr>
        </p:sp>
        <p:sp>
          <p:nvSpPr>
            <p:cNvPr id="50" name="TextBox 50"/>
            <p:cNvSpPr txBox="1"/>
            <p:nvPr/>
          </p:nvSpPr>
          <p:spPr>
            <a:xfrm>
              <a:off x="0" y="-57150"/>
              <a:ext cx="812800" cy="249263"/>
            </a:xfrm>
            <a:prstGeom prst="rect">
              <a:avLst/>
            </a:prstGeom>
          </p:spPr>
          <p:txBody>
            <a:bodyPr lIns="50800" tIns="50800" rIns="50800" bIns="50800" rtlCol="0" anchor="ctr"/>
            <a:lstStyle/>
            <a:p>
              <a:pPr algn="ctr">
                <a:lnSpc>
                  <a:spcPts val="2380"/>
                </a:lnSpc>
              </a:pPr>
              <a:r>
                <a:rPr lang="en-US" sz="1700" b="1">
                  <a:solidFill>
                    <a:srgbClr val="FFFFFF"/>
                  </a:solidFill>
                  <a:ea typeface="Poppins Bold"/>
                  <a:cs typeface="Poppins Bold"/>
                  <a:sym typeface="Poppins Bold"/>
                </a:rPr>
                <a:t>MÁY B (PEER)</a:t>
              </a:r>
            </a:p>
          </p:txBody>
        </p:sp>
      </p:grpSp>
      <p:sp>
        <p:nvSpPr>
          <p:cNvPr id="51" name="Freeform 51"/>
          <p:cNvSpPr/>
          <p:nvPr/>
        </p:nvSpPr>
        <p:spPr>
          <a:xfrm>
            <a:off x="8552579" y="2374610"/>
            <a:ext cx="809030" cy="956917"/>
          </a:xfrm>
          <a:custGeom>
            <a:avLst/>
            <a:gdLst/>
            <a:ahLst/>
            <a:cxnLst/>
            <a:rect l="l" t="t" r="r" b="b"/>
            <a:pathLst>
              <a:path w="809030" h="956917">
                <a:moveTo>
                  <a:pt x="0" y="0"/>
                </a:moveTo>
                <a:lnTo>
                  <a:pt x="809030" y="0"/>
                </a:lnTo>
                <a:lnTo>
                  <a:pt x="809030" y="956917"/>
                </a:lnTo>
                <a:lnTo>
                  <a:pt x="0" y="95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52"/>
          <p:cNvSpPr/>
          <p:nvPr/>
        </p:nvSpPr>
        <p:spPr>
          <a:xfrm>
            <a:off x="8527517" y="4972138"/>
            <a:ext cx="851583" cy="450565"/>
          </a:xfrm>
          <a:custGeom>
            <a:avLst/>
            <a:gdLst/>
            <a:ahLst/>
            <a:cxnLst/>
            <a:rect l="l" t="t" r="r" b="b"/>
            <a:pathLst>
              <a:path w="851583" h="450565">
                <a:moveTo>
                  <a:pt x="0" y="0"/>
                </a:moveTo>
                <a:lnTo>
                  <a:pt x="851584" y="0"/>
                </a:lnTo>
                <a:lnTo>
                  <a:pt x="851584" y="450565"/>
                </a:lnTo>
                <a:lnTo>
                  <a:pt x="0" y="4505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Freeform 53"/>
          <p:cNvSpPr/>
          <p:nvPr/>
        </p:nvSpPr>
        <p:spPr>
          <a:xfrm>
            <a:off x="8652051" y="7385538"/>
            <a:ext cx="734873" cy="995517"/>
          </a:xfrm>
          <a:custGeom>
            <a:avLst/>
            <a:gdLst/>
            <a:ahLst/>
            <a:cxnLst/>
            <a:rect l="l" t="t" r="r" b="b"/>
            <a:pathLst>
              <a:path w="734873" h="995517">
                <a:moveTo>
                  <a:pt x="0" y="0"/>
                </a:moveTo>
                <a:lnTo>
                  <a:pt x="734873" y="0"/>
                </a:lnTo>
                <a:lnTo>
                  <a:pt x="734873" y="995517"/>
                </a:lnTo>
                <a:lnTo>
                  <a:pt x="0" y="9955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4" name="AutoShape 54"/>
          <p:cNvSpPr/>
          <p:nvPr/>
        </p:nvSpPr>
        <p:spPr>
          <a:xfrm>
            <a:off x="9417650" y="2853070"/>
            <a:ext cx="527170" cy="0"/>
          </a:xfrm>
          <a:prstGeom prst="line">
            <a:avLst/>
          </a:prstGeom>
          <a:ln w="38100" cap="flat">
            <a:solidFill>
              <a:srgbClr val="000000"/>
            </a:solidFill>
            <a:prstDash val="sysDot"/>
            <a:headEnd type="none" w="sm" len="sm"/>
            <a:tailEnd type="arrow" w="med" len="sm"/>
          </a:ln>
        </p:spPr>
      </p:sp>
      <p:sp>
        <p:nvSpPr>
          <p:cNvPr id="55" name="AutoShape 55"/>
          <p:cNvSpPr/>
          <p:nvPr/>
        </p:nvSpPr>
        <p:spPr>
          <a:xfrm flipH="1">
            <a:off x="7947547" y="2853068"/>
            <a:ext cx="500959" cy="17555"/>
          </a:xfrm>
          <a:prstGeom prst="line">
            <a:avLst/>
          </a:prstGeom>
          <a:ln w="38100" cap="flat">
            <a:solidFill>
              <a:srgbClr val="000000"/>
            </a:solidFill>
            <a:prstDash val="sysDot"/>
            <a:headEnd type="none" w="sm" len="sm"/>
            <a:tailEnd type="arrow" w="med" len="sm"/>
          </a:ln>
        </p:spPr>
      </p:sp>
      <p:sp>
        <p:nvSpPr>
          <p:cNvPr id="56" name="AutoShape 56"/>
          <p:cNvSpPr/>
          <p:nvPr/>
        </p:nvSpPr>
        <p:spPr>
          <a:xfrm flipV="1">
            <a:off x="9728974" y="5143500"/>
            <a:ext cx="390210" cy="0"/>
          </a:xfrm>
          <a:prstGeom prst="line">
            <a:avLst/>
          </a:prstGeom>
          <a:ln w="38100" cap="flat">
            <a:solidFill>
              <a:srgbClr val="000000"/>
            </a:solidFill>
            <a:prstDash val="solid"/>
            <a:headEnd type="none" w="sm" len="sm"/>
            <a:tailEnd type="triangle" w="lg" len="med"/>
          </a:ln>
        </p:spPr>
      </p:sp>
      <p:sp>
        <p:nvSpPr>
          <p:cNvPr id="57" name="AutoShape 57"/>
          <p:cNvSpPr/>
          <p:nvPr/>
        </p:nvSpPr>
        <p:spPr>
          <a:xfrm flipV="1">
            <a:off x="9594696" y="8113781"/>
            <a:ext cx="658290" cy="3625"/>
          </a:xfrm>
          <a:prstGeom prst="line">
            <a:avLst/>
          </a:prstGeom>
          <a:ln w="38100" cap="flat">
            <a:solidFill>
              <a:srgbClr val="000000"/>
            </a:solidFill>
            <a:prstDash val="solid"/>
            <a:headEnd type="none" w="sm" len="sm"/>
            <a:tailEnd type="triangle" w="lg" len="med"/>
          </a:ln>
        </p:spPr>
      </p:sp>
      <p:sp>
        <p:nvSpPr>
          <p:cNvPr id="58" name="AutoShape 58"/>
          <p:cNvSpPr/>
          <p:nvPr/>
        </p:nvSpPr>
        <p:spPr>
          <a:xfrm flipH="1">
            <a:off x="7708630" y="5143500"/>
            <a:ext cx="464011" cy="11349"/>
          </a:xfrm>
          <a:prstGeom prst="line">
            <a:avLst/>
          </a:prstGeom>
          <a:ln w="38100" cap="flat">
            <a:solidFill>
              <a:srgbClr val="000000"/>
            </a:solidFill>
            <a:prstDash val="solid"/>
            <a:headEnd type="none" w="sm" len="sm"/>
            <a:tailEnd type="triangle" w="lg" len="med"/>
          </a:ln>
        </p:spPr>
      </p:sp>
      <p:sp>
        <p:nvSpPr>
          <p:cNvPr id="59" name="AutoShape 59"/>
          <p:cNvSpPr/>
          <p:nvPr/>
        </p:nvSpPr>
        <p:spPr>
          <a:xfrm flipH="1">
            <a:off x="7784143" y="8113782"/>
            <a:ext cx="598327" cy="13914"/>
          </a:xfrm>
          <a:prstGeom prst="line">
            <a:avLst/>
          </a:prstGeom>
          <a:ln w="38100" cap="flat">
            <a:solidFill>
              <a:srgbClr val="000000"/>
            </a:solidFill>
            <a:prstDash val="solid"/>
            <a:headEnd type="none" w="sm" len="sm"/>
            <a:tailEnd type="triangle" w="lg" len="med"/>
          </a:ln>
        </p:spPr>
      </p:sp>
      <p:sp>
        <p:nvSpPr>
          <p:cNvPr id="60" name="Freeform 60"/>
          <p:cNvSpPr/>
          <p:nvPr/>
        </p:nvSpPr>
        <p:spPr>
          <a:xfrm>
            <a:off x="10791110" y="2364893"/>
            <a:ext cx="1042172" cy="774997"/>
          </a:xfrm>
          <a:custGeom>
            <a:avLst/>
            <a:gdLst/>
            <a:ahLst/>
            <a:cxnLst/>
            <a:rect l="l" t="t" r="r" b="b"/>
            <a:pathLst>
              <a:path w="1042172" h="774997">
                <a:moveTo>
                  <a:pt x="0" y="0"/>
                </a:moveTo>
                <a:lnTo>
                  <a:pt x="1042172" y="0"/>
                </a:lnTo>
                <a:lnTo>
                  <a:pt x="1042172" y="774997"/>
                </a:lnTo>
                <a:lnTo>
                  <a:pt x="0" y="77499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1" name="Freeform 61"/>
          <p:cNvSpPr/>
          <p:nvPr/>
        </p:nvSpPr>
        <p:spPr>
          <a:xfrm>
            <a:off x="1200660" y="2316970"/>
            <a:ext cx="1042172" cy="774997"/>
          </a:xfrm>
          <a:custGeom>
            <a:avLst/>
            <a:gdLst/>
            <a:ahLst/>
            <a:cxnLst/>
            <a:rect l="l" t="t" r="r" b="b"/>
            <a:pathLst>
              <a:path w="1042172" h="774997">
                <a:moveTo>
                  <a:pt x="0" y="0"/>
                </a:moveTo>
                <a:lnTo>
                  <a:pt x="1042172" y="0"/>
                </a:lnTo>
                <a:lnTo>
                  <a:pt x="1042172" y="774997"/>
                </a:lnTo>
                <a:lnTo>
                  <a:pt x="0" y="77499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2" name="Freeform 62"/>
          <p:cNvSpPr/>
          <p:nvPr/>
        </p:nvSpPr>
        <p:spPr>
          <a:xfrm>
            <a:off x="10848899" y="3462092"/>
            <a:ext cx="902718" cy="902718"/>
          </a:xfrm>
          <a:custGeom>
            <a:avLst/>
            <a:gdLst/>
            <a:ahLst/>
            <a:cxnLst/>
            <a:rect l="l" t="t" r="r" b="b"/>
            <a:pathLst>
              <a:path w="902718" h="902718">
                <a:moveTo>
                  <a:pt x="0" y="0"/>
                </a:moveTo>
                <a:lnTo>
                  <a:pt x="902718" y="0"/>
                </a:lnTo>
                <a:lnTo>
                  <a:pt x="902718" y="902718"/>
                </a:lnTo>
                <a:lnTo>
                  <a:pt x="0" y="9027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63" name="Freeform 63"/>
          <p:cNvSpPr/>
          <p:nvPr/>
        </p:nvSpPr>
        <p:spPr>
          <a:xfrm>
            <a:off x="1340114" y="3445464"/>
            <a:ext cx="902718" cy="902718"/>
          </a:xfrm>
          <a:custGeom>
            <a:avLst/>
            <a:gdLst/>
            <a:ahLst/>
            <a:cxnLst/>
            <a:rect l="l" t="t" r="r" b="b"/>
            <a:pathLst>
              <a:path w="902718" h="902718">
                <a:moveTo>
                  <a:pt x="0" y="0"/>
                </a:moveTo>
                <a:lnTo>
                  <a:pt x="902718" y="0"/>
                </a:lnTo>
                <a:lnTo>
                  <a:pt x="902718" y="902718"/>
                </a:lnTo>
                <a:lnTo>
                  <a:pt x="0" y="9027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64" name="Freeform 64"/>
          <p:cNvSpPr/>
          <p:nvPr/>
        </p:nvSpPr>
        <p:spPr>
          <a:xfrm>
            <a:off x="10996755" y="4570160"/>
            <a:ext cx="580649" cy="747908"/>
          </a:xfrm>
          <a:custGeom>
            <a:avLst/>
            <a:gdLst/>
            <a:ahLst/>
            <a:cxnLst/>
            <a:rect l="l" t="t" r="r" b="b"/>
            <a:pathLst>
              <a:path w="580649" h="747908">
                <a:moveTo>
                  <a:pt x="0" y="0"/>
                </a:moveTo>
                <a:lnTo>
                  <a:pt x="580649" y="0"/>
                </a:lnTo>
                <a:lnTo>
                  <a:pt x="580649" y="747909"/>
                </a:lnTo>
                <a:lnTo>
                  <a:pt x="0" y="74790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65" name="Freeform 65"/>
          <p:cNvSpPr/>
          <p:nvPr/>
        </p:nvSpPr>
        <p:spPr>
          <a:xfrm>
            <a:off x="1453712" y="4489664"/>
            <a:ext cx="580649" cy="747908"/>
          </a:xfrm>
          <a:custGeom>
            <a:avLst/>
            <a:gdLst/>
            <a:ahLst/>
            <a:cxnLst/>
            <a:rect l="l" t="t" r="r" b="b"/>
            <a:pathLst>
              <a:path w="580649" h="747908">
                <a:moveTo>
                  <a:pt x="0" y="0"/>
                </a:moveTo>
                <a:lnTo>
                  <a:pt x="580649" y="0"/>
                </a:lnTo>
                <a:lnTo>
                  <a:pt x="580649" y="747908"/>
                </a:lnTo>
                <a:lnTo>
                  <a:pt x="0" y="7479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66" name="Freeform 66"/>
          <p:cNvSpPr/>
          <p:nvPr/>
        </p:nvSpPr>
        <p:spPr>
          <a:xfrm>
            <a:off x="10996755" y="5688313"/>
            <a:ext cx="646766" cy="802983"/>
          </a:xfrm>
          <a:custGeom>
            <a:avLst/>
            <a:gdLst/>
            <a:ahLst/>
            <a:cxnLst/>
            <a:rect l="l" t="t" r="r" b="b"/>
            <a:pathLst>
              <a:path w="646766" h="802983">
                <a:moveTo>
                  <a:pt x="0" y="0"/>
                </a:moveTo>
                <a:lnTo>
                  <a:pt x="646766" y="0"/>
                </a:lnTo>
                <a:lnTo>
                  <a:pt x="646766" y="802983"/>
                </a:lnTo>
                <a:lnTo>
                  <a:pt x="0" y="80298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67" name="Freeform 67"/>
          <p:cNvSpPr/>
          <p:nvPr/>
        </p:nvSpPr>
        <p:spPr>
          <a:xfrm>
            <a:off x="1340114" y="5533368"/>
            <a:ext cx="646766" cy="802983"/>
          </a:xfrm>
          <a:custGeom>
            <a:avLst/>
            <a:gdLst/>
            <a:ahLst/>
            <a:cxnLst/>
            <a:rect l="l" t="t" r="r" b="b"/>
            <a:pathLst>
              <a:path w="646766" h="802983">
                <a:moveTo>
                  <a:pt x="0" y="0"/>
                </a:moveTo>
                <a:lnTo>
                  <a:pt x="646766" y="0"/>
                </a:lnTo>
                <a:lnTo>
                  <a:pt x="646766" y="802982"/>
                </a:lnTo>
                <a:lnTo>
                  <a:pt x="0" y="80298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68" name="Freeform 68"/>
          <p:cNvSpPr/>
          <p:nvPr/>
        </p:nvSpPr>
        <p:spPr>
          <a:xfrm>
            <a:off x="10944785" y="6900570"/>
            <a:ext cx="825639" cy="791112"/>
          </a:xfrm>
          <a:custGeom>
            <a:avLst/>
            <a:gdLst/>
            <a:ahLst/>
            <a:cxnLst/>
            <a:rect l="l" t="t" r="r" b="b"/>
            <a:pathLst>
              <a:path w="825639" h="791112">
                <a:moveTo>
                  <a:pt x="0" y="0"/>
                </a:moveTo>
                <a:lnTo>
                  <a:pt x="825639" y="0"/>
                </a:lnTo>
                <a:lnTo>
                  <a:pt x="825639" y="791112"/>
                </a:lnTo>
                <a:lnTo>
                  <a:pt x="0" y="79111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69" name="Freeform 69"/>
          <p:cNvSpPr/>
          <p:nvPr/>
        </p:nvSpPr>
        <p:spPr>
          <a:xfrm>
            <a:off x="1232535" y="6767521"/>
            <a:ext cx="825639" cy="791112"/>
          </a:xfrm>
          <a:custGeom>
            <a:avLst/>
            <a:gdLst/>
            <a:ahLst/>
            <a:cxnLst/>
            <a:rect l="l" t="t" r="r" b="b"/>
            <a:pathLst>
              <a:path w="825639" h="791112">
                <a:moveTo>
                  <a:pt x="0" y="0"/>
                </a:moveTo>
                <a:lnTo>
                  <a:pt x="825639" y="0"/>
                </a:lnTo>
                <a:lnTo>
                  <a:pt x="825639" y="791113"/>
                </a:lnTo>
                <a:lnTo>
                  <a:pt x="0" y="79111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70" name="Freeform 70"/>
          <p:cNvSpPr/>
          <p:nvPr/>
        </p:nvSpPr>
        <p:spPr>
          <a:xfrm>
            <a:off x="11027911" y="8016982"/>
            <a:ext cx="742513" cy="742513"/>
          </a:xfrm>
          <a:custGeom>
            <a:avLst/>
            <a:gdLst/>
            <a:ahLst/>
            <a:cxnLst/>
            <a:rect l="l" t="t" r="r" b="b"/>
            <a:pathLst>
              <a:path w="742513" h="742513">
                <a:moveTo>
                  <a:pt x="0" y="0"/>
                </a:moveTo>
                <a:lnTo>
                  <a:pt x="742513" y="0"/>
                </a:lnTo>
                <a:lnTo>
                  <a:pt x="742513" y="742513"/>
                </a:lnTo>
                <a:lnTo>
                  <a:pt x="0" y="74251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71" name="TextBox 71"/>
          <p:cNvSpPr txBox="1"/>
          <p:nvPr/>
        </p:nvSpPr>
        <p:spPr>
          <a:xfrm>
            <a:off x="2395356" y="2231375"/>
            <a:ext cx="4913261" cy="899795"/>
          </a:xfrm>
          <a:prstGeom prst="rect">
            <a:avLst/>
          </a:prstGeom>
        </p:spPr>
        <p:txBody>
          <a:bodyPr lIns="0" tIns="0" rIns="0" bIns="0" rtlCol="0" anchor="t">
            <a:spAutoFit/>
          </a:bodyPr>
          <a:lstStyle/>
          <a:p>
            <a:pPr algn="l">
              <a:lnSpc>
                <a:spcPts val="2380"/>
              </a:lnSpc>
            </a:pPr>
            <a:r>
              <a:rPr lang="en-US" sz="1700" b="1">
                <a:solidFill>
                  <a:srgbClr val="000000"/>
                </a:solidFill>
                <a:ea typeface="Poppins Bold"/>
                <a:cs typeface="Poppins Bold"/>
                <a:sym typeface="Poppins Bold"/>
              </a:rPr>
              <a:t>1.GUI</a:t>
            </a:r>
          </a:p>
          <a:p>
            <a:pPr algn="l">
              <a:lnSpc>
                <a:spcPts val="2380"/>
              </a:lnSpc>
              <a:spcBef>
                <a:spcPct val="0"/>
              </a:spcBef>
            </a:pPr>
            <a:r>
              <a:rPr lang="en-US" sz="1700">
                <a:solidFill>
                  <a:srgbClr val="000000"/>
                </a:solidFill>
                <a:ea typeface="Poppins"/>
                <a:cs typeface="Poppins"/>
                <a:sym typeface="Poppins"/>
              </a:rPr>
              <a:t>CustomTkinter hiển thị giao diện và nhận thao tác người dùng</a:t>
            </a:r>
          </a:p>
        </p:txBody>
      </p:sp>
      <p:sp>
        <p:nvSpPr>
          <p:cNvPr id="72" name="TextBox 72"/>
          <p:cNvSpPr txBox="1"/>
          <p:nvPr/>
        </p:nvSpPr>
        <p:spPr>
          <a:xfrm>
            <a:off x="2377985" y="3118187"/>
            <a:ext cx="2641521" cy="1211742"/>
          </a:xfrm>
          <a:prstGeom prst="rect">
            <a:avLst/>
          </a:prstGeom>
        </p:spPr>
        <p:txBody>
          <a:bodyPr lIns="0" tIns="0" rIns="0" bIns="0" rtlCol="0" anchor="t">
            <a:spAutoFit/>
          </a:bodyPr>
          <a:lstStyle/>
          <a:p>
            <a:pPr algn="ctr">
              <a:lnSpc>
                <a:spcPts val="2380"/>
              </a:lnSpc>
            </a:pPr>
            <a:endParaRPr/>
          </a:p>
          <a:p>
            <a:pPr algn="l">
              <a:lnSpc>
                <a:spcPts val="2380"/>
              </a:lnSpc>
              <a:spcBef>
                <a:spcPct val="0"/>
              </a:spcBef>
            </a:pPr>
            <a:r>
              <a:rPr lang="en-US" sz="1700" b="1">
                <a:solidFill>
                  <a:srgbClr val="000000"/>
                </a:solidFill>
                <a:ea typeface="Poppins Bold"/>
                <a:cs typeface="Poppins Bold"/>
                <a:sym typeface="Poppins Bold"/>
              </a:rPr>
              <a:t>2.Controller Adapt</a:t>
            </a:r>
          </a:p>
          <a:p>
            <a:pPr algn="ctr">
              <a:lnSpc>
                <a:spcPts val="2380"/>
              </a:lnSpc>
              <a:spcBef>
                <a:spcPct val="0"/>
              </a:spcBef>
            </a:pPr>
            <a:r>
              <a:rPr lang="en-US" sz="1700">
                <a:solidFill>
                  <a:srgbClr val="000000"/>
                </a:solidFill>
                <a:ea typeface="Poppins"/>
                <a:cs typeface="Poppins"/>
                <a:sym typeface="Poppins"/>
              </a:rPr>
              <a:t>Kết nối GUI với Networker</a:t>
            </a:r>
          </a:p>
          <a:p>
            <a:pPr algn="ctr">
              <a:lnSpc>
                <a:spcPts val="2380"/>
              </a:lnSpc>
              <a:spcBef>
                <a:spcPct val="0"/>
              </a:spcBef>
            </a:pPr>
            <a:endParaRPr lang="en-US" sz="1700">
              <a:solidFill>
                <a:srgbClr val="000000"/>
              </a:solidFill>
              <a:ea typeface="Poppins"/>
              <a:cs typeface="Poppins"/>
              <a:sym typeface="Poppins"/>
            </a:endParaRPr>
          </a:p>
        </p:txBody>
      </p:sp>
      <p:sp>
        <p:nvSpPr>
          <p:cNvPr id="73" name="TextBox 73"/>
          <p:cNvSpPr txBox="1"/>
          <p:nvPr/>
        </p:nvSpPr>
        <p:spPr>
          <a:xfrm>
            <a:off x="2395356" y="4509755"/>
            <a:ext cx="2862382" cy="604520"/>
          </a:xfrm>
          <a:prstGeom prst="rect">
            <a:avLst/>
          </a:prstGeom>
        </p:spPr>
        <p:txBody>
          <a:bodyPr lIns="0" tIns="0" rIns="0" bIns="0" rtlCol="0" anchor="t">
            <a:spAutoFit/>
          </a:bodyPr>
          <a:lstStyle/>
          <a:p>
            <a:pPr algn="l">
              <a:lnSpc>
                <a:spcPts val="2380"/>
              </a:lnSpc>
            </a:pPr>
            <a:r>
              <a:rPr lang="en-US" sz="1700" b="1">
                <a:solidFill>
                  <a:srgbClr val="000000"/>
                </a:solidFill>
                <a:ea typeface="Poppins Bold"/>
                <a:cs typeface="Poppins Bold"/>
                <a:sym typeface="Poppins Bold"/>
              </a:rPr>
              <a:t>3.Message Layer</a:t>
            </a:r>
          </a:p>
          <a:p>
            <a:pPr algn="l">
              <a:lnSpc>
                <a:spcPts val="2380"/>
              </a:lnSpc>
              <a:spcBef>
                <a:spcPct val="0"/>
              </a:spcBef>
            </a:pPr>
            <a:r>
              <a:rPr lang="en-US" sz="1700">
                <a:solidFill>
                  <a:srgbClr val="000000"/>
                </a:solidFill>
                <a:ea typeface="Poppins"/>
                <a:cs typeface="Poppins"/>
                <a:sym typeface="Poppins"/>
              </a:rPr>
              <a:t>Xử lý tin nhắn và truyền file</a:t>
            </a:r>
          </a:p>
        </p:txBody>
      </p:sp>
      <p:sp>
        <p:nvSpPr>
          <p:cNvPr id="74" name="TextBox 74"/>
          <p:cNvSpPr txBox="1"/>
          <p:nvPr/>
        </p:nvSpPr>
        <p:spPr>
          <a:xfrm>
            <a:off x="2471739" y="5436556"/>
            <a:ext cx="4614862" cy="899795"/>
          </a:xfrm>
          <a:prstGeom prst="rect">
            <a:avLst/>
          </a:prstGeom>
        </p:spPr>
        <p:txBody>
          <a:bodyPr wrap="square" lIns="0" tIns="0" rIns="0" bIns="0" rtlCol="0" anchor="t">
            <a:spAutoFit/>
          </a:bodyPr>
          <a:lstStyle/>
          <a:p>
            <a:pPr algn="l">
              <a:lnSpc>
                <a:spcPts val="2380"/>
              </a:lnSpc>
            </a:pPr>
            <a:r>
              <a:rPr lang="en-US" sz="1700" b="1">
                <a:solidFill>
                  <a:srgbClr val="000000"/>
                </a:solidFill>
                <a:ea typeface="Poppins Bold"/>
                <a:cs typeface="Poppins Bold"/>
                <a:sym typeface="Poppins Bold"/>
              </a:rPr>
              <a:t>4.Security</a:t>
            </a:r>
          </a:p>
          <a:p>
            <a:pPr algn="l">
              <a:lnSpc>
                <a:spcPts val="2380"/>
              </a:lnSpc>
              <a:spcBef>
                <a:spcPct val="0"/>
              </a:spcBef>
            </a:pPr>
            <a:r>
              <a:rPr lang="en-US" sz="1700">
                <a:solidFill>
                  <a:srgbClr val="000000"/>
                </a:solidFill>
                <a:ea typeface="Poppins"/>
                <a:cs typeface="Poppins"/>
                <a:sym typeface="Poppins"/>
              </a:rPr>
              <a:t>RSA (trao đổi khóa), Fernet (mã hóa dữ liệu), TOFU (xác thực vân tay)</a:t>
            </a:r>
          </a:p>
        </p:txBody>
      </p:sp>
      <p:sp>
        <p:nvSpPr>
          <p:cNvPr id="75" name="TextBox 75"/>
          <p:cNvSpPr txBox="1"/>
          <p:nvPr/>
        </p:nvSpPr>
        <p:spPr>
          <a:xfrm>
            <a:off x="2395356" y="6701402"/>
            <a:ext cx="5004766" cy="899795"/>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5.Network</a:t>
            </a:r>
          </a:p>
          <a:p>
            <a:pPr algn="l">
              <a:lnSpc>
                <a:spcPts val="2380"/>
              </a:lnSpc>
              <a:spcBef>
                <a:spcPct val="0"/>
              </a:spcBef>
            </a:pPr>
            <a:r>
              <a:rPr lang="en-US" sz="1700">
                <a:solidFill>
                  <a:srgbClr val="000000"/>
                </a:solidFill>
                <a:ea typeface="Poppins"/>
                <a:cs typeface="Poppins"/>
                <a:sym typeface="Poppins"/>
              </a:rPr>
              <a:t>UDP Discovery (phát hiện peer), TCP Socket (kết nối &amp; truyền dữ liệu)</a:t>
            </a:r>
          </a:p>
        </p:txBody>
      </p:sp>
      <p:sp>
        <p:nvSpPr>
          <p:cNvPr id="76" name="TextBox 76"/>
          <p:cNvSpPr txBox="1"/>
          <p:nvPr/>
        </p:nvSpPr>
        <p:spPr>
          <a:xfrm>
            <a:off x="2395356" y="7947713"/>
            <a:ext cx="3559373" cy="899795"/>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6.Storage </a:t>
            </a:r>
          </a:p>
          <a:p>
            <a:pPr algn="ctr">
              <a:lnSpc>
                <a:spcPts val="2380"/>
              </a:lnSpc>
              <a:spcBef>
                <a:spcPct val="0"/>
              </a:spcBef>
            </a:pPr>
            <a:r>
              <a:rPr lang="en-US" sz="1700">
                <a:solidFill>
                  <a:srgbClr val="000000"/>
                </a:solidFill>
                <a:ea typeface="Poppins"/>
                <a:cs typeface="Poppins"/>
                <a:sym typeface="Poppins"/>
              </a:rPr>
              <a:t>Lưu lịch sử chat và thông tin Peer</a:t>
            </a:r>
          </a:p>
          <a:p>
            <a:pPr algn="ctr">
              <a:lnSpc>
                <a:spcPts val="2380"/>
              </a:lnSpc>
              <a:spcBef>
                <a:spcPct val="0"/>
              </a:spcBef>
            </a:pPr>
            <a:endParaRPr lang="en-US" sz="1700">
              <a:solidFill>
                <a:srgbClr val="000000"/>
              </a:solidFill>
              <a:ea typeface="Poppins"/>
              <a:cs typeface="Poppins"/>
              <a:sym typeface="Poppins"/>
            </a:endParaRPr>
          </a:p>
        </p:txBody>
      </p:sp>
      <p:sp>
        <p:nvSpPr>
          <p:cNvPr id="77" name="TextBox 77"/>
          <p:cNvSpPr txBox="1"/>
          <p:nvPr/>
        </p:nvSpPr>
        <p:spPr>
          <a:xfrm>
            <a:off x="12069475" y="2259820"/>
            <a:ext cx="4913261" cy="899795"/>
          </a:xfrm>
          <a:prstGeom prst="rect">
            <a:avLst/>
          </a:prstGeom>
        </p:spPr>
        <p:txBody>
          <a:bodyPr lIns="0" tIns="0" rIns="0" bIns="0" rtlCol="0" anchor="t">
            <a:spAutoFit/>
          </a:bodyPr>
          <a:lstStyle/>
          <a:p>
            <a:pPr algn="l">
              <a:lnSpc>
                <a:spcPts val="2380"/>
              </a:lnSpc>
            </a:pPr>
            <a:r>
              <a:rPr lang="en-US" sz="1700" b="1">
                <a:solidFill>
                  <a:srgbClr val="000000"/>
                </a:solidFill>
                <a:ea typeface="Poppins Bold"/>
                <a:cs typeface="Poppins Bold"/>
                <a:sym typeface="Poppins Bold"/>
              </a:rPr>
              <a:t>1.GUI</a:t>
            </a:r>
          </a:p>
          <a:p>
            <a:pPr algn="l">
              <a:lnSpc>
                <a:spcPts val="2380"/>
              </a:lnSpc>
              <a:spcBef>
                <a:spcPct val="0"/>
              </a:spcBef>
            </a:pPr>
            <a:r>
              <a:rPr lang="en-US" sz="1700">
                <a:solidFill>
                  <a:srgbClr val="000000"/>
                </a:solidFill>
                <a:ea typeface="Poppins"/>
                <a:cs typeface="Poppins"/>
                <a:sym typeface="Poppins"/>
              </a:rPr>
              <a:t>CustomTkinter hiển thị giao diện và nhận thao tác người dùng</a:t>
            </a:r>
          </a:p>
        </p:txBody>
      </p:sp>
      <p:sp>
        <p:nvSpPr>
          <p:cNvPr id="78" name="TextBox 78"/>
          <p:cNvSpPr txBox="1"/>
          <p:nvPr/>
        </p:nvSpPr>
        <p:spPr>
          <a:xfrm>
            <a:off x="12069475" y="3292965"/>
            <a:ext cx="2641521" cy="1211742"/>
          </a:xfrm>
          <a:prstGeom prst="rect">
            <a:avLst/>
          </a:prstGeom>
        </p:spPr>
        <p:txBody>
          <a:bodyPr lIns="0" tIns="0" rIns="0" bIns="0" rtlCol="0" anchor="t">
            <a:spAutoFit/>
          </a:bodyPr>
          <a:lstStyle/>
          <a:p>
            <a:pPr algn="ctr">
              <a:lnSpc>
                <a:spcPts val="2380"/>
              </a:lnSpc>
            </a:pPr>
            <a:endParaRPr/>
          </a:p>
          <a:p>
            <a:pPr algn="l">
              <a:lnSpc>
                <a:spcPts val="2380"/>
              </a:lnSpc>
              <a:spcBef>
                <a:spcPct val="0"/>
              </a:spcBef>
            </a:pPr>
            <a:r>
              <a:rPr lang="en-US" sz="1700" b="1">
                <a:solidFill>
                  <a:srgbClr val="000000"/>
                </a:solidFill>
                <a:ea typeface="Poppins Bold"/>
                <a:cs typeface="Poppins Bold"/>
                <a:sym typeface="Poppins Bold"/>
              </a:rPr>
              <a:t>2.Controller Adapt</a:t>
            </a:r>
          </a:p>
          <a:p>
            <a:pPr algn="ctr">
              <a:lnSpc>
                <a:spcPts val="2380"/>
              </a:lnSpc>
              <a:spcBef>
                <a:spcPct val="0"/>
              </a:spcBef>
            </a:pPr>
            <a:r>
              <a:rPr lang="en-US" sz="1700">
                <a:solidFill>
                  <a:srgbClr val="000000"/>
                </a:solidFill>
                <a:ea typeface="Poppins"/>
                <a:cs typeface="Poppins"/>
                <a:sym typeface="Poppins"/>
              </a:rPr>
              <a:t>Kết nối GUI với Networker</a:t>
            </a:r>
          </a:p>
          <a:p>
            <a:pPr algn="ctr">
              <a:lnSpc>
                <a:spcPts val="2380"/>
              </a:lnSpc>
              <a:spcBef>
                <a:spcPct val="0"/>
              </a:spcBef>
            </a:pPr>
            <a:endParaRPr lang="en-US" sz="1700">
              <a:solidFill>
                <a:srgbClr val="000000"/>
              </a:solidFill>
              <a:ea typeface="Poppins"/>
              <a:cs typeface="Poppins"/>
              <a:sym typeface="Poppins"/>
            </a:endParaRPr>
          </a:p>
        </p:txBody>
      </p:sp>
      <p:sp>
        <p:nvSpPr>
          <p:cNvPr id="79" name="TextBox 79"/>
          <p:cNvSpPr txBox="1"/>
          <p:nvPr/>
        </p:nvSpPr>
        <p:spPr>
          <a:xfrm>
            <a:off x="12069475" y="4545185"/>
            <a:ext cx="2862382" cy="604520"/>
          </a:xfrm>
          <a:prstGeom prst="rect">
            <a:avLst/>
          </a:prstGeom>
        </p:spPr>
        <p:txBody>
          <a:bodyPr lIns="0" tIns="0" rIns="0" bIns="0" rtlCol="0" anchor="t">
            <a:spAutoFit/>
          </a:bodyPr>
          <a:lstStyle/>
          <a:p>
            <a:pPr algn="l">
              <a:lnSpc>
                <a:spcPts val="2380"/>
              </a:lnSpc>
            </a:pPr>
            <a:r>
              <a:rPr lang="en-US" sz="1700" b="1">
                <a:solidFill>
                  <a:srgbClr val="000000"/>
                </a:solidFill>
                <a:ea typeface="Poppins Bold"/>
                <a:cs typeface="Poppins Bold"/>
                <a:sym typeface="Poppins Bold"/>
              </a:rPr>
              <a:t>3.Message Layer</a:t>
            </a:r>
          </a:p>
          <a:p>
            <a:pPr algn="l">
              <a:lnSpc>
                <a:spcPts val="2380"/>
              </a:lnSpc>
              <a:spcBef>
                <a:spcPct val="0"/>
              </a:spcBef>
            </a:pPr>
            <a:r>
              <a:rPr lang="en-US" sz="1700">
                <a:solidFill>
                  <a:srgbClr val="000000"/>
                </a:solidFill>
                <a:ea typeface="Poppins"/>
                <a:cs typeface="Poppins"/>
                <a:sym typeface="Poppins"/>
              </a:rPr>
              <a:t>Xử lý tin nhắn và truyền file</a:t>
            </a:r>
          </a:p>
        </p:txBody>
      </p:sp>
      <p:sp>
        <p:nvSpPr>
          <p:cNvPr id="80" name="TextBox 80"/>
          <p:cNvSpPr txBox="1"/>
          <p:nvPr/>
        </p:nvSpPr>
        <p:spPr>
          <a:xfrm>
            <a:off x="12069475" y="5568939"/>
            <a:ext cx="4765925" cy="899795"/>
          </a:xfrm>
          <a:prstGeom prst="rect">
            <a:avLst/>
          </a:prstGeom>
        </p:spPr>
        <p:txBody>
          <a:bodyPr wrap="square" lIns="0" tIns="0" rIns="0" bIns="0" rtlCol="0" anchor="t">
            <a:spAutoFit/>
          </a:bodyPr>
          <a:lstStyle/>
          <a:p>
            <a:pPr algn="l">
              <a:lnSpc>
                <a:spcPts val="2380"/>
              </a:lnSpc>
            </a:pPr>
            <a:r>
              <a:rPr lang="en-US" sz="1700" b="1">
                <a:solidFill>
                  <a:srgbClr val="000000"/>
                </a:solidFill>
                <a:ea typeface="Poppins Bold"/>
                <a:cs typeface="Poppins Bold"/>
                <a:sym typeface="Poppins Bold"/>
              </a:rPr>
              <a:t>4.Security</a:t>
            </a:r>
          </a:p>
          <a:p>
            <a:pPr algn="l">
              <a:lnSpc>
                <a:spcPts val="2380"/>
              </a:lnSpc>
              <a:spcBef>
                <a:spcPct val="0"/>
              </a:spcBef>
            </a:pPr>
            <a:r>
              <a:rPr lang="en-US" sz="1700">
                <a:solidFill>
                  <a:srgbClr val="000000"/>
                </a:solidFill>
                <a:ea typeface="Poppins"/>
                <a:cs typeface="Poppins"/>
                <a:sym typeface="Poppins"/>
              </a:rPr>
              <a:t>RSA (trao đổi khóa), Fernet (mã hóa dữ liệu), TOFU (xác thực vân tay)</a:t>
            </a:r>
          </a:p>
        </p:txBody>
      </p:sp>
      <p:sp>
        <p:nvSpPr>
          <p:cNvPr id="81" name="TextBox 81"/>
          <p:cNvSpPr txBox="1"/>
          <p:nvPr/>
        </p:nvSpPr>
        <p:spPr>
          <a:xfrm>
            <a:off x="12069475" y="6866943"/>
            <a:ext cx="5004766" cy="899795"/>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5.Network</a:t>
            </a:r>
          </a:p>
          <a:p>
            <a:pPr algn="l">
              <a:lnSpc>
                <a:spcPts val="2380"/>
              </a:lnSpc>
              <a:spcBef>
                <a:spcPct val="0"/>
              </a:spcBef>
            </a:pPr>
            <a:r>
              <a:rPr lang="en-US" sz="1700">
                <a:solidFill>
                  <a:srgbClr val="000000"/>
                </a:solidFill>
                <a:ea typeface="Poppins"/>
                <a:cs typeface="Poppins"/>
                <a:sym typeface="Poppins"/>
              </a:rPr>
              <a:t>UDP Discovery (phát hiện peer), TCP Socket (kết nối &amp; truyền dữ liệu)</a:t>
            </a:r>
          </a:p>
        </p:txBody>
      </p:sp>
      <p:sp>
        <p:nvSpPr>
          <p:cNvPr id="82" name="TextBox 82"/>
          <p:cNvSpPr txBox="1"/>
          <p:nvPr/>
        </p:nvSpPr>
        <p:spPr>
          <a:xfrm>
            <a:off x="12069475" y="8061775"/>
            <a:ext cx="3559373" cy="899795"/>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6.Storage</a:t>
            </a:r>
          </a:p>
          <a:p>
            <a:pPr algn="ctr">
              <a:lnSpc>
                <a:spcPts val="2380"/>
              </a:lnSpc>
              <a:spcBef>
                <a:spcPct val="0"/>
              </a:spcBef>
            </a:pPr>
            <a:r>
              <a:rPr lang="en-US" sz="1700">
                <a:solidFill>
                  <a:srgbClr val="000000"/>
                </a:solidFill>
                <a:ea typeface="Poppins"/>
                <a:cs typeface="Poppins"/>
                <a:sym typeface="Poppins"/>
              </a:rPr>
              <a:t>Lưu lịch sử chat và thông tin Peer</a:t>
            </a:r>
          </a:p>
          <a:p>
            <a:pPr algn="ctr">
              <a:lnSpc>
                <a:spcPts val="2380"/>
              </a:lnSpc>
              <a:spcBef>
                <a:spcPct val="0"/>
              </a:spcBef>
            </a:pPr>
            <a:endParaRPr lang="en-US" sz="1700">
              <a:solidFill>
                <a:srgbClr val="000000"/>
              </a:solidFill>
              <a:ea typeface="Poppins"/>
              <a:cs typeface="Poppins"/>
              <a:sym typeface="Poppins"/>
            </a:endParaRPr>
          </a:p>
        </p:txBody>
      </p:sp>
      <p:sp>
        <p:nvSpPr>
          <p:cNvPr id="83" name="TextBox 83"/>
          <p:cNvSpPr txBox="1"/>
          <p:nvPr/>
        </p:nvSpPr>
        <p:spPr>
          <a:xfrm>
            <a:off x="7979251" y="3527079"/>
            <a:ext cx="1965568" cy="809625"/>
          </a:xfrm>
          <a:prstGeom prst="rect">
            <a:avLst/>
          </a:prstGeom>
        </p:spPr>
        <p:txBody>
          <a:bodyPr lIns="0" tIns="0" rIns="0" bIns="0" rtlCol="0" anchor="t">
            <a:spAutoFit/>
          </a:bodyPr>
          <a:lstStyle/>
          <a:p>
            <a:pPr algn="ctr">
              <a:lnSpc>
                <a:spcPts val="2100"/>
              </a:lnSpc>
            </a:pPr>
            <a:r>
              <a:rPr lang="en-US" sz="1500" b="1">
                <a:solidFill>
                  <a:srgbClr val="000000"/>
                </a:solidFill>
                <a:ea typeface="Poppins Bold"/>
                <a:cs typeface="Poppins Bold"/>
                <a:sym typeface="Poppins Bold"/>
              </a:rPr>
              <a:t>UDP BROADCAST</a:t>
            </a:r>
          </a:p>
          <a:p>
            <a:pPr algn="ctr">
              <a:lnSpc>
                <a:spcPts val="2100"/>
              </a:lnSpc>
              <a:spcBef>
                <a:spcPct val="0"/>
              </a:spcBef>
            </a:pPr>
            <a:r>
              <a:rPr lang="en-US" sz="1500">
                <a:solidFill>
                  <a:srgbClr val="000000"/>
                </a:solidFill>
                <a:ea typeface="Poppins"/>
                <a:cs typeface="Poppins"/>
                <a:sym typeface="Poppins"/>
              </a:rPr>
              <a:t>Phát hiện peer trong mạng LAN</a:t>
            </a:r>
          </a:p>
        </p:txBody>
      </p:sp>
      <p:sp>
        <p:nvSpPr>
          <p:cNvPr id="84" name="TextBox 84"/>
          <p:cNvSpPr txBox="1"/>
          <p:nvPr/>
        </p:nvSpPr>
        <p:spPr>
          <a:xfrm>
            <a:off x="7768034" y="5510997"/>
            <a:ext cx="2557930" cy="809625"/>
          </a:xfrm>
          <a:prstGeom prst="rect">
            <a:avLst/>
          </a:prstGeom>
        </p:spPr>
        <p:txBody>
          <a:bodyPr lIns="0" tIns="0" rIns="0" bIns="0" rtlCol="0" anchor="t">
            <a:spAutoFit/>
          </a:bodyPr>
          <a:lstStyle/>
          <a:p>
            <a:pPr algn="ctr">
              <a:lnSpc>
                <a:spcPts val="2100"/>
              </a:lnSpc>
            </a:pPr>
            <a:r>
              <a:rPr lang="en-US" sz="1500" b="1">
                <a:solidFill>
                  <a:srgbClr val="000000"/>
                </a:solidFill>
                <a:ea typeface="Poppins Bold"/>
                <a:cs typeface="Poppins Bold"/>
                <a:sym typeface="Poppins Bold"/>
              </a:rPr>
              <a:t>TCP CONNECTION</a:t>
            </a:r>
          </a:p>
          <a:p>
            <a:pPr algn="ctr">
              <a:lnSpc>
                <a:spcPts val="2100"/>
              </a:lnSpc>
              <a:spcBef>
                <a:spcPct val="0"/>
              </a:spcBef>
            </a:pPr>
            <a:r>
              <a:rPr lang="en-US" sz="1500">
                <a:solidFill>
                  <a:srgbClr val="000000"/>
                </a:solidFill>
                <a:ea typeface="Poppins"/>
                <a:cs typeface="Poppins"/>
                <a:sym typeface="Poppins"/>
              </a:rPr>
              <a:t>Thiết lập kết nối trực tiếp giữa 2 peer</a:t>
            </a:r>
          </a:p>
        </p:txBody>
      </p:sp>
      <p:sp>
        <p:nvSpPr>
          <p:cNvPr id="85" name="TextBox 85"/>
          <p:cNvSpPr txBox="1"/>
          <p:nvPr/>
        </p:nvSpPr>
        <p:spPr>
          <a:xfrm>
            <a:off x="7651388" y="8492622"/>
            <a:ext cx="2791222" cy="1076325"/>
          </a:xfrm>
          <a:prstGeom prst="rect">
            <a:avLst/>
          </a:prstGeom>
        </p:spPr>
        <p:txBody>
          <a:bodyPr lIns="0" tIns="0" rIns="0" bIns="0" rtlCol="0" anchor="t">
            <a:spAutoFit/>
          </a:bodyPr>
          <a:lstStyle/>
          <a:p>
            <a:pPr algn="ctr">
              <a:lnSpc>
                <a:spcPts val="2100"/>
              </a:lnSpc>
            </a:pPr>
            <a:r>
              <a:rPr lang="en-US" sz="1500" b="1">
                <a:solidFill>
                  <a:srgbClr val="000000"/>
                </a:solidFill>
                <a:ea typeface="Poppins Bold"/>
                <a:cs typeface="Poppins Bold"/>
                <a:sym typeface="Poppins Bold"/>
              </a:rPr>
              <a:t>ENCRYPTED CHANNEL</a:t>
            </a:r>
          </a:p>
          <a:p>
            <a:pPr algn="ctr">
              <a:lnSpc>
                <a:spcPts val="2100"/>
              </a:lnSpc>
            </a:pPr>
            <a:r>
              <a:rPr lang="en-US" sz="1500">
                <a:solidFill>
                  <a:srgbClr val="000000"/>
                </a:solidFill>
                <a:ea typeface="Poppins"/>
                <a:cs typeface="Poppins"/>
                <a:sym typeface="Poppins"/>
              </a:rPr>
              <a:t>Trao đổi khóa RSA </a:t>
            </a:r>
          </a:p>
          <a:p>
            <a:pPr algn="ctr">
              <a:lnSpc>
                <a:spcPts val="2100"/>
              </a:lnSpc>
            </a:pPr>
            <a:r>
              <a:rPr lang="en-US" sz="1500">
                <a:solidFill>
                  <a:srgbClr val="000000"/>
                </a:solidFill>
                <a:ea typeface="Poppins"/>
                <a:cs typeface="Poppins"/>
                <a:sym typeface="Poppins"/>
              </a:rPr>
              <a:t>Sinh khóa phiên Fernet</a:t>
            </a:r>
          </a:p>
          <a:p>
            <a:pPr algn="ctr">
              <a:lnSpc>
                <a:spcPts val="2100"/>
              </a:lnSpc>
              <a:spcBef>
                <a:spcPct val="0"/>
              </a:spcBef>
            </a:pPr>
            <a:r>
              <a:rPr lang="en-US" sz="1500">
                <a:solidFill>
                  <a:srgbClr val="000000"/>
                </a:solidFill>
                <a:ea typeface="Poppins"/>
                <a:cs typeface="Poppins"/>
                <a:sym typeface="Poppins"/>
              </a:rPr>
              <a:t>Mã hóa toàn bộ dữ liệu</a:t>
            </a:r>
          </a:p>
        </p:txBody>
      </p:sp>
      <p:sp>
        <p:nvSpPr>
          <p:cNvPr id="86" name="Freeform 86"/>
          <p:cNvSpPr/>
          <p:nvPr/>
        </p:nvSpPr>
        <p:spPr>
          <a:xfrm>
            <a:off x="1426148" y="7937674"/>
            <a:ext cx="742513" cy="742513"/>
          </a:xfrm>
          <a:custGeom>
            <a:avLst/>
            <a:gdLst/>
            <a:ahLst/>
            <a:cxnLst/>
            <a:rect l="l" t="t" r="r" b="b"/>
            <a:pathLst>
              <a:path w="742513" h="742513">
                <a:moveTo>
                  <a:pt x="0" y="0"/>
                </a:moveTo>
                <a:lnTo>
                  <a:pt x="742513" y="0"/>
                </a:lnTo>
                <a:lnTo>
                  <a:pt x="742513" y="742513"/>
                </a:lnTo>
                <a:lnTo>
                  <a:pt x="0" y="74251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nvGrpSpPr>
          <p:cNvPr id="87" name="Group 87"/>
          <p:cNvGrpSpPr/>
          <p:nvPr/>
        </p:nvGrpSpPr>
        <p:grpSpPr>
          <a:xfrm>
            <a:off x="16649935" y="9117189"/>
            <a:ext cx="1821590" cy="1858288"/>
            <a:chOff x="0" y="0"/>
            <a:chExt cx="479760" cy="489426"/>
          </a:xfrm>
        </p:grpSpPr>
        <p:sp>
          <p:nvSpPr>
            <p:cNvPr id="88" name="Freeform 88"/>
            <p:cNvSpPr/>
            <p:nvPr/>
          </p:nvSpPr>
          <p:spPr>
            <a:xfrm>
              <a:off x="0" y="0"/>
              <a:ext cx="479760" cy="489426"/>
            </a:xfrm>
            <a:custGeom>
              <a:avLst/>
              <a:gdLst/>
              <a:ahLst/>
              <a:cxnLst/>
              <a:rect l="l" t="t" r="r" b="b"/>
              <a:pathLst>
                <a:path w="479760" h="489426">
                  <a:moveTo>
                    <a:pt x="55251" y="0"/>
                  </a:moveTo>
                  <a:lnTo>
                    <a:pt x="424509" y="0"/>
                  </a:lnTo>
                  <a:cubicBezTo>
                    <a:pt x="455024" y="0"/>
                    <a:pt x="479760" y="24737"/>
                    <a:pt x="479760" y="55251"/>
                  </a:cubicBezTo>
                  <a:lnTo>
                    <a:pt x="479760" y="434174"/>
                  </a:lnTo>
                  <a:cubicBezTo>
                    <a:pt x="479760" y="464689"/>
                    <a:pt x="455024" y="489426"/>
                    <a:pt x="424509" y="489426"/>
                  </a:cubicBezTo>
                  <a:lnTo>
                    <a:pt x="55251" y="489426"/>
                  </a:lnTo>
                  <a:cubicBezTo>
                    <a:pt x="24737" y="489426"/>
                    <a:pt x="0" y="464689"/>
                    <a:pt x="0" y="434174"/>
                  </a:cubicBezTo>
                  <a:lnTo>
                    <a:pt x="0" y="55251"/>
                  </a:lnTo>
                  <a:cubicBezTo>
                    <a:pt x="0" y="24737"/>
                    <a:pt x="24737" y="0"/>
                    <a:pt x="55251" y="0"/>
                  </a:cubicBezTo>
                  <a:close/>
                </a:path>
              </a:pathLst>
            </a:custGeom>
            <a:solidFill>
              <a:srgbClr val="D5EDF1">
                <a:alpha val="35686"/>
              </a:srgbClr>
            </a:solidFill>
            <a:ln cap="sq">
              <a:noFill/>
              <a:prstDash val="solid"/>
              <a:miter/>
            </a:ln>
          </p:spPr>
        </p:sp>
        <p:sp>
          <p:nvSpPr>
            <p:cNvPr id="89" name="TextBox 89"/>
            <p:cNvSpPr txBox="1"/>
            <p:nvPr/>
          </p:nvSpPr>
          <p:spPr>
            <a:xfrm>
              <a:off x="0" y="-57150"/>
              <a:ext cx="479760" cy="546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0" name="Group 90"/>
          <p:cNvGrpSpPr/>
          <p:nvPr/>
        </p:nvGrpSpPr>
        <p:grpSpPr>
          <a:xfrm>
            <a:off x="-487340" y="-1387735"/>
            <a:ext cx="1821590" cy="1858288"/>
            <a:chOff x="0" y="0"/>
            <a:chExt cx="479760" cy="489426"/>
          </a:xfrm>
        </p:grpSpPr>
        <p:sp>
          <p:nvSpPr>
            <p:cNvPr id="91" name="Freeform 91"/>
            <p:cNvSpPr/>
            <p:nvPr/>
          </p:nvSpPr>
          <p:spPr>
            <a:xfrm>
              <a:off x="0" y="0"/>
              <a:ext cx="479760" cy="489426"/>
            </a:xfrm>
            <a:custGeom>
              <a:avLst/>
              <a:gdLst/>
              <a:ahLst/>
              <a:cxnLst/>
              <a:rect l="l" t="t" r="r" b="b"/>
              <a:pathLst>
                <a:path w="479760" h="489426">
                  <a:moveTo>
                    <a:pt x="55251" y="0"/>
                  </a:moveTo>
                  <a:lnTo>
                    <a:pt x="424509" y="0"/>
                  </a:lnTo>
                  <a:cubicBezTo>
                    <a:pt x="455024" y="0"/>
                    <a:pt x="479760" y="24737"/>
                    <a:pt x="479760" y="55251"/>
                  </a:cubicBezTo>
                  <a:lnTo>
                    <a:pt x="479760" y="434174"/>
                  </a:lnTo>
                  <a:cubicBezTo>
                    <a:pt x="479760" y="464689"/>
                    <a:pt x="455024" y="489426"/>
                    <a:pt x="424509" y="489426"/>
                  </a:cubicBezTo>
                  <a:lnTo>
                    <a:pt x="55251" y="489426"/>
                  </a:lnTo>
                  <a:cubicBezTo>
                    <a:pt x="24737" y="489426"/>
                    <a:pt x="0" y="464689"/>
                    <a:pt x="0" y="434174"/>
                  </a:cubicBezTo>
                  <a:lnTo>
                    <a:pt x="0" y="55251"/>
                  </a:lnTo>
                  <a:cubicBezTo>
                    <a:pt x="0" y="24737"/>
                    <a:pt x="24737" y="0"/>
                    <a:pt x="55251" y="0"/>
                  </a:cubicBezTo>
                  <a:close/>
                </a:path>
              </a:pathLst>
            </a:custGeom>
            <a:solidFill>
              <a:srgbClr val="D5EDF1">
                <a:alpha val="35686"/>
              </a:srgbClr>
            </a:solidFill>
            <a:ln cap="sq">
              <a:noFill/>
              <a:prstDash val="solid"/>
              <a:miter/>
            </a:ln>
          </p:spPr>
        </p:sp>
        <p:sp>
          <p:nvSpPr>
            <p:cNvPr id="92" name="TextBox 92"/>
            <p:cNvSpPr txBox="1"/>
            <p:nvPr/>
          </p:nvSpPr>
          <p:spPr>
            <a:xfrm>
              <a:off x="0" y="-57150"/>
              <a:ext cx="479760" cy="546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3" name="Group 93"/>
          <p:cNvGrpSpPr/>
          <p:nvPr/>
        </p:nvGrpSpPr>
        <p:grpSpPr>
          <a:xfrm>
            <a:off x="8099069" y="1487185"/>
            <a:ext cx="690245" cy="674322"/>
            <a:chOff x="0" y="0"/>
            <a:chExt cx="181793" cy="177599"/>
          </a:xfrm>
        </p:grpSpPr>
        <p:sp>
          <p:nvSpPr>
            <p:cNvPr id="94" name="Freeform 94"/>
            <p:cNvSpPr/>
            <p:nvPr/>
          </p:nvSpPr>
          <p:spPr>
            <a:xfrm>
              <a:off x="0" y="0"/>
              <a:ext cx="181793" cy="177599"/>
            </a:xfrm>
            <a:custGeom>
              <a:avLst/>
              <a:gdLst/>
              <a:ahLst/>
              <a:cxnLst/>
              <a:rect l="l" t="t" r="r" b="b"/>
              <a:pathLst>
                <a:path w="181793" h="177599">
                  <a:moveTo>
                    <a:pt x="88800" y="0"/>
                  </a:moveTo>
                  <a:lnTo>
                    <a:pt x="92993" y="0"/>
                  </a:lnTo>
                  <a:cubicBezTo>
                    <a:pt x="116544" y="0"/>
                    <a:pt x="139131" y="9356"/>
                    <a:pt x="155784" y="26009"/>
                  </a:cubicBezTo>
                  <a:cubicBezTo>
                    <a:pt x="172437" y="42662"/>
                    <a:pt x="181793" y="65248"/>
                    <a:pt x="181793" y="88800"/>
                  </a:cubicBezTo>
                  <a:lnTo>
                    <a:pt x="181793" y="88800"/>
                  </a:lnTo>
                  <a:cubicBezTo>
                    <a:pt x="181793" y="112351"/>
                    <a:pt x="172437" y="134937"/>
                    <a:pt x="155784" y="151590"/>
                  </a:cubicBezTo>
                  <a:cubicBezTo>
                    <a:pt x="139131" y="168244"/>
                    <a:pt x="116544" y="177599"/>
                    <a:pt x="92993" y="177599"/>
                  </a:cubicBezTo>
                  <a:lnTo>
                    <a:pt x="88800" y="177599"/>
                  </a:lnTo>
                  <a:cubicBezTo>
                    <a:pt x="65248" y="177599"/>
                    <a:pt x="42662" y="168244"/>
                    <a:pt x="26009" y="151590"/>
                  </a:cubicBezTo>
                  <a:cubicBezTo>
                    <a:pt x="9356" y="134937"/>
                    <a:pt x="0" y="112351"/>
                    <a:pt x="0" y="88800"/>
                  </a:cubicBezTo>
                  <a:lnTo>
                    <a:pt x="0" y="88800"/>
                  </a:lnTo>
                  <a:cubicBezTo>
                    <a:pt x="0" y="65248"/>
                    <a:pt x="9356" y="42662"/>
                    <a:pt x="26009" y="26009"/>
                  </a:cubicBezTo>
                  <a:cubicBezTo>
                    <a:pt x="42662" y="9356"/>
                    <a:pt x="65248" y="0"/>
                    <a:pt x="88800" y="0"/>
                  </a:cubicBezTo>
                  <a:close/>
                </a:path>
              </a:pathLst>
            </a:custGeom>
            <a:solidFill>
              <a:srgbClr val="D5EDF1">
                <a:alpha val="35686"/>
              </a:srgbClr>
            </a:solidFill>
            <a:ln cap="sq">
              <a:noFill/>
              <a:prstDash val="solid"/>
              <a:miter/>
            </a:ln>
          </p:spPr>
        </p:sp>
        <p:sp>
          <p:nvSpPr>
            <p:cNvPr id="95" name="TextBox 95"/>
            <p:cNvSpPr txBox="1"/>
            <p:nvPr/>
          </p:nvSpPr>
          <p:spPr>
            <a:xfrm>
              <a:off x="0" y="-57150"/>
              <a:ext cx="181793" cy="23474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6" name="Group 96"/>
          <p:cNvGrpSpPr/>
          <p:nvPr/>
        </p:nvGrpSpPr>
        <p:grpSpPr>
          <a:xfrm>
            <a:off x="2652826" y="9143499"/>
            <a:ext cx="1111210" cy="832184"/>
            <a:chOff x="0" y="0"/>
            <a:chExt cx="292664" cy="219176"/>
          </a:xfrm>
        </p:grpSpPr>
        <p:sp>
          <p:nvSpPr>
            <p:cNvPr id="97" name="Freeform 97"/>
            <p:cNvSpPr/>
            <p:nvPr/>
          </p:nvSpPr>
          <p:spPr>
            <a:xfrm>
              <a:off x="0" y="0"/>
              <a:ext cx="292664" cy="219176"/>
            </a:xfrm>
            <a:custGeom>
              <a:avLst/>
              <a:gdLst/>
              <a:ahLst/>
              <a:cxnLst/>
              <a:rect l="l" t="t" r="r" b="b"/>
              <a:pathLst>
                <a:path w="292664" h="219176">
                  <a:moveTo>
                    <a:pt x="90572" y="0"/>
                  </a:moveTo>
                  <a:lnTo>
                    <a:pt x="202092" y="0"/>
                  </a:lnTo>
                  <a:cubicBezTo>
                    <a:pt x="226113" y="0"/>
                    <a:pt x="249151" y="9542"/>
                    <a:pt x="266136" y="26528"/>
                  </a:cubicBezTo>
                  <a:cubicBezTo>
                    <a:pt x="283122" y="43514"/>
                    <a:pt x="292664" y="66551"/>
                    <a:pt x="292664" y="90572"/>
                  </a:cubicBezTo>
                  <a:lnTo>
                    <a:pt x="292664" y="128604"/>
                  </a:lnTo>
                  <a:cubicBezTo>
                    <a:pt x="292664" y="178625"/>
                    <a:pt x="252114" y="219176"/>
                    <a:pt x="202092" y="219176"/>
                  </a:cubicBezTo>
                  <a:lnTo>
                    <a:pt x="90572" y="219176"/>
                  </a:lnTo>
                  <a:cubicBezTo>
                    <a:pt x="40551" y="219176"/>
                    <a:pt x="0" y="178625"/>
                    <a:pt x="0" y="128604"/>
                  </a:cubicBezTo>
                  <a:lnTo>
                    <a:pt x="0" y="90572"/>
                  </a:lnTo>
                  <a:cubicBezTo>
                    <a:pt x="0" y="40551"/>
                    <a:pt x="40551" y="0"/>
                    <a:pt x="90572" y="0"/>
                  </a:cubicBezTo>
                  <a:close/>
                </a:path>
              </a:pathLst>
            </a:custGeom>
            <a:solidFill>
              <a:srgbClr val="D5EDF1">
                <a:alpha val="35686"/>
              </a:srgbClr>
            </a:solidFill>
            <a:ln cap="sq">
              <a:noFill/>
              <a:prstDash val="solid"/>
              <a:miter/>
            </a:ln>
          </p:spPr>
        </p:sp>
        <p:sp>
          <p:nvSpPr>
            <p:cNvPr id="98" name="TextBox 98"/>
            <p:cNvSpPr txBox="1"/>
            <p:nvPr/>
          </p:nvSpPr>
          <p:spPr>
            <a:xfrm>
              <a:off x="0" y="-57150"/>
              <a:ext cx="292664" cy="276326"/>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
                                        <p:tgtEl>
                                          <p:spTgt spid="9"/>
                                        </p:tgtEl>
                                      </p:cBhvr>
                                    </p:animEffect>
                                  </p:childTnLst>
                                </p:cTn>
                              </p:par>
                            </p:childTnLst>
                          </p:cTn>
                        </p:par>
                        <p:par>
                          <p:cTn id="8" fill="hold">
                            <p:stCondLst>
                              <p:cond delay="5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
                                        <p:tgtEl>
                                          <p:spTgt spid="24"/>
                                        </p:tgtEl>
                                      </p:cBhvr>
                                    </p:animEffect>
                                  </p:childTnLst>
                                </p:cTn>
                              </p:par>
                            </p:childTnLst>
                          </p:cTn>
                        </p:par>
                        <p:par>
                          <p:cTn id="12" fill="hold">
                            <p:stCondLst>
                              <p:cond delay="1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
                                        <p:tgtEl>
                                          <p:spTgt spid="2"/>
                                        </p:tgtEl>
                                      </p:cBhvr>
                                    </p:animEffect>
                                  </p:childTnLst>
                                </p:cTn>
                              </p:par>
                            </p:childTnLst>
                          </p:cTn>
                        </p:par>
                        <p:par>
                          <p:cTn id="16" fill="hold">
                            <p:stCondLst>
                              <p:cond delay="15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
                                        <p:tgtEl>
                                          <p:spTgt spid="3"/>
                                        </p:tgtEl>
                                      </p:cBhvr>
                                    </p:animEffect>
                                  </p:childTnLst>
                                </p:cTn>
                              </p:par>
                            </p:childTnLst>
                          </p:cTn>
                        </p:par>
                        <p:par>
                          <p:cTn id="20" fill="hold">
                            <p:stCondLst>
                              <p:cond delay="2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
                                        <p:tgtEl>
                                          <p:spTgt spid="12"/>
                                        </p:tgtEl>
                                      </p:cBhvr>
                                    </p:animEffect>
                                  </p:childTnLst>
                                </p:cTn>
                              </p:par>
                            </p:childTnLst>
                          </p:cTn>
                        </p:par>
                        <p:par>
                          <p:cTn id="24" fill="hold">
                            <p:stCondLst>
                              <p:cond delay="250"/>
                            </p:stCondLst>
                            <p:childTnLst>
                              <p:par>
                                <p:cTn id="25" presetID="10" presetClass="entr" presetSubtype="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
                                        <p:tgtEl>
                                          <p:spTgt spid="6"/>
                                        </p:tgtEl>
                                      </p:cBhvr>
                                    </p:animEffect>
                                  </p:childTnLst>
                                </p:cTn>
                              </p:par>
                            </p:childTnLst>
                          </p:cTn>
                        </p:par>
                        <p:par>
                          <p:cTn id="28" fill="hold">
                            <p:stCondLst>
                              <p:cond delay="300"/>
                            </p:stCondLst>
                            <p:childTnLst>
                              <p:par>
                                <p:cTn id="29" presetID="10"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
                                        <p:tgtEl>
                                          <p:spTgt spid="15"/>
                                        </p:tgtEl>
                                      </p:cBhvr>
                                    </p:animEffect>
                                  </p:childTnLst>
                                </p:cTn>
                              </p:par>
                            </p:childTnLst>
                          </p:cTn>
                        </p:par>
                        <p:par>
                          <p:cTn id="32" fill="hold">
                            <p:stCondLst>
                              <p:cond delay="350"/>
                            </p:stCondLst>
                            <p:childTnLst>
                              <p:par>
                                <p:cTn id="33" presetID="10"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
                                        <p:tgtEl>
                                          <p:spTgt spid="18"/>
                                        </p:tgtEl>
                                      </p:cBhvr>
                                    </p:animEffect>
                                  </p:childTnLst>
                                </p:cTn>
                              </p:par>
                            </p:childTnLst>
                          </p:cTn>
                        </p:par>
                        <p:par>
                          <p:cTn id="36" fill="hold">
                            <p:stCondLst>
                              <p:cond delay="400"/>
                            </p:stCondLst>
                            <p:childTnLst>
                              <p:par>
                                <p:cTn id="37" presetID="10" presetClass="entr" presetSubtype="0"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
                                        <p:tgtEl>
                                          <p:spTgt spid="21"/>
                                        </p:tgtEl>
                                      </p:cBhvr>
                                    </p:animEffect>
                                  </p:childTnLst>
                                </p:cTn>
                              </p:par>
                            </p:childTnLst>
                          </p:cTn>
                        </p:par>
                        <p:par>
                          <p:cTn id="40" fill="hold">
                            <p:stCondLst>
                              <p:cond delay="450"/>
                            </p:stCondLst>
                            <p:childTnLst>
                              <p:par>
                                <p:cTn id="41" presetID="10" presetClass="entr" presetSubtype="0" fill="hold"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
                                        <p:tgtEl>
                                          <p:spTgt spid="27"/>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
                                        <p:tgtEl>
                                          <p:spTgt spid="30"/>
                                        </p:tgtEl>
                                      </p:cBhvr>
                                    </p:animEffect>
                                  </p:childTnLst>
                                </p:cTn>
                              </p:par>
                            </p:childTnLst>
                          </p:cTn>
                        </p:par>
                        <p:par>
                          <p:cTn id="48" fill="hold">
                            <p:stCondLst>
                              <p:cond delay="550"/>
                            </p:stCondLst>
                            <p:childTnLst>
                              <p:par>
                                <p:cTn id="49" presetID="10" presetClass="entr" presetSubtype="0" fill="hold"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
                                        <p:tgtEl>
                                          <p:spTgt spid="33"/>
                                        </p:tgtEl>
                                      </p:cBhvr>
                                    </p:animEffect>
                                  </p:childTnLst>
                                </p:cTn>
                              </p:par>
                            </p:childTnLst>
                          </p:cTn>
                        </p:par>
                        <p:par>
                          <p:cTn id="52" fill="hold">
                            <p:stCondLst>
                              <p:cond delay="600"/>
                            </p:stCondLst>
                            <p:childTnLst>
                              <p:par>
                                <p:cTn id="53" presetID="10" presetClass="entr" presetSubtype="0"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
                                        <p:tgtEl>
                                          <p:spTgt spid="36"/>
                                        </p:tgtEl>
                                      </p:cBhvr>
                                    </p:animEffect>
                                  </p:childTnLst>
                                </p:cTn>
                              </p:par>
                            </p:childTnLst>
                          </p:cTn>
                        </p:par>
                        <p:par>
                          <p:cTn id="56" fill="hold">
                            <p:stCondLst>
                              <p:cond delay="650"/>
                            </p:stCondLst>
                            <p:childTnLst>
                              <p:par>
                                <p:cTn id="57" presetID="10" presetClass="entr" presetSubtype="0" fill="hold" nodeType="after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50"/>
                                        <p:tgtEl>
                                          <p:spTgt spid="39"/>
                                        </p:tgtEl>
                                      </p:cBhvr>
                                    </p:animEffect>
                                  </p:childTnLst>
                                </p:cTn>
                              </p:par>
                            </p:childTnLst>
                          </p:cTn>
                        </p:par>
                        <p:par>
                          <p:cTn id="60" fill="hold">
                            <p:stCondLst>
                              <p:cond delay="700"/>
                            </p:stCondLst>
                            <p:childTnLst>
                              <p:par>
                                <p:cTn id="61" presetID="10" presetClass="entr" presetSubtype="0" fill="hold" nodeType="after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50"/>
                                        <p:tgtEl>
                                          <p:spTgt spid="42"/>
                                        </p:tgtEl>
                                      </p:cBhvr>
                                    </p:animEffect>
                                  </p:childTnLst>
                                </p:cTn>
                              </p:par>
                            </p:childTnLst>
                          </p:cTn>
                        </p:par>
                        <p:par>
                          <p:cTn id="64" fill="hold">
                            <p:stCondLst>
                              <p:cond delay="750"/>
                            </p:stCondLst>
                            <p:childTnLst>
                              <p:par>
                                <p:cTn id="65" presetID="10" presetClass="entr" presetSubtype="0" fill="hold"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
                                        <p:tgtEl>
                                          <p:spTgt spid="45"/>
                                        </p:tgtEl>
                                      </p:cBhvr>
                                    </p:animEffect>
                                  </p:childTnLst>
                                </p:cTn>
                              </p:par>
                            </p:childTnLst>
                          </p:cTn>
                        </p:par>
                        <p:par>
                          <p:cTn id="68" fill="hold">
                            <p:stCondLst>
                              <p:cond delay="800"/>
                            </p:stCondLst>
                            <p:childTnLst>
                              <p:par>
                                <p:cTn id="69" presetID="10" presetClass="entr" presetSubtype="0" fill="hold" nodeType="after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50"/>
                                        <p:tgtEl>
                                          <p:spTgt spid="48"/>
                                        </p:tgtEl>
                                      </p:cBhvr>
                                    </p:animEffect>
                                  </p:childTnLst>
                                </p:cTn>
                              </p:par>
                            </p:childTnLst>
                          </p:cTn>
                        </p:par>
                        <p:par>
                          <p:cTn id="72" fill="hold">
                            <p:stCondLst>
                              <p:cond delay="850"/>
                            </p:stCondLst>
                            <p:childTnLst>
                              <p:par>
                                <p:cTn id="73" presetID="10" presetClass="entr" presetSubtype="0" fill="hold" nodeType="after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50"/>
                                        <p:tgtEl>
                                          <p:spTgt spid="51"/>
                                        </p:tgtEl>
                                      </p:cBhvr>
                                    </p:animEffect>
                                  </p:childTnLst>
                                </p:cTn>
                              </p:par>
                            </p:childTnLst>
                          </p:cTn>
                        </p:par>
                        <p:par>
                          <p:cTn id="76" fill="hold">
                            <p:stCondLst>
                              <p:cond delay="900"/>
                            </p:stCondLst>
                            <p:childTnLst>
                              <p:par>
                                <p:cTn id="77" presetID="10" presetClass="entr" presetSubtype="0" fill="hold" nodeType="after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fade">
                                      <p:cBhvr>
                                        <p:cTn id="79" dur="50"/>
                                        <p:tgtEl>
                                          <p:spTgt spid="52"/>
                                        </p:tgtEl>
                                      </p:cBhvr>
                                    </p:animEffect>
                                  </p:childTnLst>
                                </p:cTn>
                              </p:par>
                            </p:childTnLst>
                          </p:cTn>
                        </p:par>
                        <p:par>
                          <p:cTn id="80" fill="hold">
                            <p:stCondLst>
                              <p:cond delay="950"/>
                            </p:stCondLst>
                            <p:childTnLst>
                              <p:par>
                                <p:cTn id="81" presetID="10" presetClass="entr" presetSubtype="0" fill="hold" nodeType="after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fade">
                                      <p:cBhvr>
                                        <p:cTn id="83" dur="50"/>
                                        <p:tgtEl>
                                          <p:spTgt spid="53"/>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
                                        <p:tgtEl>
                                          <p:spTgt spid="54"/>
                                        </p:tgtEl>
                                      </p:cBhvr>
                                    </p:animEffect>
                                  </p:childTnLst>
                                </p:cTn>
                              </p:par>
                            </p:childTnLst>
                          </p:cTn>
                        </p:par>
                        <p:par>
                          <p:cTn id="88" fill="hold">
                            <p:stCondLst>
                              <p:cond delay="1050"/>
                            </p:stCondLst>
                            <p:childTnLst>
                              <p:par>
                                <p:cTn id="89" presetID="10" presetClass="entr" presetSubtype="0" fill="hold" nodeType="after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fade">
                                      <p:cBhvr>
                                        <p:cTn id="91" dur="50"/>
                                        <p:tgtEl>
                                          <p:spTgt spid="55"/>
                                        </p:tgtEl>
                                      </p:cBhvr>
                                    </p:animEffect>
                                  </p:childTnLst>
                                </p:cTn>
                              </p:par>
                            </p:childTnLst>
                          </p:cTn>
                        </p:par>
                        <p:par>
                          <p:cTn id="92" fill="hold">
                            <p:stCondLst>
                              <p:cond delay="1100"/>
                            </p:stCondLst>
                            <p:childTnLst>
                              <p:par>
                                <p:cTn id="93" presetID="10" presetClass="entr" presetSubtype="0" fill="hold" nodeType="afterEffect">
                                  <p:stCondLst>
                                    <p:cond delay="0"/>
                                  </p:stCondLst>
                                  <p:childTnLst>
                                    <p:set>
                                      <p:cBhvr>
                                        <p:cTn id="94" dur="1" fill="hold">
                                          <p:stCondLst>
                                            <p:cond delay="0"/>
                                          </p:stCondLst>
                                        </p:cTn>
                                        <p:tgtEl>
                                          <p:spTgt spid="56"/>
                                        </p:tgtEl>
                                        <p:attrNameLst>
                                          <p:attrName>style.visibility</p:attrName>
                                        </p:attrNameLst>
                                      </p:cBhvr>
                                      <p:to>
                                        <p:strVal val="visible"/>
                                      </p:to>
                                    </p:set>
                                    <p:animEffect transition="in" filter="fade">
                                      <p:cBhvr>
                                        <p:cTn id="95" dur="50"/>
                                        <p:tgtEl>
                                          <p:spTgt spid="56"/>
                                        </p:tgtEl>
                                      </p:cBhvr>
                                    </p:animEffect>
                                  </p:childTnLst>
                                </p:cTn>
                              </p:par>
                            </p:childTnLst>
                          </p:cTn>
                        </p:par>
                        <p:par>
                          <p:cTn id="96" fill="hold">
                            <p:stCondLst>
                              <p:cond delay="1150"/>
                            </p:stCondLst>
                            <p:childTnLst>
                              <p:par>
                                <p:cTn id="97" presetID="10" presetClass="entr" presetSubtype="0" fill="hold" nodeType="after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fade">
                                      <p:cBhvr>
                                        <p:cTn id="99" dur="50"/>
                                        <p:tgtEl>
                                          <p:spTgt spid="57"/>
                                        </p:tgtEl>
                                      </p:cBhvr>
                                    </p:animEffect>
                                  </p:childTnLst>
                                </p:cTn>
                              </p:par>
                            </p:childTnLst>
                          </p:cTn>
                        </p:par>
                        <p:par>
                          <p:cTn id="100" fill="hold">
                            <p:stCondLst>
                              <p:cond delay="1200"/>
                            </p:stCondLst>
                            <p:childTnLst>
                              <p:par>
                                <p:cTn id="101" presetID="10" presetClass="entr" presetSubtype="0" fill="hold" nodeType="after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50"/>
                                        <p:tgtEl>
                                          <p:spTgt spid="58"/>
                                        </p:tgtEl>
                                      </p:cBhvr>
                                    </p:animEffect>
                                  </p:childTnLst>
                                </p:cTn>
                              </p:par>
                            </p:childTnLst>
                          </p:cTn>
                        </p:par>
                        <p:par>
                          <p:cTn id="104" fill="hold">
                            <p:stCondLst>
                              <p:cond delay="1250"/>
                            </p:stCondLst>
                            <p:childTnLst>
                              <p:par>
                                <p:cTn id="105" presetID="10" presetClass="entr" presetSubtype="0" fill="hold" nodeType="after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50"/>
                                        <p:tgtEl>
                                          <p:spTgt spid="61"/>
                                        </p:tgtEl>
                                      </p:cBhvr>
                                    </p:animEffect>
                                  </p:childTnLst>
                                </p:cTn>
                              </p:par>
                            </p:childTnLst>
                          </p:cTn>
                        </p:par>
                        <p:par>
                          <p:cTn id="108" fill="hold">
                            <p:stCondLst>
                              <p:cond delay="1300"/>
                            </p:stCondLst>
                            <p:childTnLst>
                              <p:par>
                                <p:cTn id="109" presetID="10" presetClass="entr" presetSubtype="0" fill="hold" nodeType="after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50"/>
                                        <p:tgtEl>
                                          <p:spTgt spid="59"/>
                                        </p:tgtEl>
                                      </p:cBhvr>
                                    </p:animEffect>
                                  </p:childTnLst>
                                </p:cTn>
                              </p:par>
                            </p:childTnLst>
                          </p:cTn>
                        </p:par>
                        <p:par>
                          <p:cTn id="112" fill="hold">
                            <p:stCondLst>
                              <p:cond delay="1350"/>
                            </p:stCondLst>
                            <p:childTnLst>
                              <p:par>
                                <p:cTn id="113" presetID="10" presetClass="entr" presetSubtype="0" fill="hold" nodeType="afterEffect">
                                  <p:stCondLst>
                                    <p:cond delay="0"/>
                                  </p:stCondLst>
                                  <p:childTnLst>
                                    <p:set>
                                      <p:cBhvr>
                                        <p:cTn id="114" dur="1" fill="hold">
                                          <p:stCondLst>
                                            <p:cond delay="0"/>
                                          </p:stCondLst>
                                        </p:cTn>
                                        <p:tgtEl>
                                          <p:spTgt spid="60"/>
                                        </p:tgtEl>
                                        <p:attrNameLst>
                                          <p:attrName>style.visibility</p:attrName>
                                        </p:attrNameLst>
                                      </p:cBhvr>
                                      <p:to>
                                        <p:strVal val="visible"/>
                                      </p:to>
                                    </p:set>
                                    <p:animEffect transition="in" filter="fade">
                                      <p:cBhvr>
                                        <p:cTn id="115" dur="50"/>
                                        <p:tgtEl>
                                          <p:spTgt spid="60"/>
                                        </p:tgtEl>
                                      </p:cBhvr>
                                    </p:animEffect>
                                  </p:childTnLst>
                                </p:cTn>
                              </p:par>
                            </p:childTnLst>
                          </p:cTn>
                        </p:par>
                        <p:par>
                          <p:cTn id="116" fill="hold">
                            <p:stCondLst>
                              <p:cond delay="1400"/>
                            </p:stCondLst>
                            <p:childTnLst>
                              <p:par>
                                <p:cTn id="117" presetID="10" presetClass="entr" presetSubtype="0" fill="hold" nodeType="after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50"/>
                                        <p:tgtEl>
                                          <p:spTgt spid="63"/>
                                        </p:tgtEl>
                                      </p:cBhvr>
                                    </p:animEffect>
                                  </p:childTnLst>
                                </p:cTn>
                              </p:par>
                            </p:childTnLst>
                          </p:cTn>
                        </p:par>
                        <p:par>
                          <p:cTn id="120" fill="hold">
                            <p:stCondLst>
                              <p:cond delay="1450"/>
                            </p:stCondLst>
                            <p:childTnLst>
                              <p:par>
                                <p:cTn id="121" presetID="10" presetClass="entr" presetSubtype="0" fill="hold" nodeType="afterEffect">
                                  <p:stCondLst>
                                    <p:cond delay="0"/>
                                  </p:stCondLst>
                                  <p:childTnLst>
                                    <p:set>
                                      <p:cBhvr>
                                        <p:cTn id="122" dur="1" fill="hold">
                                          <p:stCondLst>
                                            <p:cond delay="0"/>
                                          </p:stCondLst>
                                        </p:cTn>
                                        <p:tgtEl>
                                          <p:spTgt spid="62"/>
                                        </p:tgtEl>
                                        <p:attrNameLst>
                                          <p:attrName>style.visibility</p:attrName>
                                        </p:attrNameLst>
                                      </p:cBhvr>
                                      <p:to>
                                        <p:strVal val="visible"/>
                                      </p:to>
                                    </p:set>
                                    <p:animEffect transition="in" filter="fade">
                                      <p:cBhvr>
                                        <p:cTn id="123" dur="50"/>
                                        <p:tgtEl>
                                          <p:spTgt spid="62"/>
                                        </p:tgtEl>
                                      </p:cBhvr>
                                    </p:animEffect>
                                  </p:childTnLst>
                                </p:cTn>
                              </p:par>
                            </p:childTnLst>
                          </p:cTn>
                        </p:par>
                        <p:par>
                          <p:cTn id="124" fill="hold">
                            <p:stCondLst>
                              <p:cond delay="1500"/>
                            </p:stCondLst>
                            <p:childTnLst>
                              <p:par>
                                <p:cTn id="125" presetID="10" presetClass="entr" presetSubtype="0" fill="hold" nodeType="afterEffect">
                                  <p:stCondLst>
                                    <p:cond delay="0"/>
                                  </p:stCondLst>
                                  <p:childTnLst>
                                    <p:set>
                                      <p:cBhvr>
                                        <p:cTn id="126" dur="1" fill="hold">
                                          <p:stCondLst>
                                            <p:cond delay="0"/>
                                          </p:stCondLst>
                                        </p:cTn>
                                        <p:tgtEl>
                                          <p:spTgt spid="65"/>
                                        </p:tgtEl>
                                        <p:attrNameLst>
                                          <p:attrName>style.visibility</p:attrName>
                                        </p:attrNameLst>
                                      </p:cBhvr>
                                      <p:to>
                                        <p:strVal val="visible"/>
                                      </p:to>
                                    </p:set>
                                    <p:animEffect transition="in" filter="fade">
                                      <p:cBhvr>
                                        <p:cTn id="127" dur="50"/>
                                        <p:tgtEl>
                                          <p:spTgt spid="65"/>
                                        </p:tgtEl>
                                      </p:cBhvr>
                                    </p:animEffect>
                                  </p:childTnLst>
                                </p:cTn>
                              </p:par>
                            </p:childTnLst>
                          </p:cTn>
                        </p:par>
                        <p:par>
                          <p:cTn id="128" fill="hold">
                            <p:stCondLst>
                              <p:cond delay="1550"/>
                            </p:stCondLst>
                            <p:childTnLst>
                              <p:par>
                                <p:cTn id="129" presetID="10" presetClass="entr" presetSubtype="0" fill="hold" nodeType="afterEffect">
                                  <p:stCondLst>
                                    <p:cond delay="0"/>
                                  </p:stCondLst>
                                  <p:childTnLst>
                                    <p:set>
                                      <p:cBhvr>
                                        <p:cTn id="130" dur="1" fill="hold">
                                          <p:stCondLst>
                                            <p:cond delay="0"/>
                                          </p:stCondLst>
                                        </p:cTn>
                                        <p:tgtEl>
                                          <p:spTgt spid="64"/>
                                        </p:tgtEl>
                                        <p:attrNameLst>
                                          <p:attrName>style.visibility</p:attrName>
                                        </p:attrNameLst>
                                      </p:cBhvr>
                                      <p:to>
                                        <p:strVal val="visible"/>
                                      </p:to>
                                    </p:set>
                                    <p:animEffect transition="in" filter="fade">
                                      <p:cBhvr>
                                        <p:cTn id="131" dur="50"/>
                                        <p:tgtEl>
                                          <p:spTgt spid="64"/>
                                        </p:tgtEl>
                                      </p:cBhvr>
                                    </p:animEffect>
                                  </p:childTnLst>
                                </p:cTn>
                              </p:par>
                            </p:childTnLst>
                          </p:cTn>
                        </p:par>
                        <p:par>
                          <p:cTn id="132" fill="hold">
                            <p:stCondLst>
                              <p:cond delay="1600"/>
                            </p:stCondLst>
                            <p:childTnLst>
                              <p:par>
                                <p:cTn id="133" presetID="10" presetClass="entr" presetSubtype="0" fill="hold" nodeType="afterEffect">
                                  <p:stCondLst>
                                    <p:cond delay="0"/>
                                  </p:stCondLst>
                                  <p:childTnLst>
                                    <p:set>
                                      <p:cBhvr>
                                        <p:cTn id="134" dur="1" fill="hold">
                                          <p:stCondLst>
                                            <p:cond delay="0"/>
                                          </p:stCondLst>
                                        </p:cTn>
                                        <p:tgtEl>
                                          <p:spTgt spid="86"/>
                                        </p:tgtEl>
                                        <p:attrNameLst>
                                          <p:attrName>style.visibility</p:attrName>
                                        </p:attrNameLst>
                                      </p:cBhvr>
                                      <p:to>
                                        <p:strVal val="visible"/>
                                      </p:to>
                                    </p:set>
                                    <p:animEffect transition="in" filter="fade">
                                      <p:cBhvr>
                                        <p:cTn id="135" dur="50"/>
                                        <p:tgtEl>
                                          <p:spTgt spid="86"/>
                                        </p:tgtEl>
                                      </p:cBhvr>
                                    </p:animEffect>
                                  </p:childTnLst>
                                </p:cTn>
                              </p:par>
                            </p:childTnLst>
                          </p:cTn>
                        </p:par>
                        <p:par>
                          <p:cTn id="136" fill="hold">
                            <p:stCondLst>
                              <p:cond delay="1650"/>
                            </p:stCondLst>
                            <p:childTnLst>
                              <p:par>
                                <p:cTn id="137" presetID="10" presetClass="entr" presetSubtype="0" fill="hold" nodeType="afterEffect">
                                  <p:stCondLst>
                                    <p:cond delay="0"/>
                                  </p:stCondLst>
                                  <p:childTnLst>
                                    <p:set>
                                      <p:cBhvr>
                                        <p:cTn id="138" dur="1" fill="hold">
                                          <p:stCondLst>
                                            <p:cond delay="0"/>
                                          </p:stCondLst>
                                        </p:cTn>
                                        <p:tgtEl>
                                          <p:spTgt spid="66"/>
                                        </p:tgtEl>
                                        <p:attrNameLst>
                                          <p:attrName>style.visibility</p:attrName>
                                        </p:attrNameLst>
                                      </p:cBhvr>
                                      <p:to>
                                        <p:strVal val="visible"/>
                                      </p:to>
                                    </p:set>
                                    <p:animEffect transition="in" filter="fade">
                                      <p:cBhvr>
                                        <p:cTn id="139" dur="50"/>
                                        <p:tgtEl>
                                          <p:spTgt spid="66"/>
                                        </p:tgtEl>
                                      </p:cBhvr>
                                    </p:animEffect>
                                  </p:childTnLst>
                                </p:cTn>
                              </p:par>
                            </p:childTnLst>
                          </p:cTn>
                        </p:par>
                        <p:par>
                          <p:cTn id="140" fill="hold">
                            <p:stCondLst>
                              <p:cond delay="1700"/>
                            </p:stCondLst>
                            <p:childTnLst>
                              <p:par>
                                <p:cTn id="141" presetID="10" presetClass="entr" presetSubtype="0" fill="hold" nodeType="afterEffect">
                                  <p:stCondLst>
                                    <p:cond delay="0"/>
                                  </p:stCondLst>
                                  <p:childTnLst>
                                    <p:set>
                                      <p:cBhvr>
                                        <p:cTn id="142" dur="1" fill="hold">
                                          <p:stCondLst>
                                            <p:cond delay="0"/>
                                          </p:stCondLst>
                                        </p:cTn>
                                        <p:tgtEl>
                                          <p:spTgt spid="68"/>
                                        </p:tgtEl>
                                        <p:attrNameLst>
                                          <p:attrName>style.visibility</p:attrName>
                                        </p:attrNameLst>
                                      </p:cBhvr>
                                      <p:to>
                                        <p:strVal val="visible"/>
                                      </p:to>
                                    </p:set>
                                    <p:animEffect transition="in" filter="fade">
                                      <p:cBhvr>
                                        <p:cTn id="143" dur="50"/>
                                        <p:tgtEl>
                                          <p:spTgt spid="68"/>
                                        </p:tgtEl>
                                      </p:cBhvr>
                                    </p:animEffect>
                                  </p:childTnLst>
                                </p:cTn>
                              </p:par>
                            </p:childTnLst>
                          </p:cTn>
                        </p:par>
                        <p:par>
                          <p:cTn id="144" fill="hold">
                            <p:stCondLst>
                              <p:cond delay="1750"/>
                            </p:stCondLst>
                            <p:childTnLst>
                              <p:par>
                                <p:cTn id="145" presetID="10" presetClass="entr" presetSubtype="0" fill="hold" nodeType="afterEffect">
                                  <p:stCondLst>
                                    <p:cond delay="0"/>
                                  </p:stCondLst>
                                  <p:childTnLst>
                                    <p:set>
                                      <p:cBhvr>
                                        <p:cTn id="146" dur="1" fill="hold">
                                          <p:stCondLst>
                                            <p:cond delay="0"/>
                                          </p:stCondLst>
                                        </p:cTn>
                                        <p:tgtEl>
                                          <p:spTgt spid="69"/>
                                        </p:tgtEl>
                                        <p:attrNameLst>
                                          <p:attrName>style.visibility</p:attrName>
                                        </p:attrNameLst>
                                      </p:cBhvr>
                                      <p:to>
                                        <p:strVal val="visible"/>
                                      </p:to>
                                    </p:set>
                                    <p:animEffect transition="in" filter="fade">
                                      <p:cBhvr>
                                        <p:cTn id="147" dur="50"/>
                                        <p:tgtEl>
                                          <p:spTgt spid="69"/>
                                        </p:tgtEl>
                                      </p:cBhvr>
                                    </p:animEffect>
                                  </p:childTnLst>
                                </p:cTn>
                              </p:par>
                            </p:childTnLst>
                          </p:cTn>
                        </p:par>
                        <p:par>
                          <p:cTn id="148" fill="hold">
                            <p:stCondLst>
                              <p:cond delay="1800"/>
                            </p:stCondLst>
                            <p:childTnLst>
                              <p:par>
                                <p:cTn id="149" presetID="10" presetClass="entr" presetSubtype="0" fill="hold" nodeType="afterEffect">
                                  <p:stCondLst>
                                    <p:cond delay="0"/>
                                  </p:stCondLst>
                                  <p:childTnLst>
                                    <p:set>
                                      <p:cBhvr>
                                        <p:cTn id="150" dur="1" fill="hold">
                                          <p:stCondLst>
                                            <p:cond delay="0"/>
                                          </p:stCondLst>
                                        </p:cTn>
                                        <p:tgtEl>
                                          <p:spTgt spid="70"/>
                                        </p:tgtEl>
                                        <p:attrNameLst>
                                          <p:attrName>style.visibility</p:attrName>
                                        </p:attrNameLst>
                                      </p:cBhvr>
                                      <p:to>
                                        <p:strVal val="visible"/>
                                      </p:to>
                                    </p:set>
                                    <p:animEffect transition="in" filter="fade">
                                      <p:cBhvr>
                                        <p:cTn id="151" dur="50"/>
                                        <p:tgtEl>
                                          <p:spTgt spid="70"/>
                                        </p:tgtEl>
                                      </p:cBhvr>
                                    </p:animEffect>
                                  </p:childTnLst>
                                </p:cTn>
                              </p:par>
                            </p:childTnLst>
                          </p:cTn>
                        </p:par>
                        <p:par>
                          <p:cTn id="152" fill="hold">
                            <p:stCondLst>
                              <p:cond delay="1850"/>
                            </p:stCondLst>
                            <p:childTnLst>
                              <p:par>
                                <p:cTn id="153" presetID="10" presetClass="entr" presetSubtype="0" fill="hold" nodeType="after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
                                        <p:tgtEl>
                                          <p:spTgt spid="67"/>
                                        </p:tgtEl>
                                      </p:cBhvr>
                                    </p:animEffect>
                                  </p:childTnLst>
                                </p:cTn>
                              </p:par>
                            </p:childTnLst>
                          </p:cTn>
                        </p:par>
                        <p:par>
                          <p:cTn id="156" fill="hold">
                            <p:stCondLst>
                              <p:cond delay="1900"/>
                            </p:stCondLst>
                            <p:childTnLst>
                              <p:par>
                                <p:cTn id="157" presetID="10" presetClass="entr" presetSubtype="0" fill="hold" grpId="0" nodeType="afterEffect">
                                  <p:stCondLst>
                                    <p:cond delay="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50"/>
                                        <p:tgtEl>
                                          <p:spTgt spid="71"/>
                                        </p:tgtEl>
                                      </p:cBhvr>
                                    </p:animEffect>
                                  </p:childTnLst>
                                </p:cTn>
                              </p:par>
                            </p:childTnLst>
                          </p:cTn>
                        </p:par>
                        <p:par>
                          <p:cTn id="160" fill="hold">
                            <p:stCondLst>
                              <p:cond delay="1950"/>
                            </p:stCondLst>
                            <p:childTnLst>
                              <p:par>
                                <p:cTn id="161" presetID="10" presetClass="entr" presetSubtype="0" fill="hold" grpId="0" nodeType="afterEffect">
                                  <p:stCondLst>
                                    <p:cond delay="0"/>
                                  </p:stCondLst>
                                  <p:childTnLst>
                                    <p:set>
                                      <p:cBhvr>
                                        <p:cTn id="162" dur="1" fill="hold">
                                          <p:stCondLst>
                                            <p:cond delay="0"/>
                                          </p:stCondLst>
                                        </p:cTn>
                                        <p:tgtEl>
                                          <p:spTgt spid="72"/>
                                        </p:tgtEl>
                                        <p:attrNameLst>
                                          <p:attrName>style.visibility</p:attrName>
                                        </p:attrNameLst>
                                      </p:cBhvr>
                                      <p:to>
                                        <p:strVal val="visible"/>
                                      </p:to>
                                    </p:set>
                                    <p:animEffect transition="in" filter="fade">
                                      <p:cBhvr>
                                        <p:cTn id="163" dur="50"/>
                                        <p:tgtEl>
                                          <p:spTgt spid="72"/>
                                        </p:tgtEl>
                                      </p:cBhvr>
                                    </p:animEffect>
                                  </p:childTnLst>
                                </p:cTn>
                              </p:par>
                            </p:childTnLst>
                          </p:cTn>
                        </p:par>
                        <p:par>
                          <p:cTn id="164" fill="hold">
                            <p:stCondLst>
                              <p:cond delay="2000"/>
                            </p:stCondLst>
                            <p:childTnLst>
                              <p:par>
                                <p:cTn id="165" presetID="10" presetClass="entr" presetSubtype="0" fill="hold" grpId="0" nodeType="afterEffect">
                                  <p:stCondLst>
                                    <p:cond delay="0"/>
                                  </p:stCondLst>
                                  <p:childTnLst>
                                    <p:set>
                                      <p:cBhvr>
                                        <p:cTn id="166" dur="1" fill="hold">
                                          <p:stCondLst>
                                            <p:cond delay="0"/>
                                          </p:stCondLst>
                                        </p:cTn>
                                        <p:tgtEl>
                                          <p:spTgt spid="73"/>
                                        </p:tgtEl>
                                        <p:attrNameLst>
                                          <p:attrName>style.visibility</p:attrName>
                                        </p:attrNameLst>
                                      </p:cBhvr>
                                      <p:to>
                                        <p:strVal val="visible"/>
                                      </p:to>
                                    </p:set>
                                    <p:animEffect transition="in" filter="fade">
                                      <p:cBhvr>
                                        <p:cTn id="167" dur="50"/>
                                        <p:tgtEl>
                                          <p:spTgt spid="73"/>
                                        </p:tgtEl>
                                      </p:cBhvr>
                                    </p:animEffect>
                                  </p:childTnLst>
                                </p:cTn>
                              </p:par>
                            </p:childTnLst>
                          </p:cTn>
                        </p:par>
                        <p:par>
                          <p:cTn id="168" fill="hold">
                            <p:stCondLst>
                              <p:cond delay="2050"/>
                            </p:stCondLst>
                            <p:childTnLst>
                              <p:par>
                                <p:cTn id="169" presetID="10" presetClass="entr" presetSubtype="0" fill="hold" grpId="0" nodeType="afterEffect">
                                  <p:stCondLst>
                                    <p:cond delay="0"/>
                                  </p:stCondLst>
                                  <p:childTnLst>
                                    <p:set>
                                      <p:cBhvr>
                                        <p:cTn id="170" dur="1" fill="hold">
                                          <p:stCondLst>
                                            <p:cond delay="0"/>
                                          </p:stCondLst>
                                        </p:cTn>
                                        <p:tgtEl>
                                          <p:spTgt spid="74"/>
                                        </p:tgtEl>
                                        <p:attrNameLst>
                                          <p:attrName>style.visibility</p:attrName>
                                        </p:attrNameLst>
                                      </p:cBhvr>
                                      <p:to>
                                        <p:strVal val="visible"/>
                                      </p:to>
                                    </p:set>
                                    <p:animEffect transition="in" filter="fade">
                                      <p:cBhvr>
                                        <p:cTn id="171" dur="50"/>
                                        <p:tgtEl>
                                          <p:spTgt spid="74"/>
                                        </p:tgtEl>
                                      </p:cBhvr>
                                    </p:animEffect>
                                  </p:childTnLst>
                                </p:cTn>
                              </p:par>
                            </p:childTnLst>
                          </p:cTn>
                        </p:par>
                        <p:par>
                          <p:cTn id="172" fill="hold">
                            <p:stCondLst>
                              <p:cond delay="2100"/>
                            </p:stCondLst>
                            <p:childTnLst>
                              <p:par>
                                <p:cTn id="173" presetID="10" presetClass="entr" presetSubtype="0" fill="hold" grpId="0" nodeType="afterEffect">
                                  <p:stCondLst>
                                    <p:cond delay="0"/>
                                  </p:stCondLst>
                                  <p:childTnLst>
                                    <p:set>
                                      <p:cBhvr>
                                        <p:cTn id="174" dur="1" fill="hold">
                                          <p:stCondLst>
                                            <p:cond delay="0"/>
                                          </p:stCondLst>
                                        </p:cTn>
                                        <p:tgtEl>
                                          <p:spTgt spid="75"/>
                                        </p:tgtEl>
                                        <p:attrNameLst>
                                          <p:attrName>style.visibility</p:attrName>
                                        </p:attrNameLst>
                                      </p:cBhvr>
                                      <p:to>
                                        <p:strVal val="visible"/>
                                      </p:to>
                                    </p:set>
                                    <p:animEffect transition="in" filter="fade">
                                      <p:cBhvr>
                                        <p:cTn id="175" dur="50"/>
                                        <p:tgtEl>
                                          <p:spTgt spid="75"/>
                                        </p:tgtEl>
                                      </p:cBhvr>
                                    </p:animEffect>
                                  </p:childTnLst>
                                </p:cTn>
                              </p:par>
                            </p:childTnLst>
                          </p:cTn>
                        </p:par>
                        <p:par>
                          <p:cTn id="176" fill="hold">
                            <p:stCondLst>
                              <p:cond delay="2150"/>
                            </p:stCondLst>
                            <p:childTnLst>
                              <p:par>
                                <p:cTn id="177" presetID="10" presetClass="entr" presetSubtype="0" fill="hold" grpId="0" nodeType="afterEffect">
                                  <p:stCondLst>
                                    <p:cond delay="0"/>
                                  </p:stCondLst>
                                  <p:childTnLst>
                                    <p:set>
                                      <p:cBhvr>
                                        <p:cTn id="178" dur="1" fill="hold">
                                          <p:stCondLst>
                                            <p:cond delay="0"/>
                                          </p:stCondLst>
                                        </p:cTn>
                                        <p:tgtEl>
                                          <p:spTgt spid="76"/>
                                        </p:tgtEl>
                                        <p:attrNameLst>
                                          <p:attrName>style.visibility</p:attrName>
                                        </p:attrNameLst>
                                      </p:cBhvr>
                                      <p:to>
                                        <p:strVal val="visible"/>
                                      </p:to>
                                    </p:set>
                                    <p:animEffect transition="in" filter="fade">
                                      <p:cBhvr>
                                        <p:cTn id="179" dur="50"/>
                                        <p:tgtEl>
                                          <p:spTgt spid="76"/>
                                        </p:tgtEl>
                                      </p:cBhvr>
                                    </p:animEffect>
                                  </p:childTnLst>
                                </p:cTn>
                              </p:par>
                            </p:childTnLst>
                          </p:cTn>
                        </p:par>
                        <p:par>
                          <p:cTn id="180" fill="hold">
                            <p:stCondLst>
                              <p:cond delay="2200"/>
                            </p:stCondLst>
                            <p:childTnLst>
                              <p:par>
                                <p:cTn id="181" presetID="10" presetClass="entr" presetSubtype="0" fill="hold" grpId="0" nodeType="afterEffect">
                                  <p:stCondLst>
                                    <p:cond delay="0"/>
                                  </p:stCondLst>
                                  <p:childTnLst>
                                    <p:set>
                                      <p:cBhvr>
                                        <p:cTn id="182" dur="1" fill="hold">
                                          <p:stCondLst>
                                            <p:cond delay="0"/>
                                          </p:stCondLst>
                                        </p:cTn>
                                        <p:tgtEl>
                                          <p:spTgt spid="77"/>
                                        </p:tgtEl>
                                        <p:attrNameLst>
                                          <p:attrName>style.visibility</p:attrName>
                                        </p:attrNameLst>
                                      </p:cBhvr>
                                      <p:to>
                                        <p:strVal val="visible"/>
                                      </p:to>
                                    </p:set>
                                    <p:animEffect transition="in" filter="fade">
                                      <p:cBhvr>
                                        <p:cTn id="183" dur="50"/>
                                        <p:tgtEl>
                                          <p:spTgt spid="77"/>
                                        </p:tgtEl>
                                      </p:cBhvr>
                                    </p:animEffect>
                                  </p:childTnLst>
                                </p:cTn>
                              </p:par>
                            </p:childTnLst>
                          </p:cTn>
                        </p:par>
                        <p:par>
                          <p:cTn id="184" fill="hold">
                            <p:stCondLst>
                              <p:cond delay="2250"/>
                            </p:stCondLst>
                            <p:childTnLst>
                              <p:par>
                                <p:cTn id="185" presetID="10" presetClass="entr" presetSubtype="0" fill="hold" grpId="0" nodeType="afterEffect">
                                  <p:stCondLst>
                                    <p:cond delay="0"/>
                                  </p:stCondLst>
                                  <p:childTnLst>
                                    <p:set>
                                      <p:cBhvr>
                                        <p:cTn id="186" dur="1" fill="hold">
                                          <p:stCondLst>
                                            <p:cond delay="0"/>
                                          </p:stCondLst>
                                        </p:cTn>
                                        <p:tgtEl>
                                          <p:spTgt spid="78"/>
                                        </p:tgtEl>
                                        <p:attrNameLst>
                                          <p:attrName>style.visibility</p:attrName>
                                        </p:attrNameLst>
                                      </p:cBhvr>
                                      <p:to>
                                        <p:strVal val="visible"/>
                                      </p:to>
                                    </p:set>
                                    <p:animEffect transition="in" filter="fade">
                                      <p:cBhvr>
                                        <p:cTn id="187" dur="50"/>
                                        <p:tgtEl>
                                          <p:spTgt spid="78"/>
                                        </p:tgtEl>
                                      </p:cBhvr>
                                    </p:animEffect>
                                  </p:childTnLst>
                                </p:cTn>
                              </p:par>
                            </p:childTnLst>
                          </p:cTn>
                        </p:par>
                        <p:par>
                          <p:cTn id="188" fill="hold">
                            <p:stCondLst>
                              <p:cond delay="2300"/>
                            </p:stCondLst>
                            <p:childTnLst>
                              <p:par>
                                <p:cTn id="189" presetID="10" presetClass="entr" presetSubtype="0" fill="hold" grpId="0" nodeType="afterEffect">
                                  <p:stCondLst>
                                    <p:cond delay="0"/>
                                  </p:stCondLst>
                                  <p:childTnLst>
                                    <p:set>
                                      <p:cBhvr>
                                        <p:cTn id="190" dur="1" fill="hold">
                                          <p:stCondLst>
                                            <p:cond delay="0"/>
                                          </p:stCondLst>
                                        </p:cTn>
                                        <p:tgtEl>
                                          <p:spTgt spid="79"/>
                                        </p:tgtEl>
                                        <p:attrNameLst>
                                          <p:attrName>style.visibility</p:attrName>
                                        </p:attrNameLst>
                                      </p:cBhvr>
                                      <p:to>
                                        <p:strVal val="visible"/>
                                      </p:to>
                                    </p:set>
                                    <p:animEffect transition="in" filter="fade">
                                      <p:cBhvr>
                                        <p:cTn id="191" dur="50"/>
                                        <p:tgtEl>
                                          <p:spTgt spid="79"/>
                                        </p:tgtEl>
                                      </p:cBhvr>
                                    </p:animEffect>
                                  </p:childTnLst>
                                </p:cTn>
                              </p:par>
                            </p:childTnLst>
                          </p:cTn>
                        </p:par>
                        <p:par>
                          <p:cTn id="192" fill="hold">
                            <p:stCondLst>
                              <p:cond delay="2350"/>
                            </p:stCondLst>
                            <p:childTnLst>
                              <p:par>
                                <p:cTn id="193" presetID="10" presetClass="entr" presetSubtype="0" fill="hold" grpId="0" nodeType="afterEffect">
                                  <p:stCondLst>
                                    <p:cond delay="0"/>
                                  </p:stCondLst>
                                  <p:childTnLst>
                                    <p:set>
                                      <p:cBhvr>
                                        <p:cTn id="194" dur="1" fill="hold">
                                          <p:stCondLst>
                                            <p:cond delay="0"/>
                                          </p:stCondLst>
                                        </p:cTn>
                                        <p:tgtEl>
                                          <p:spTgt spid="80"/>
                                        </p:tgtEl>
                                        <p:attrNameLst>
                                          <p:attrName>style.visibility</p:attrName>
                                        </p:attrNameLst>
                                      </p:cBhvr>
                                      <p:to>
                                        <p:strVal val="visible"/>
                                      </p:to>
                                    </p:set>
                                    <p:animEffect transition="in" filter="fade">
                                      <p:cBhvr>
                                        <p:cTn id="195" dur="50"/>
                                        <p:tgtEl>
                                          <p:spTgt spid="80"/>
                                        </p:tgtEl>
                                      </p:cBhvr>
                                    </p:animEffect>
                                  </p:childTnLst>
                                </p:cTn>
                              </p:par>
                            </p:childTnLst>
                          </p:cTn>
                        </p:par>
                        <p:par>
                          <p:cTn id="196" fill="hold">
                            <p:stCondLst>
                              <p:cond delay="2400"/>
                            </p:stCondLst>
                            <p:childTnLst>
                              <p:par>
                                <p:cTn id="197" presetID="10" presetClass="entr" presetSubtype="0" fill="hold" grpId="0" nodeType="afterEffect">
                                  <p:stCondLst>
                                    <p:cond delay="0"/>
                                  </p:stCondLst>
                                  <p:childTnLst>
                                    <p:set>
                                      <p:cBhvr>
                                        <p:cTn id="198" dur="1" fill="hold">
                                          <p:stCondLst>
                                            <p:cond delay="0"/>
                                          </p:stCondLst>
                                        </p:cTn>
                                        <p:tgtEl>
                                          <p:spTgt spid="81"/>
                                        </p:tgtEl>
                                        <p:attrNameLst>
                                          <p:attrName>style.visibility</p:attrName>
                                        </p:attrNameLst>
                                      </p:cBhvr>
                                      <p:to>
                                        <p:strVal val="visible"/>
                                      </p:to>
                                    </p:set>
                                    <p:animEffect transition="in" filter="fade">
                                      <p:cBhvr>
                                        <p:cTn id="199" dur="50"/>
                                        <p:tgtEl>
                                          <p:spTgt spid="81"/>
                                        </p:tgtEl>
                                      </p:cBhvr>
                                    </p:animEffect>
                                  </p:childTnLst>
                                </p:cTn>
                              </p:par>
                            </p:childTnLst>
                          </p:cTn>
                        </p:par>
                        <p:par>
                          <p:cTn id="200" fill="hold">
                            <p:stCondLst>
                              <p:cond delay="2450"/>
                            </p:stCondLst>
                            <p:childTnLst>
                              <p:par>
                                <p:cTn id="201" presetID="10" presetClass="entr" presetSubtype="0" fill="hold" grpId="0" nodeType="afterEffect">
                                  <p:stCondLst>
                                    <p:cond delay="0"/>
                                  </p:stCondLst>
                                  <p:childTnLst>
                                    <p:set>
                                      <p:cBhvr>
                                        <p:cTn id="202" dur="1" fill="hold">
                                          <p:stCondLst>
                                            <p:cond delay="0"/>
                                          </p:stCondLst>
                                        </p:cTn>
                                        <p:tgtEl>
                                          <p:spTgt spid="82"/>
                                        </p:tgtEl>
                                        <p:attrNameLst>
                                          <p:attrName>style.visibility</p:attrName>
                                        </p:attrNameLst>
                                      </p:cBhvr>
                                      <p:to>
                                        <p:strVal val="visible"/>
                                      </p:to>
                                    </p:set>
                                    <p:animEffect transition="in" filter="fade">
                                      <p:cBhvr>
                                        <p:cTn id="203" dur="50"/>
                                        <p:tgtEl>
                                          <p:spTgt spid="82"/>
                                        </p:tgtEl>
                                      </p:cBhvr>
                                    </p:animEffect>
                                  </p:childTnLst>
                                </p:cTn>
                              </p:par>
                            </p:childTnLst>
                          </p:cTn>
                        </p:par>
                        <p:par>
                          <p:cTn id="204" fill="hold">
                            <p:stCondLst>
                              <p:cond delay="2500"/>
                            </p:stCondLst>
                            <p:childTnLst>
                              <p:par>
                                <p:cTn id="205" presetID="10" presetClass="entr" presetSubtype="0" fill="hold" grpId="0" nodeType="afterEffect">
                                  <p:stCondLst>
                                    <p:cond delay="0"/>
                                  </p:stCondLst>
                                  <p:childTnLst>
                                    <p:set>
                                      <p:cBhvr>
                                        <p:cTn id="206" dur="1" fill="hold">
                                          <p:stCondLst>
                                            <p:cond delay="0"/>
                                          </p:stCondLst>
                                        </p:cTn>
                                        <p:tgtEl>
                                          <p:spTgt spid="83"/>
                                        </p:tgtEl>
                                        <p:attrNameLst>
                                          <p:attrName>style.visibility</p:attrName>
                                        </p:attrNameLst>
                                      </p:cBhvr>
                                      <p:to>
                                        <p:strVal val="visible"/>
                                      </p:to>
                                    </p:set>
                                    <p:animEffect transition="in" filter="fade">
                                      <p:cBhvr>
                                        <p:cTn id="207" dur="50"/>
                                        <p:tgtEl>
                                          <p:spTgt spid="83"/>
                                        </p:tgtEl>
                                      </p:cBhvr>
                                    </p:animEffect>
                                  </p:childTnLst>
                                </p:cTn>
                              </p:par>
                            </p:childTnLst>
                          </p:cTn>
                        </p:par>
                        <p:par>
                          <p:cTn id="208" fill="hold">
                            <p:stCondLst>
                              <p:cond delay="2550"/>
                            </p:stCondLst>
                            <p:childTnLst>
                              <p:par>
                                <p:cTn id="209" presetID="10" presetClass="entr" presetSubtype="0" fill="hold" grpId="0" nodeType="afterEffect">
                                  <p:stCondLst>
                                    <p:cond delay="0"/>
                                  </p:stCondLst>
                                  <p:childTnLst>
                                    <p:set>
                                      <p:cBhvr>
                                        <p:cTn id="210" dur="1" fill="hold">
                                          <p:stCondLst>
                                            <p:cond delay="0"/>
                                          </p:stCondLst>
                                        </p:cTn>
                                        <p:tgtEl>
                                          <p:spTgt spid="84"/>
                                        </p:tgtEl>
                                        <p:attrNameLst>
                                          <p:attrName>style.visibility</p:attrName>
                                        </p:attrNameLst>
                                      </p:cBhvr>
                                      <p:to>
                                        <p:strVal val="visible"/>
                                      </p:to>
                                    </p:set>
                                    <p:animEffect transition="in" filter="fade">
                                      <p:cBhvr>
                                        <p:cTn id="211" dur="50"/>
                                        <p:tgtEl>
                                          <p:spTgt spid="84"/>
                                        </p:tgtEl>
                                      </p:cBhvr>
                                    </p:animEffect>
                                  </p:childTnLst>
                                </p:cTn>
                              </p:par>
                            </p:childTnLst>
                          </p:cTn>
                        </p:par>
                        <p:par>
                          <p:cTn id="212" fill="hold">
                            <p:stCondLst>
                              <p:cond delay="2600"/>
                            </p:stCondLst>
                            <p:childTnLst>
                              <p:par>
                                <p:cTn id="213" presetID="10" presetClass="entr" presetSubtype="0" fill="hold" grpId="0" nodeType="afterEffect">
                                  <p:stCondLst>
                                    <p:cond delay="0"/>
                                  </p:stCondLst>
                                  <p:childTnLst>
                                    <p:set>
                                      <p:cBhvr>
                                        <p:cTn id="214" dur="1" fill="hold">
                                          <p:stCondLst>
                                            <p:cond delay="0"/>
                                          </p:stCondLst>
                                        </p:cTn>
                                        <p:tgtEl>
                                          <p:spTgt spid="85"/>
                                        </p:tgtEl>
                                        <p:attrNameLst>
                                          <p:attrName>style.visibility</p:attrName>
                                        </p:attrNameLst>
                                      </p:cBhvr>
                                      <p:to>
                                        <p:strVal val="visible"/>
                                      </p:to>
                                    </p:set>
                                    <p:animEffect transition="in" filter="fade">
                                      <p:cBhvr>
                                        <p:cTn id="215" dur="50"/>
                                        <p:tgtEl>
                                          <p:spTgt spid="85"/>
                                        </p:tgtEl>
                                      </p:cBhvr>
                                    </p:animEffect>
                                  </p:childTnLst>
                                </p:cTn>
                              </p:par>
                            </p:childTnLst>
                          </p:cTn>
                        </p:par>
                        <p:par>
                          <p:cTn id="216" fill="hold">
                            <p:stCondLst>
                              <p:cond delay="2650"/>
                            </p:stCondLst>
                            <p:childTnLst>
                              <p:par>
                                <p:cTn id="217" presetID="10" presetClass="entr" presetSubtype="0" fill="hold" nodeType="afterEffect">
                                  <p:stCondLst>
                                    <p:cond delay="0"/>
                                  </p:stCondLst>
                                  <p:childTnLst>
                                    <p:set>
                                      <p:cBhvr>
                                        <p:cTn id="218" dur="1" fill="hold">
                                          <p:stCondLst>
                                            <p:cond delay="0"/>
                                          </p:stCondLst>
                                        </p:cTn>
                                        <p:tgtEl>
                                          <p:spTgt spid="87"/>
                                        </p:tgtEl>
                                        <p:attrNameLst>
                                          <p:attrName>style.visibility</p:attrName>
                                        </p:attrNameLst>
                                      </p:cBhvr>
                                      <p:to>
                                        <p:strVal val="visible"/>
                                      </p:to>
                                    </p:set>
                                    <p:animEffect transition="in" filter="fade">
                                      <p:cBhvr>
                                        <p:cTn id="219" dur="50"/>
                                        <p:tgtEl>
                                          <p:spTgt spid="87"/>
                                        </p:tgtEl>
                                      </p:cBhvr>
                                    </p:animEffect>
                                  </p:childTnLst>
                                </p:cTn>
                              </p:par>
                            </p:childTnLst>
                          </p:cTn>
                        </p:par>
                        <p:par>
                          <p:cTn id="220" fill="hold">
                            <p:stCondLst>
                              <p:cond delay="2700"/>
                            </p:stCondLst>
                            <p:childTnLst>
                              <p:par>
                                <p:cTn id="221" presetID="10" presetClass="entr" presetSubtype="0" fill="hold" nodeType="afterEffect">
                                  <p:stCondLst>
                                    <p:cond delay="0"/>
                                  </p:stCondLst>
                                  <p:childTnLst>
                                    <p:set>
                                      <p:cBhvr>
                                        <p:cTn id="222" dur="1" fill="hold">
                                          <p:stCondLst>
                                            <p:cond delay="0"/>
                                          </p:stCondLst>
                                        </p:cTn>
                                        <p:tgtEl>
                                          <p:spTgt spid="90"/>
                                        </p:tgtEl>
                                        <p:attrNameLst>
                                          <p:attrName>style.visibility</p:attrName>
                                        </p:attrNameLst>
                                      </p:cBhvr>
                                      <p:to>
                                        <p:strVal val="visible"/>
                                      </p:to>
                                    </p:set>
                                    <p:animEffect transition="in" filter="fade">
                                      <p:cBhvr>
                                        <p:cTn id="223" dur="50"/>
                                        <p:tgtEl>
                                          <p:spTgt spid="90"/>
                                        </p:tgtEl>
                                      </p:cBhvr>
                                    </p:animEffect>
                                  </p:childTnLst>
                                </p:cTn>
                              </p:par>
                            </p:childTnLst>
                          </p:cTn>
                        </p:par>
                        <p:par>
                          <p:cTn id="224" fill="hold">
                            <p:stCondLst>
                              <p:cond delay="2750"/>
                            </p:stCondLst>
                            <p:childTnLst>
                              <p:par>
                                <p:cTn id="225" presetID="10" presetClass="entr" presetSubtype="0" fill="hold" nodeType="afterEffect">
                                  <p:stCondLst>
                                    <p:cond delay="0"/>
                                  </p:stCondLst>
                                  <p:childTnLst>
                                    <p:set>
                                      <p:cBhvr>
                                        <p:cTn id="226" dur="1" fill="hold">
                                          <p:stCondLst>
                                            <p:cond delay="0"/>
                                          </p:stCondLst>
                                        </p:cTn>
                                        <p:tgtEl>
                                          <p:spTgt spid="93"/>
                                        </p:tgtEl>
                                        <p:attrNameLst>
                                          <p:attrName>style.visibility</p:attrName>
                                        </p:attrNameLst>
                                      </p:cBhvr>
                                      <p:to>
                                        <p:strVal val="visible"/>
                                      </p:to>
                                    </p:set>
                                    <p:animEffect transition="in" filter="fade">
                                      <p:cBhvr>
                                        <p:cTn id="227" dur="50"/>
                                        <p:tgtEl>
                                          <p:spTgt spid="93"/>
                                        </p:tgtEl>
                                      </p:cBhvr>
                                    </p:animEffect>
                                  </p:childTnLst>
                                </p:cTn>
                              </p:par>
                            </p:childTnLst>
                          </p:cTn>
                        </p:par>
                        <p:par>
                          <p:cTn id="228" fill="hold">
                            <p:stCondLst>
                              <p:cond delay="2800"/>
                            </p:stCondLst>
                            <p:childTnLst>
                              <p:par>
                                <p:cTn id="229" presetID="10" presetClass="entr" presetSubtype="0" fill="hold" nodeType="afterEffect">
                                  <p:stCondLst>
                                    <p:cond delay="0"/>
                                  </p:stCondLst>
                                  <p:childTnLst>
                                    <p:set>
                                      <p:cBhvr>
                                        <p:cTn id="230" dur="1" fill="hold">
                                          <p:stCondLst>
                                            <p:cond delay="0"/>
                                          </p:stCondLst>
                                        </p:cTn>
                                        <p:tgtEl>
                                          <p:spTgt spid="96"/>
                                        </p:tgtEl>
                                        <p:attrNameLst>
                                          <p:attrName>style.visibility</p:attrName>
                                        </p:attrNameLst>
                                      </p:cBhvr>
                                      <p:to>
                                        <p:strVal val="visible"/>
                                      </p:to>
                                    </p:set>
                                    <p:animEffect transition="in" filter="fade">
                                      <p:cBhvr>
                                        <p:cTn id="231" dur="5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04399" y="2897547"/>
            <a:ext cx="5499610" cy="1270762"/>
            <a:chOff x="0" y="0"/>
            <a:chExt cx="1448457" cy="334686"/>
          </a:xfrm>
        </p:grpSpPr>
        <p:sp>
          <p:nvSpPr>
            <p:cNvPr id="3" name="Freeform 3"/>
            <p:cNvSpPr/>
            <p:nvPr/>
          </p:nvSpPr>
          <p:spPr>
            <a:xfrm>
              <a:off x="0" y="0"/>
              <a:ext cx="1448457" cy="334686"/>
            </a:xfrm>
            <a:custGeom>
              <a:avLst/>
              <a:gdLst/>
              <a:ahLst/>
              <a:cxnLst/>
              <a:rect l="l" t="t" r="r" b="b"/>
              <a:pathLst>
                <a:path w="1448457" h="334686">
                  <a:moveTo>
                    <a:pt x="71794" y="0"/>
                  </a:moveTo>
                  <a:lnTo>
                    <a:pt x="1376663" y="0"/>
                  </a:lnTo>
                  <a:cubicBezTo>
                    <a:pt x="1416314" y="0"/>
                    <a:pt x="1448457" y="32143"/>
                    <a:pt x="1448457" y="71794"/>
                  </a:cubicBezTo>
                  <a:lnTo>
                    <a:pt x="1448457" y="262893"/>
                  </a:lnTo>
                  <a:cubicBezTo>
                    <a:pt x="1448457" y="281933"/>
                    <a:pt x="1440893" y="300195"/>
                    <a:pt x="1427429" y="313658"/>
                  </a:cubicBezTo>
                  <a:cubicBezTo>
                    <a:pt x="1413965" y="327122"/>
                    <a:pt x="1395704" y="334686"/>
                    <a:pt x="1376663" y="334686"/>
                  </a:cubicBezTo>
                  <a:lnTo>
                    <a:pt x="71794" y="334686"/>
                  </a:lnTo>
                  <a:cubicBezTo>
                    <a:pt x="52753" y="334686"/>
                    <a:pt x="34492" y="327122"/>
                    <a:pt x="21028" y="313658"/>
                  </a:cubicBezTo>
                  <a:cubicBezTo>
                    <a:pt x="7564" y="300195"/>
                    <a:pt x="0" y="281933"/>
                    <a:pt x="0" y="262893"/>
                  </a:cubicBezTo>
                  <a:lnTo>
                    <a:pt x="0" y="71794"/>
                  </a:lnTo>
                  <a:cubicBezTo>
                    <a:pt x="0" y="52753"/>
                    <a:pt x="7564" y="34492"/>
                    <a:pt x="21028" y="21028"/>
                  </a:cubicBezTo>
                  <a:cubicBezTo>
                    <a:pt x="34492" y="7564"/>
                    <a:pt x="52753" y="0"/>
                    <a:pt x="71794" y="0"/>
                  </a:cubicBezTo>
                  <a:close/>
                </a:path>
              </a:pathLst>
            </a:custGeom>
            <a:ln w="38100" cap="rnd">
              <a:solidFill>
                <a:srgbClr val="D5EDF1"/>
              </a:solidFill>
              <a:prstDash val="solid"/>
              <a:round/>
            </a:ln>
          </p:spPr>
        </p:sp>
        <p:sp>
          <p:nvSpPr>
            <p:cNvPr id="4" name="TextBox 4"/>
            <p:cNvSpPr txBox="1"/>
            <p:nvPr/>
          </p:nvSpPr>
          <p:spPr>
            <a:xfrm>
              <a:off x="0" y="-57150"/>
              <a:ext cx="1448457" cy="391836"/>
            </a:xfrm>
            <a:prstGeom prst="rect">
              <a:avLst/>
            </a:prstGeom>
          </p:spPr>
          <p:txBody>
            <a:bodyPr lIns="50800" tIns="50800" rIns="50800" bIns="50800" rtlCol="0" anchor="ctr"/>
            <a:lstStyle/>
            <a:p>
              <a:pPr marL="0" lvl="0" indent="0" algn="ctr">
                <a:lnSpc>
                  <a:spcPts val="2380"/>
                </a:lnSpc>
                <a:spcBef>
                  <a:spcPct val="0"/>
                </a:spcBef>
              </a:pPr>
              <a:endParaRPr/>
            </a:p>
          </p:txBody>
        </p:sp>
      </p:grpSp>
      <p:grpSp>
        <p:nvGrpSpPr>
          <p:cNvPr id="5" name="Group 5"/>
          <p:cNvGrpSpPr/>
          <p:nvPr/>
        </p:nvGrpSpPr>
        <p:grpSpPr>
          <a:xfrm>
            <a:off x="1527861" y="5629979"/>
            <a:ext cx="5529824" cy="1148576"/>
            <a:chOff x="0" y="0"/>
            <a:chExt cx="1456414" cy="302506"/>
          </a:xfrm>
        </p:grpSpPr>
        <p:sp>
          <p:nvSpPr>
            <p:cNvPr id="6" name="Freeform 6"/>
            <p:cNvSpPr/>
            <p:nvPr/>
          </p:nvSpPr>
          <p:spPr>
            <a:xfrm>
              <a:off x="0" y="0"/>
              <a:ext cx="1456414" cy="302506"/>
            </a:xfrm>
            <a:custGeom>
              <a:avLst/>
              <a:gdLst/>
              <a:ahLst/>
              <a:cxnLst/>
              <a:rect l="l" t="t" r="r" b="b"/>
              <a:pathLst>
                <a:path w="1456414" h="302506">
                  <a:moveTo>
                    <a:pt x="71402" y="0"/>
                  </a:moveTo>
                  <a:lnTo>
                    <a:pt x="1385013" y="0"/>
                  </a:lnTo>
                  <a:cubicBezTo>
                    <a:pt x="1424447" y="0"/>
                    <a:pt x="1456414" y="31968"/>
                    <a:pt x="1456414" y="71402"/>
                  </a:cubicBezTo>
                  <a:lnTo>
                    <a:pt x="1456414" y="231104"/>
                  </a:lnTo>
                  <a:cubicBezTo>
                    <a:pt x="1456414" y="250041"/>
                    <a:pt x="1448892" y="268202"/>
                    <a:pt x="1435501" y="281593"/>
                  </a:cubicBezTo>
                  <a:cubicBezTo>
                    <a:pt x="1422111" y="294983"/>
                    <a:pt x="1403950" y="302506"/>
                    <a:pt x="1385013" y="302506"/>
                  </a:cubicBezTo>
                  <a:lnTo>
                    <a:pt x="71402" y="302506"/>
                  </a:lnTo>
                  <a:cubicBezTo>
                    <a:pt x="31968" y="302506"/>
                    <a:pt x="0" y="270538"/>
                    <a:pt x="0" y="231104"/>
                  </a:cubicBezTo>
                  <a:lnTo>
                    <a:pt x="0" y="71402"/>
                  </a:lnTo>
                  <a:cubicBezTo>
                    <a:pt x="0" y="31968"/>
                    <a:pt x="31968" y="0"/>
                    <a:pt x="71402" y="0"/>
                  </a:cubicBezTo>
                  <a:close/>
                </a:path>
              </a:pathLst>
            </a:custGeom>
            <a:ln w="38100" cap="rnd">
              <a:solidFill>
                <a:srgbClr val="D5EDF1"/>
              </a:solidFill>
              <a:prstDash val="solid"/>
              <a:round/>
            </a:ln>
          </p:spPr>
        </p:sp>
        <p:sp>
          <p:nvSpPr>
            <p:cNvPr id="7" name="TextBox 7"/>
            <p:cNvSpPr txBox="1"/>
            <p:nvPr/>
          </p:nvSpPr>
          <p:spPr>
            <a:xfrm>
              <a:off x="0" y="-57150"/>
              <a:ext cx="1456414" cy="359656"/>
            </a:xfrm>
            <a:prstGeom prst="rect">
              <a:avLst/>
            </a:prstGeom>
          </p:spPr>
          <p:txBody>
            <a:bodyPr lIns="50800" tIns="50800" rIns="50800" bIns="50800" rtlCol="0" anchor="ctr"/>
            <a:lstStyle/>
            <a:p>
              <a:pPr marL="0" lvl="0" indent="0" algn="ctr">
                <a:lnSpc>
                  <a:spcPts val="2380"/>
                </a:lnSpc>
                <a:spcBef>
                  <a:spcPct val="0"/>
                </a:spcBef>
              </a:pPr>
              <a:endParaRPr/>
            </a:p>
          </p:txBody>
        </p:sp>
      </p:grpSp>
      <p:grpSp>
        <p:nvGrpSpPr>
          <p:cNvPr id="8" name="Group 8"/>
          <p:cNvGrpSpPr/>
          <p:nvPr/>
        </p:nvGrpSpPr>
        <p:grpSpPr>
          <a:xfrm>
            <a:off x="1504399" y="4275542"/>
            <a:ext cx="5529824" cy="1247203"/>
            <a:chOff x="0" y="0"/>
            <a:chExt cx="1456414" cy="328482"/>
          </a:xfrm>
        </p:grpSpPr>
        <p:sp>
          <p:nvSpPr>
            <p:cNvPr id="9" name="Freeform 9"/>
            <p:cNvSpPr/>
            <p:nvPr/>
          </p:nvSpPr>
          <p:spPr>
            <a:xfrm>
              <a:off x="0" y="0"/>
              <a:ext cx="1456414" cy="328482"/>
            </a:xfrm>
            <a:custGeom>
              <a:avLst/>
              <a:gdLst/>
              <a:ahLst/>
              <a:cxnLst/>
              <a:rect l="l" t="t" r="r" b="b"/>
              <a:pathLst>
                <a:path w="1456414" h="328482">
                  <a:moveTo>
                    <a:pt x="71402" y="0"/>
                  </a:moveTo>
                  <a:lnTo>
                    <a:pt x="1385013" y="0"/>
                  </a:lnTo>
                  <a:cubicBezTo>
                    <a:pt x="1424447" y="0"/>
                    <a:pt x="1456414" y="31968"/>
                    <a:pt x="1456414" y="71402"/>
                  </a:cubicBezTo>
                  <a:lnTo>
                    <a:pt x="1456414" y="257080"/>
                  </a:lnTo>
                  <a:cubicBezTo>
                    <a:pt x="1456414" y="276017"/>
                    <a:pt x="1448892" y="294178"/>
                    <a:pt x="1435501" y="307569"/>
                  </a:cubicBezTo>
                  <a:cubicBezTo>
                    <a:pt x="1422111" y="320959"/>
                    <a:pt x="1403950" y="328482"/>
                    <a:pt x="1385013" y="328482"/>
                  </a:cubicBezTo>
                  <a:lnTo>
                    <a:pt x="71402" y="328482"/>
                  </a:lnTo>
                  <a:cubicBezTo>
                    <a:pt x="31968" y="328482"/>
                    <a:pt x="0" y="296514"/>
                    <a:pt x="0" y="257080"/>
                  </a:cubicBezTo>
                  <a:lnTo>
                    <a:pt x="0" y="71402"/>
                  </a:lnTo>
                  <a:cubicBezTo>
                    <a:pt x="0" y="31968"/>
                    <a:pt x="31968" y="0"/>
                    <a:pt x="71402" y="0"/>
                  </a:cubicBezTo>
                  <a:close/>
                </a:path>
              </a:pathLst>
            </a:custGeom>
            <a:ln w="38100" cap="rnd">
              <a:solidFill>
                <a:srgbClr val="D5EDF1"/>
              </a:solidFill>
              <a:prstDash val="solid"/>
              <a:round/>
            </a:ln>
          </p:spPr>
        </p:sp>
        <p:sp>
          <p:nvSpPr>
            <p:cNvPr id="10" name="TextBox 10"/>
            <p:cNvSpPr txBox="1"/>
            <p:nvPr/>
          </p:nvSpPr>
          <p:spPr>
            <a:xfrm>
              <a:off x="0" y="-57150"/>
              <a:ext cx="1456414" cy="385632"/>
            </a:xfrm>
            <a:prstGeom prst="rect">
              <a:avLst/>
            </a:prstGeom>
          </p:spPr>
          <p:txBody>
            <a:bodyPr lIns="50800" tIns="50800" rIns="50800" bIns="50800" rtlCol="0" anchor="ctr"/>
            <a:lstStyle/>
            <a:p>
              <a:pPr algn="ctr">
                <a:lnSpc>
                  <a:spcPts val="2380"/>
                </a:lnSpc>
              </a:pPr>
              <a:endParaRPr/>
            </a:p>
          </p:txBody>
        </p:sp>
      </p:grpSp>
      <p:grpSp>
        <p:nvGrpSpPr>
          <p:cNvPr id="11" name="Group 11"/>
          <p:cNvGrpSpPr/>
          <p:nvPr/>
        </p:nvGrpSpPr>
        <p:grpSpPr>
          <a:xfrm>
            <a:off x="1474185" y="1436009"/>
            <a:ext cx="5529824" cy="1350251"/>
            <a:chOff x="0" y="0"/>
            <a:chExt cx="1456414" cy="355622"/>
          </a:xfrm>
        </p:grpSpPr>
        <p:sp>
          <p:nvSpPr>
            <p:cNvPr id="12" name="Freeform 12"/>
            <p:cNvSpPr/>
            <p:nvPr/>
          </p:nvSpPr>
          <p:spPr>
            <a:xfrm>
              <a:off x="0" y="0"/>
              <a:ext cx="1456414" cy="355622"/>
            </a:xfrm>
            <a:custGeom>
              <a:avLst/>
              <a:gdLst/>
              <a:ahLst/>
              <a:cxnLst/>
              <a:rect l="l" t="t" r="r" b="b"/>
              <a:pathLst>
                <a:path w="1456414" h="355622">
                  <a:moveTo>
                    <a:pt x="71402" y="0"/>
                  </a:moveTo>
                  <a:lnTo>
                    <a:pt x="1385013" y="0"/>
                  </a:lnTo>
                  <a:cubicBezTo>
                    <a:pt x="1424447" y="0"/>
                    <a:pt x="1456414" y="31968"/>
                    <a:pt x="1456414" y="71402"/>
                  </a:cubicBezTo>
                  <a:lnTo>
                    <a:pt x="1456414" y="284220"/>
                  </a:lnTo>
                  <a:cubicBezTo>
                    <a:pt x="1456414" y="303157"/>
                    <a:pt x="1448892" y="321318"/>
                    <a:pt x="1435501" y="334709"/>
                  </a:cubicBezTo>
                  <a:cubicBezTo>
                    <a:pt x="1422111" y="348099"/>
                    <a:pt x="1403950" y="355622"/>
                    <a:pt x="1385013" y="355622"/>
                  </a:cubicBezTo>
                  <a:lnTo>
                    <a:pt x="71402" y="355622"/>
                  </a:lnTo>
                  <a:cubicBezTo>
                    <a:pt x="31968" y="355622"/>
                    <a:pt x="0" y="323654"/>
                    <a:pt x="0" y="284220"/>
                  </a:cubicBezTo>
                  <a:lnTo>
                    <a:pt x="0" y="71402"/>
                  </a:lnTo>
                  <a:cubicBezTo>
                    <a:pt x="0" y="31968"/>
                    <a:pt x="31968" y="0"/>
                    <a:pt x="71402" y="0"/>
                  </a:cubicBezTo>
                  <a:close/>
                </a:path>
              </a:pathLst>
            </a:custGeom>
            <a:ln w="38100" cap="rnd">
              <a:solidFill>
                <a:srgbClr val="D5EDF1"/>
              </a:solidFill>
              <a:prstDash val="solid"/>
              <a:round/>
            </a:ln>
          </p:spPr>
        </p:sp>
        <p:sp>
          <p:nvSpPr>
            <p:cNvPr id="13" name="TextBox 13"/>
            <p:cNvSpPr txBox="1"/>
            <p:nvPr/>
          </p:nvSpPr>
          <p:spPr>
            <a:xfrm>
              <a:off x="0" y="-57150"/>
              <a:ext cx="1456414" cy="412772"/>
            </a:xfrm>
            <a:prstGeom prst="rect">
              <a:avLst/>
            </a:prstGeom>
          </p:spPr>
          <p:txBody>
            <a:bodyPr lIns="50800" tIns="50800" rIns="50800" bIns="50800" rtlCol="0" anchor="ctr"/>
            <a:lstStyle/>
            <a:p>
              <a:pPr algn="ctr">
                <a:lnSpc>
                  <a:spcPts val="2380"/>
                </a:lnSpc>
              </a:pPr>
              <a:endParaRPr/>
            </a:p>
          </p:txBody>
        </p:sp>
      </p:grpSp>
      <p:grpSp>
        <p:nvGrpSpPr>
          <p:cNvPr id="14" name="Group 14"/>
          <p:cNvGrpSpPr/>
          <p:nvPr/>
        </p:nvGrpSpPr>
        <p:grpSpPr>
          <a:xfrm>
            <a:off x="7247636" y="8158877"/>
            <a:ext cx="5422801" cy="1218397"/>
            <a:chOff x="0" y="0"/>
            <a:chExt cx="1428227" cy="320895"/>
          </a:xfrm>
        </p:grpSpPr>
        <p:sp>
          <p:nvSpPr>
            <p:cNvPr id="15" name="Freeform 15"/>
            <p:cNvSpPr/>
            <p:nvPr/>
          </p:nvSpPr>
          <p:spPr>
            <a:xfrm>
              <a:off x="0" y="0"/>
              <a:ext cx="1428227" cy="320895"/>
            </a:xfrm>
            <a:custGeom>
              <a:avLst/>
              <a:gdLst/>
              <a:ahLst/>
              <a:cxnLst/>
              <a:rect l="l" t="t" r="r" b="b"/>
              <a:pathLst>
                <a:path w="1428227" h="320895">
                  <a:moveTo>
                    <a:pt x="72811" y="0"/>
                  </a:moveTo>
                  <a:lnTo>
                    <a:pt x="1355417" y="0"/>
                  </a:lnTo>
                  <a:cubicBezTo>
                    <a:pt x="1395629" y="0"/>
                    <a:pt x="1428227" y="32598"/>
                    <a:pt x="1428227" y="72811"/>
                  </a:cubicBezTo>
                  <a:lnTo>
                    <a:pt x="1428227" y="248084"/>
                  </a:lnTo>
                  <a:cubicBezTo>
                    <a:pt x="1428227" y="288296"/>
                    <a:pt x="1395629" y="320895"/>
                    <a:pt x="1355417" y="320895"/>
                  </a:cubicBezTo>
                  <a:lnTo>
                    <a:pt x="72811" y="320895"/>
                  </a:lnTo>
                  <a:cubicBezTo>
                    <a:pt x="32598" y="320895"/>
                    <a:pt x="0" y="288296"/>
                    <a:pt x="0" y="248084"/>
                  </a:cubicBezTo>
                  <a:lnTo>
                    <a:pt x="0" y="72811"/>
                  </a:lnTo>
                  <a:cubicBezTo>
                    <a:pt x="0" y="32598"/>
                    <a:pt x="32598" y="0"/>
                    <a:pt x="72811" y="0"/>
                  </a:cubicBezTo>
                  <a:close/>
                </a:path>
              </a:pathLst>
            </a:custGeom>
            <a:ln w="38100" cap="rnd">
              <a:solidFill>
                <a:srgbClr val="D5EDF1"/>
              </a:solidFill>
              <a:prstDash val="solid"/>
              <a:round/>
            </a:ln>
          </p:spPr>
        </p:sp>
        <p:sp>
          <p:nvSpPr>
            <p:cNvPr id="16" name="TextBox 16"/>
            <p:cNvSpPr txBox="1"/>
            <p:nvPr/>
          </p:nvSpPr>
          <p:spPr>
            <a:xfrm>
              <a:off x="0" y="-57150"/>
              <a:ext cx="1428227" cy="378045"/>
            </a:xfrm>
            <a:prstGeom prst="rect">
              <a:avLst/>
            </a:prstGeom>
          </p:spPr>
          <p:txBody>
            <a:bodyPr lIns="50800" tIns="50800" rIns="50800" bIns="50800" rtlCol="0" anchor="ctr"/>
            <a:lstStyle/>
            <a:p>
              <a:pPr marL="0" lvl="0" indent="0" algn="ctr">
                <a:lnSpc>
                  <a:spcPts val="2380"/>
                </a:lnSpc>
                <a:spcBef>
                  <a:spcPct val="0"/>
                </a:spcBef>
              </a:pPr>
              <a:endParaRPr/>
            </a:p>
          </p:txBody>
        </p:sp>
      </p:grpSp>
      <p:grpSp>
        <p:nvGrpSpPr>
          <p:cNvPr id="17" name="Group 17"/>
          <p:cNvGrpSpPr/>
          <p:nvPr/>
        </p:nvGrpSpPr>
        <p:grpSpPr>
          <a:xfrm>
            <a:off x="1527861" y="6940480"/>
            <a:ext cx="5422801" cy="1218397"/>
            <a:chOff x="0" y="0"/>
            <a:chExt cx="1428227" cy="320895"/>
          </a:xfrm>
        </p:grpSpPr>
        <p:sp>
          <p:nvSpPr>
            <p:cNvPr id="18" name="Freeform 18"/>
            <p:cNvSpPr/>
            <p:nvPr/>
          </p:nvSpPr>
          <p:spPr>
            <a:xfrm>
              <a:off x="0" y="0"/>
              <a:ext cx="1428227" cy="320895"/>
            </a:xfrm>
            <a:custGeom>
              <a:avLst/>
              <a:gdLst/>
              <a:ahLst/>
              <a:cxnLst/>
              <a:rect l="l" t="t" r="r" b="b"/>
              <a:pathLst>
                <a:path w="1428227" h="320895">
                  <a:moveTo>
                    <a:pt x="72811" y="0"/>
                  </a:moveTo>
                  <a:lnTo>
                    <a:pt x="1355417" y="0"/>
                  </a:lnTo>
                  <a:cubicBezTo>
                    <a:pt x="1395629" y="0"/>
                    <a:pt x="1428227" y="32598"/>
                    <a:pt x="1428227" y="72811"/>
                  </a:cubicBezTo>
                  <a:lnTo>
                    <a:pt x="1428227" y="248084"/>
                  </a:lnTo>
                  <a:cubicBezTo>
                    <a:pt x="1428227" y="288296"/>
                    <a:pt x="1395629" y="320895"/>
                    <a:pt x="1355417" y="320895"/>
                  </a:cubicBezTo>
                  <a:lnTo>
                    <a:pt x="72811" y="320895"/>
                  </a:lnTo>
                  <a:cubicBezTo>
                    <a:pt x="32598" y="320895"/>
                    <a:pt x="0" y="288296"/>
                    <a:pt x="0" y="248084"/>
                  </a:cubicBezTo>
                  <a:lnTo>
                    <a:pt x="0" y="72811"/>
                  </a:lnTo>
                  <a:cubicBezTo>
                    <a:pt x="0" y="32598"/>
                    <a:pt x="32598" y="0"/>
                    <a:pt x="72811" y="0"/>
                  </a:cubicBezTo>
                  <a:close/>
                </a:path>
              </a:pathLst>
            </a:custGeom>
            <a:ln w="38100" cap="rnd">
              <a:solidFill>
                <a:srgbClr val="D5EDF1"/>
              </a:solidFill>
              <a:prstDash val="solid"/>
              <a:round/>
            </a:ln>
          </p:spPr>
        </p:sp>
        <p:sp>
          <p:nvSpPr>
            <p:cNvPr id="19" name="TextBox 19"/>
            <p:cNvSpPr txBox="1"/>
            <p:nvPr/>
          </p:nvSpPr>
          <p:spPr>
            <a:xfrm>
              <a:off x="0" y="-57150"/>
              <a:ext cx="1428227" cy="378045"/>
            </a:xfrm>
            <a:prstGeom prst="rect">
              <a:avLst/>
            </a:prstGeom>
          </p:spPr>
          <p:txBody>
            <a:bodyPr lIns="50800" tIns="50800" rIns="50800" bIns="50800" rtlCol="0" anchor="ctr"/>
            <a:lstStyle/>
            <a:p>
              <a:pPr marL="0" lvl="0" indent="0" algn="ctr">
                <a:lnSpc>
                  <a:spcPts val="2380"/>
                </a:lnSpc>
                <a:spcBef>
                  <a:spcPct val="0"/>
                </a:spcBef>
              </a:pPr>
              <a:endParaRPr/>
            </a:p>
          </p:txBody>
        </p:sp>
      </p:grpSp>
      <p:sp>
        <p:nvSpPr>
          <p:cNvPr id="20" name="Freeform 20"/>
          <p:cNvSpPr/>
          <p:nvPr/>
        </p:nvSpPr>
        <p:spPr>
          <a:xfrm>
            <a:off x="1634592" y="1671600"/>
            <a:ext cx="650656" cy="840403"/>
          </a:xfrm>
          <a:custGeom>
            <a:avLst/>
            <a:gdLst/>
            <a:ahLst/>
            <a:cxnLst/>
            <a:rect l="l" t="t" r="r" b="b"/>
            <a:pathLst>
              <a:path w="650656" h="840403">
                <a:moveTo>
                  <a:pt x="0" y="0"/>
                </a:moveTo>
                <a:lnTo>
                  <a:pt x="650656" y="0"/>
                </a:lnTo>
                <a:lnTo>
                  <a:pt x="650656" y="840403"/>
                </a:lnTo>
                <a:lnTo>
                  <a:pt x="0" y="8404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719630" y="3080410"/>
            <a:ext cx="600139" cy="827259"/>
          </a:xfrm>
          <a:custGeom>
            <a:avLst/>
            <a:gdLst/>
            <a:ahLst/>
            <a:cxnLst/>
            <a:rect l="l" t="t" r="r" b="b"/>
            <a:pathLst>
              <a:path w="600139" h="827259">
                <a:moveTo>
                  <a:pt x="0" y="0"/>
                </a:moveTo>
                <a:lnTo>
                  <a:pt x="600139" y="0"/>
                </a:lnTo>
                <a:lnTo>
                  <a:pt x="600139" y="827259"/>
                </a:lnTo>
                <a:lnTo>
                  <a:pt x="0" y="8272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34592" y="4592260"/>
            <a:ext cx="626563" cy="640538"/>
          </a:xfrm>
          <a:custGeom>
            <a:avLst/>
            <a:gdLst/>
            <a:ahLst/>
            <a:cxnLst/>
            <a:rect l="l" t="t" r="r" b="b"/>
            <a:pathLst>
              <a:path w="626563" h="640538">
                <a:moveTo>
                  <a:pt x="0" y="0"/>
                </a:moveTo>
                <a:lnTo>
                  <a:pt x="626563" y="0"/>
                </a:lnTo>
                <a:lnTo>
                  <a:pt x="626563" y="640538"/>
                </a:lnTo>
                <a:lnTo>
                  <a:pt x="0" y="640538"/>
                </a:lnTo>
                <a:lnTo>
                  <a:pt x="0" y="0"/>
                </a:lnTo>
                <a:close/>
              </a:path>
            </a:pathLst>
          </a:custGeom>
          <a:blipFill>
            <a:blip r:embed="rId6"/>
            <a:stretch>
              <a:fillRect/>
            </a:stretch>
          </a:blipFill>
        </p:spPr>
      </p:sp>
      <p:sp>
        <p:nvSpPr>
          <p:cNvPr id="23" name="Freeform 23"/>
          <p:cNvSpPr/>
          <p:nvPr/>
        </p:nvSpPr>
        <p:spPr>
          <a:xfrm>
            <a:off x="1718121" y="5901287"/>
            <a:ext cx="483597" cy="640912"/>
          </a:xfrm>
          <a:custGeom>
            <a:avLst/>
            <a:gdLst/>
            <a:ahLst/>
            <a:cxnLst/>
            <a:rect l="l" t="t" r="r" b="b"/>
            <a:pathLst>
              <a:path w="483597" h="640912">
                <a:moveTo>
                  <a:pt x="0" y="0"/>
                </a:moveTo>
                <a:lnTo>
                  <a:pt x="483598" y="0"/>
                </a:lnTo>
                <a:lnTo>
                  <a:pt x="483598" y="640912"/>
                </a:lnTo>
                <a:lnTo>
                  <a:pt x="0" y="64091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24"/>
          <p:cNvSpPr/>
          <p:nvPr/>
        </p:nvSpPr>
        <p:spPr>
          <a:xfrm>
            <a:off x="1707705" y="7224741"/>
            <a:ext cx="612064" cy="649875"/>
          </a:xfrm>
          <a:custGeom>
            <a:avLst/>
            <a:gdLst/>
            <a:ahLst/>
            <a:cxnLst/>
            <a:rect l="l" t="t" r="r" b="b"/>
            <a:pathLst>
              <a:path w="612064" h="649875">
                <a:moveTo>
                  <a:pt x="0" y="0"/>
                </a:moveTo>
                <a:lnTo>
                  <a:pt x="612064" y="0"/>
                </a:lnTo>
                <a:lnTo>
                  <a:pt x="612064" y="649875"/>
                </a:lnTo>
                <a:lnTo>
                  <a:pt x="0" y="6498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5"/>
          <p:cNvSpPr/>
          <p:nvPr/>
        </p:nvSpPr>
        <p:spPr>
          <a:xfrm>
            <a:off x="7587692" y="8338907"/>
            <a:ext cx="627263" cy="770077"/>
          </a:xfrm>
          <a:custGeom>
            <a:avLst/>
            <a:gdLst/>
            <a:ahLst/>
            <a:cxnLst/>
            <a:rect l="l" t="t" r="r" b="b"/>
            <a:pathLst>
              <a:path w="627263" h="770077">
                <a:moveTo>
                  <a:pt x="0" y="0"/>
                </a:moveTo>
                <a:lnTo>
                  <a:pt x="627262" y="0"/>
                </a:lnTo>
                <a:lnTo>
                  <a:pt x="627262" y="770077"/>
                </a:lnTo>
                <a:lnTo>
                  <a:pt x="0" y="77007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6"/>
          <p:cNvSpPr/>
          <p:nvPr/>
        </p:nvSpPr>
        <p:spPr>
          <a:xfrm>
            <a:off x="11413090" y="3060422"/>
            <a:ext cx="2566955" cy="3040352"/>
          </a:xfrm>
          <a:custGeom>
            <a:avLst/>
            <a:gdLst/>
            <a:ahLst/>
            <a:cxnLst/>
            <a:rect l="l" t="t" r="r" b="b"/>
            <a:pathLst>
              <a:path w="2566955" h="3040352">
                <a:moveTo>
                  <a:pt x="0" y="0"/>
                </a:moveTo>
                <a:lnTo>
                  <a:pt x="2566955" y="0"/>
                </a:lnTo>
                <a:lnTo>
                  <a:pt x="2566955" y="3040353"/>
                </a:lnTo>
                <a:lnTo>
                  <a:pt x="0" y="304035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7" name="Freeform 27"/>
          <p:cNvSpPr/>
          <p:nvPr/>
        </p:nvSpPr>
        <p:spPr>
          <a:xfrm>
            <a:off x="12147223" y="3756667"/>
            <a:ext cx="1046429" cy="1386833"/>
          </a:xfrm>
          <a:custGeom>
            <a:avLst/>
            <a:gdLst/>
            <a:ahLst/>
            <a:cxnLst/>
            <a:rect l="l" t="t" r="r" b="b"/>
            <a:pathLst>
              <a:path w="1046429" h="1386833">
                <a:moveTo>
                  <a:pt x="0" y="0"/>
                </a:moveTo>
                <a:lnTo>
                  <a:pt x="1046428" y="0"/>
                </a:lnTo>
                <a:lnTo>
                  <a:pt x="1046428" y="1386833"/>
                </a:lnTo>
                <a:lnTo>
                  <a:pt x="0" y="138683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3" name="Group 33"/>
          <p:cNvGrpSpPr/>
          <p:nvPr/>
        </p:nvGrpSpPr>
        <p:grpSpPr>
          <a:xfrm>
            <a:off x="17872017" y="3713782"/>
            <a:ext cx="415983" cy="1858288"/>
            <a:chOff x="0" y="0"/>
            <a:chExt cx="479760" cy="489426"/>
          </a:xfrm>
        </p:grpSpPr>
        <p:sp>
          <p:nvSpPr>
            <p:cNvPr id="34" name="Freeform 34"/>
            <p:cNvSpPr/>
            <p:nvPr/>
          </p:nvSpPr>
          <p:spPr>
            <a:xfrm>
              <a:off x="0" y="0"/>
              <a:ext cx="479760" cy="489426"/>
            </a:xfrm>
            <a:custGeom>
              <a:avLst/>
              <a:gdLst/>
              <a:ahLst/>
              <a:cxnLst/>
              <a:rect l="l" t="t" r="r" b="b"/>
              <a:pathLst>
                <a:path w="479760" h="489426">
                  <a:moveTo>
                    <a:pt x="55251" y="0"/>
                  </a:moveTo>
                  <a:lnTo>
                    <a:pt x="424509" y="0"/>
                  </a:lnTo>
                  <a:cubicBezTo>
                    <a:pt x="455024" y="0"/>
                    <a:pt x="479760" y="24737"/>
                    <a:pt x="479760" y="55251"/>
                  </a:cubicBezTo>
                  <a:lnTo>
                    <a:pt x="479760" y="434174"/>
                  </a:lnTo>
                  <a:cubicBezTo>
                    <a:pt x="479760" y="464689"/>
                    <a:pt x="455024" y="489426"/>
                    <a:pt x="424509" y="489426"/>
                  </a:cubicBezTo>
                  <a:lnTo>
                    <a:pt x="55251" y="489426"/>
                  </a:lnTo>
                  <a:cubicBezTo>
                    <a:pt x="24737" y="489426"/>
                    <a:pt x="0" y="464689"/>
                    <a:pt x="0" y="434174"/>
                  </a:cubicBezTo>
                  <a:lnTo>
                    <a:pt x="0" y="55251"/>
                  </a:lnTo>
                  <a:cubicBezTo>
                    <a:pt x="0" y="24737"/>
                    <a:pt x="24737" y="0"/>
                    <a:pt x="55251" y="0"/>
                  </a:cubicBezTo>
                  <a:close/>
                </a:path>
              </a:pathLst>
            </a:custGeom>
            <a:solidFill>
              <a:srgbClr val="D5EDF1">
                <a:alpha val="35686"/>
              </a:srgbClr>
            </a:solidFill>
            <a:ln cap="sq">
              <a:noFill/>
              <a:prstDash val="solid"/>
              <a:miter/>
            </a:ln>
          </p:spPr>
        </p:sp>
        <p:sp>
          <p:nvSpPr>
            <p:cNvPr id="35" name="TextBox 35"/>
            <p:cNvSpPr txBox="1"/>
            <p:nvPr/>
          </p:nvSpPr>
          <p:spPr>
            <a:xfrm>
              <a:off x="0" y="-57150"/>
              <a:ext cx="479760" cy="546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9" name="Group 39"/>
          <p:cNvGrpSpPr/>
          <p:nvPr/>
        </p:nvGrpSpPr>
        <p:grpSpPr>
          <a:xfrm>
            <a:off x="552304" y="414789"/>
            <a:ext cx="1440937" cy="526002"/>
            <a:chOff x="0" y="0"/>
            <a:chExt cx="379506" cy="138536"/>
          </a:xfrm>
        </p:grpSpPr>
        <p:sp>
          <p:nvSpPr>
            <p:cNvPr id="40" name="Freeform 40"/>
            <p:cNvSpPr/>
            <p:nvPr/>
          </p:nvSpPr>
          <p:spPr>
            <a:xfrm>
              <a:off x="0" y="0"/>
              <a:ext cx="379506" cy="138536"/>
            </a:xfrm>
            <a:custGeom>
              <a:avLst/>
              <a:gdLst/>
              <a:ahLst/>
              <a:cxnLst/>
              <a:rect l="l" t="t" r="r" b="b"/>
              <a:pathLst>
                <a:path w="379506" h="138536">
                  <a:moveTo>
                    <a:pt x="69268" y="0"/>
                  </a:moveTo>
                  <a:lnTo>
                    <a:pt x="310238" y="0"/>
                  </a:lnTo>
                  <a:cubicBezTo>
                    <a:pt x="348494" y="0"/>
                    <a:pt x="379506" y="31012"/>
                    <a:pt x="379506" y="69268"/>
                  </a:cubicBezTo>
                  <a:lnTo>
                    <a:pt x="379506" y="69268"/>
                  </a:lnTo>
                  <a:cubicBezTo>
                    <a:pt x="379506" y="87639"/>
                    <a:pt x="372208" y="105257"/>
                    <a:pt x="359218" y="118248"/>
                  </a:cubicBezTo>
                  <a:cubicBezTo>
                    <a:pt x="346228" y="131238"/>
                    <a:pt x="328609" y="138536"/>
                    <a:pt x="310238" y="138536"/>
                  </a:cubicBezTo>
                  <a:lnTo>
                    <a:pt x="69268" y="138536"/>
                  </a:lnTo>
                  <a:cubicBezTo>
                    <a:pt x="31012" y="138536"/>
                    <a:pt x="0" y="107523"/>
                    <a:pt x="0" y="69268"/>
                  </a:cubicBezTo>
                  <a:lnTo>
                    <a:pt x="0" y="69268"/>
                  </a:lnTo>
                  <a:cubicBezTo>
                    <a:pt x="0" y="31012"/>
                    <a:pt x="31012" y="0"/>
                    <a:pt x="69268" y="0"/>
                  </a:cubicBezTo>
                  <a:close/>
                </a:path>
              </a:pathLst>
            </a:custGeom>
            <a:solidFill>
              <a:srgbClr val="D5EDF1">
                <a:alpha val="35686"/>
              </a:srgbClr>
            </a:solidFill>
            <a:ln cap="sq">
              <a:noFill/>
              <a:prstDash val="solid"/>
              <a:miter/>
            </a:ln>
          </p:spPr>
        </p:sp>
        <p:sp>
          <p:nvSpPr>
            <p:cNvPr id="41" name="TextBox 41"/>
            <p:cNvSpPr txBox="1"/>
            <p:nvPr/>
          </p:nvSpPr>
          <p:spPr>
            <a:xfrm>
              <a:off x="0" y="-57150"/>
              <a:ext cx="379506" cy="19568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2" name="Group 42"/>
          <p:cNvGrpSpPr/>
          <p:nvPr/>
        </p:nvGrpSpPr>
        <p:grpSpPr>
          <a:xfrm>
            <a:off x="14446140" y="-29306"/>
            <a:ext cx="1821590" cy="303955"/>
            <a:chOff x="0" y="0"/>
            <a:chExt cx="479760" cy="80054"/>
          </a:xfrm>
        </p:grpSpPr>
        <p:sp>
          <p:nvSpPr>
            <p:cNvPr id="43" name="Freeform 43"/>
            <p:cNvSpPr/>
            <p:nvPr/>
          </p:nvSpPr>
          <p:spPr>
            <a:xfrm>
              <a:off x="0" y="0"/>
              <a:ext cx="479760" cy="80054"/>
            </a:xfrm>
            <a:custGeom>
              <a:avLst/>
              <a:gdLst/>
              <a:ahLst/>
              <a:cxnLst/>
              <a:rect l="l" t="t" r="r" b="b"/>
              <a:pathLst>
                <a:path w="479760" h="80054">
                  <a:moveTo>
                    <a:pt x="40027" y="0"/>
                  </a:moveTo>
                  <a:lnTo>
                    <a:pt x="439733" y="0"/>
                  </a:lnTo>
                  <a:cubicBezTo>
                    <a:pt x="461840" y="0"/>
                    <a:pt x="479760" y="17921"/>
                    <a:pt x="479760" y="40027"/>
                  </a:cubicBezTo>
                  <a:lnTo>
                    <a:pt x="479760" y="40027"/>
                  </a:lnTo>
                  <a:cubicBezTo>
                    <a:pt x="479760" y="50643"/>
                    <a:pt x="475543" y="60824"/>
                    <a:pt x="468037" y="68330"/>
                  </a:cubicBezTo>
                  <a:cubicBezTo>
                    <a:pt x="460530" y="75837"/>
                    <a:pt x="450349" y="80054"/>
                    <a:pt x="439733" y="80054"/>
                  </a:cubicBezTo>
                  <a:lnTo>
                    <a:pt x="40027" y="80054"/>
                  </a:lnTo>
                  <a:cubicBezTo>
                    <a:pt x="29411" y="80054"/>
                    <a:pt x="19230" y="75837"/>
                    <a:pt x="11724" y="68330"/>
                  </a:cubicBezTo>
                  <a:cubicBezTo>
                    <a:pt x="4217" y="60824"/>
                    <a:pt x="0" y="50643"/>
                    <a:pt x="0" y="40027"/>
                  </a:cubicBezTo>
                  <a:lnTo>
                    <a:pt x="0" y="40027"/>
                  </a:lnTo>
                  <a:cubicBezTo>
                    <a:pt x="0" y="29411"/>
                    <a:pt x="4217" y="19230"/>
                    <a:pt x="11724" y="11724"/>
                  </a:cubicBezTo>
                  <a:cubicBezTo>
                    <a:pt x="19230" y="4217"/>
                    <a:pt x="29411" y="0"/>
                    <a:pt x="40027" y="0"/>
                  </a:cubicBezTo>
                  <a:close/>
                </a:path>
              </a:pathLst>
            </a:custGeom>
            <a:solidFill>
              <a:srgbClr val="D5EDF1">
                <a:alpha val="35686"/>
              </a:srgbClr>
            </a:solidFill>
            <a:ln cap="sq">
              <a:noFill/>
              <a:prstDash val="solid"/>
              <a:miter/>
            </a:ln>
          </p:spPr>
        </p:sp>
        <p:sp>
          <p:nvSpPr>
            <p:cNvPr id="44" name="TextBox 44"/>
            <p:cNvSpPr txBox="1"/>
            <p:nvPr/>
          </p:nvSpPr>
          <p:spPr>
            <a:xfrm>
              <a:off x="0" y="-57150"/>
              <a:ext cx="479760" cy="137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5" name="Group 45"/>
          <p:cNvGrpSpPr/>
          <p:nvPr/>
        </p:nvGrpSpPr>
        <p:grpSpPr>
          <a:xfrm>
            <a:off x="1350360" y="9951987"/>
            <a:ext cx="1821590" cy="335013"/>
            <a:chOff x="0" y="0"/>
            <a:chExt cx="479760" cy="489426"/>
          </a:xfrm>
        </p:grpSpPr>
        <p:sp>
          <p:nvSpPr>
            <p:cNvPr id="46" name="Freeform 46"/>
            <p:cNvSpPr/>
            <p:nvPr/>
          </p:nvSpPr>
          <p:spPr>
            <a:xfrm>
              <a:off x="0" y="0"/>
              <a:ext cx="479760" cy="489426"/>
            </a:xfrm>
            <a:custGeom>
              <a:avLst/>
              <a:gdLst/>
              <a:ahLst/>
              <a:cxnLst/>
              <a:rect l="l" t="t" r="r" b="b"/>
              <a:pathLst>
                <a:path w="479760" h="489426">
                  <a:moveTo>
                    <a:pt x="55251" y="0"/>
                  </a:moveTo>
                  <a:lnTo>
                    <a:pt x="424509" y="0"/>
                  </a:lnTo>
                  <a:cubicBezTo>
                    <a:pt x="455024" y="0"/>
                    <a:pt x="479760" y="24737"/>
                    <a:pt x="479760" y="55251"/>
                  </a:cubicBezTo>
                  <a:lnTo>
                    <a:pt x="479760" y="434174"/>
                  </a:lnTo>
                  <a:cubicBezTo>
                    <a:pt x="479760" y="464689"/>
                    <a:pt x="455024" y="489426"/>
                    <a:pt x="424509" y="489426"/>
                  </a:cubicBezTo>
                  <a:lnTo>
                    <a:pt x="55251" y="489426"/>
                  </a:lnTo>
                  <a:cubicBezTo>
                    <a:pt x="24737" y="489426"/>
                    <a:pt x="0" y="464689"/>
                    <a:pt x="0" y="434174"/>
                  </a:cubicBezTo>
                  <a:lnTo>
                    <a:pt x="0" y="55251"/>
                  </a:lnTo>
                  <a:cubicBezTo>
                    <a:pt x="0" y="24737"/>
                    <a:pt x="24737" y="0"/>
                    <a:pt x="55251" y="0"/>
                  </a:cubicBezTo>
                  <a:close/>
                </a:path>
              </a:pathLst>
            </a:custGeom>
            <a:solidFill>
              <a:srgbClr val="D5EDF1">
                <a:alpha val="35686"/>
              </a:srgbClr>
            </a:solidFill>
            <a:ln cap="sq">
              <a:noFill/>
              <a:prstDash val="solid"/>
              <a:miter/>
            </a:ln>
          </p:spPr>
        </p:sp>
        <p:sp>
          <p:nvSpPr>
            <p:cNvPr id="47" name="TextBox 47"/>
            <p:cNvSpPr txBox="1"/>
            <p:nvPr/>
          </p:nvSpPr>
          <p:spPr>
            <a:xfrm>
              <a:off x="0" y="-57150"/>
              <a:ext cx="479760" cy="54657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48" name="TextBox 48"/>
          <p:cNvSpPr txBox="1"/>
          <p:nvPr/>
        </p:nvSpPr>
        <p:spPr>
          <a:xfrm>
            <a:off x="11652428" y="6108899"/>
            <a:ext cx="2145625"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BẢO MẬT NHIỀU LỚP</a:t>
            </a:r>
          </a:p>
        </p:txBody>
      </p:sp>
      <p:sp>
        <p:nvSpPr>
          <p:cNvPr id="49" name="Freeform 49"/>
          <p:cNvSpPr/>
          <p:nvPr/>
        </p:nvSpPr>
        <p:spPr>
          <a:xfrm>
            <a:off x="9984440" y="1902125"/>
            <a:ext cx="5481602" cy="5481602"/>
          </a:xfrm>
          <a:custGeom>
            <a:avLst/>
            <a:gdLst/>
            <a:ahLst/>
            <a:cxnLst/>
            <a:rect l="l" t="t" r="r" b="b"/>
            <a:pathLst>
              <a:path w="5481602" h="5481602">
                <a:moveTo>
                  <a:pt x="0" y="0"/>
                </a:moveTo>
                <a:lnTo>
                  <a:pt x="5481602" y="0"/>
                </a:lnTo>
                <a:lnTo>
                  <a:pt x="5481602" y="5481602"/>
                </a:lnTo>
                <a:lnTo>
                  <a:pt x="0" y="548160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50" name="Group 50"/>
          <p:cNvGrpSpPr/>
          <p:nvPr/>
        </p:nvGrpSpPr>
        <p:grpSpPr>
          <a:xfrm>
            <a:off x="14073435" y="5900449"/>
            <a:ext cx="1283500" cy="1283500"/>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BB89"/>
            </a:solidFill>
          </p:spPr>
        </p:sp>
        <p:sp>
          <p:nvSpPr>
            <p:cNvPr id="52" name="TextBox 52"/>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sp>
        <p:nvSpPr>
          <p:cNvPr id="53" name="Freeform 53"/>
          <p:cNvSpPr/>
          <p:nvPr/>
        </p:nvSpPr>
        <p:spPr>
          <a:xfrm>
            <a:off x="14332470" y="6100775"/>
            <a:ext cx="853033" cy="905730"/>
          </a:xfrm>
          <a:custGeom>
            <a:avLst/>
            <a:gdLst/>
            <a:ahLst/>
            <a:cxnLst/>
            <a:rect l="l" t="t" r="r" b="b"/>
            <a:pathLst>
              <a:path w="853033" h="905730">
                <a:moveTo>
                  <a:pt x="0" y="0"/>
                </a:moveTo>
                <a:lnTo>
                  <a:pt x="853033" y="0"/>
                </a:lnTo>
                <a:lnTo>
                  <a:pt x="853033" y="905729"/>
                </a:lnTo>
                <a:lnTo>
                  <a:pt x="0" y="90572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54" name="Group 54"/>
          <p:cNvGrpSpPr/>
          <p:nvPr/>
        </p:nvGrpSpPr>
        <p:grpSpPr>
          <a:xfrm>
            <a:off x="14561070" y="2875898"/>
            <a:ext cx="1388115" cy="1444542"/>
            <a:chOff x="0" y="0"/>
            <a:chExt cx="879049" cy="914783"/>
          </a:xfrm>
        </p:grpSpPr>
        <p:sp>
          <p:nvSpPr>
            <p:cNvPr id="55" name="Freeform 55"/>
            <p:cNvSpPr/>
            <p:nvPr/>
          </p:nvSpPr>
          <p:spPr>
            <a:xfrm>
              <a:off x="0" y="0"/>
              <a:ext cx="879049" cy="914783"/>
            </a:xfrm>
            <a:custGeom>
              <a:avLst/>
              <a:gdLst/>
              <a:ahLst/>
              <a:cxnLst/>
              <a:rect l="l" t="t" r="r" b="b"/>
              <a:pathLst>
                <a:path w="879049" h="914783">
                  <a:moveTo>
                    <a:pt x="439525" y="0"/>
                  </a:moveTo>
                  <a:cubicBezTo>
                    <a:pt x="196782" y="0"/>
                    <a:pt x="0" y="204781"/>
                    <a:pt x="0" y="457392"/>
                  </a:cubicBezTo>
                  <a:cubicBezTo>
                    <a:pt x="0" y="710002"/>
                    <a:pt x="196782" y="914783"/>
                    <a:pt x="439525" y="914783"/>
                  </a:cubicBezTo>
                  <a:cubicBezTo>
                    <a:pt x="682267" y="914783"/>
                    <a:pt x="879049" y="710002"/>
                    <a:pt x="879049" y="457392"/>
                  </a:cubicBezTo>
                  <a:cubicBezTo>
                    <a:pt x="879049" y="204781"/>
                    <a:pt x="682267" y="0"/>
                    <a:pt x="439525" y="0"/>
                  </a:cubicBezTo>
                  <a:close/>
                </a:path>
              </a:pathLst>
            </a:custGeom>
            <a:solidFill>
              <a:srgbClr val="89E7F8"/>
            </a:solidFill>
          </p:spPr>
        </p:sp>
        <p:sp>
          <p:nvSpPr>
            <p:cNvPr id="56" name="TextBox 56"/>
            <p:cNvSpPr txBox="1"/>
            <p:nvPr/>
          </p:nvSpPr>
          <p:spPr>
            <a:xfrm>
              <a:off x="82411" y="28611"/>
              <a:ext cx="714228" cy="800411"/>
            </a:xfrm>
            <a:prstGeom prst="rect">
              <a:avLst/>
            </a:prstGeom>
          </p:spPr>
          <p:txBody>
            <a:bodyPr lIns="50800" tIns="50800" rIns="50800" bIns="50800" rtlCol="0" anchor="ctr"/>
            <a:lstStyle/>
            <a:p>
              <a:pPr algn="ctr">
                <a:lnSpc>
                  <a:spcPts val="2380"/>
                </a:lnSpc>
              </a:pPr>
              <a:endParaRPr/>
            </a:p>
          </p:txBody>
        </p:sp>
      </p:grpSp>
      <p:sp>
        <p:nvSpPr>
          <p:cNvPr id="57" name="Freeform 57"/>
          <p:cNvSpPr/>
          <p:nvPr/>
        </p:nvSpPr>
        <p:spPr>
          <a:xfrm>
            <a:off x="14863760" y="3093334"/>
            <a:ext cx="823749" cy="1135493"/>
          </a:xfrm>
          <a:custGeom>
            <a:avLst/>
            <a:gdLst/>
            <a:ahLst/>
            <a:cxnLst/>
            <a:rect l="l" t="t" r="r" b="b"/>
            <a:pathLst>
              <a:path w="823749" h="1135493">
                <a:moveTo>
                  <a:pt x="0" y="0"/>
                </a:moveTo>
                <a:lnTo>
                  <a:pt x="823749" y="0"/>
                </a:lnTo>
                <a:lnTo>
                  <a:pt x="823749" y="1135493"/>
                </a:lnTo>
                <a:lnTo>
                  <a:pt x="0" y="1135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8" name="Group 58"/>
          <p:cNvGrpSpPr/>
          <p:nvPr/>
        </p:nvGrpSpPr>
        <p:grpSpPr>
          <a:xfrm>
            <a:off x="10055981" y="5776726"/>
            <a:ext cx="1283500" cy="1283500"/>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8989"/>
            </a:solidFill>
          </p:spPr>
        </p:sp>
        <p:sp>
          <p:nvSpPr>
            <p:cNvPr id="60" name="TextBox 60"/>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61" name="Group 61"/>
          <p:cNvGrpSpPr/>
          <p:nvPr/>
        </p:nvGrpSpPr>
        <p:grpSpPr>
          <a:xfrm>
            <a:off x="12170518" y="1428980"/>
            <a:ext cx="1283500" cy="1283500"/>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9CE3"/>
            </a:solidFill>
          </p:spPr>
        </p:sp>
        <p:sp>
          <p:nvSpPr>
            <p:cNvPr id="63" name="TextBox 63"/>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64" name="Group 64"/>
          <p:cNvGrpSpPr/>
          <p:nvPr/>
        </p:nvGrpSpPr>
        <p:grpSpPr>
          <a:xfrm>
            <a:off x="9691451" y="2999109"/>
            <a:ext cx="1283500" cy="1283500"/>
            <a:chOff x="0" y="0"/>
            <a:chExt cx="812800" cy="812800"/>
          </a:xfrm>
        </p:grpSpPr>
        <p:sp>
          <p:nvSpPr>
            <p:cNvPr id="65" name="Freeform 6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DB97"/>
            </a:solidFill>
          </p:spPr>
        </p:sp>
        <p:sp>
          <p:nvSpPr>
            <p:cNvPr id="66" name="TextBox 66"/>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sp>
        <p:nvSpPr>
          <p:cNvPr id="67" name="Freeform 67"/>
          <p:cNvSpPr/>
          <p:nvPr/>
        </p:nvSpPr>
        <p:spPr>
          <a:xfrm>
            <a:off x="12415399" y="1436009"/>
            <a:ext cx="793739" cy="1025212"/>
          </a:xfrm>
          <a:custGeom>
            <a:avLst/>
            <a:gdLst/>
            <a:ahLst/>
            <a:cxnLst/>
            <a:rect l="l" t="t" r="r" b="b"/>
            <a:pathLst>
              <a:path w="793739" h="1025212">
                <a:moveTo>
                  <a:pt x="0" y="0"/>
                </a:moveTo>
                <a:lnTo>
                  <a:pt x="793739" y="0"/>
                </a:lnTo>
                <a:lnTo>
                  <a:pt x="793739" y="1025212"/>
                </a:lnTo>
                <a:lnTo>
                  <a:pt x="0" y="10252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8" name="Freeform 68"/>
          <p:cNvSpPr/>
          <p:nvPr/>
        </p:nvSpPr>
        <p:spPr>
          <a:xfrm>
            <a:off x="10333201" y="5900449"/>
            <a:ext cx="728729" cy="965785"/>
          </a:xfrm>
          <a:custGeom>
            <a:avLst/>
            <a:gdLst/>
            <a:ahLst/>
            <a:cxnLst/>
            <a:rect l="l" t="t" r="r" b="b"/>
            <a:pathLst>
              <a:path w="728729" h="965785">
                <a:moveTo>
                  <a:pt x="0" y="0"/>
                </a:moveTo>
                <a:lnTo>
                  <a:pt x="728729" y="0"/>
                </a:lnTo>
                <a:lnTo>
                  <a:pt x="728729" y="965786"/>
                </a:lnTo>
                <a:lnTo>
                  <a:pt x="0" y="96578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9" name="Freeform 69"/>
          <p:cNvSpPr/>
          <p:nvPr/>
        </p:nvSpPr>
        <p:spPr>
          <a:xfrm>
            <a:off x="9897079" y="3215231"/>
            <a:ext cx="872244" cy="891699"/>
          </a:xfrm>
          <a:custGeom>
            <a:avLst/>
            <a:gdLst/>
            <a:ahLst/>
            <a:cxnLst/>
            <a:rect l="l" t="t" r="r" b="b"/>
            <a:pathLst>
              <a:path w="872244" h="891699">
                <a:moveTo>
                  <a:pt x="0" y="0"/>
                </a:moveTo>
                <a:lnTo>
                  <a:pt x="872244" y="0"/>
                </a:lnTo>
                <a:lnTo>
                  <a:pt x="872244" y="891699"/>
                </a:lnTo>
                <a:lnTo>
                  <a:pt x="0" y="891699"/>
                </a:lnTo>
                <a:lnTo>
                  <a:pt x="0" y="0"/>
                </a:lnTo>
                <a:close/>
              </a:path>
            </a:pathLst>
          </a:custGeom>
          <a:blipFill>
            <a:blip r:embed="rId6"/>
            <a:stretch>
              <a:fillRect/>
            </a:stretch>
          </a:blipFill>
        </p:spPr>
      </p:sp>
      <p:sp>
        <p:nvSpPr>
          <p:cNvPr id="70" name="TextBox 70"/>
          <p:cNvSpPr txBox="1"/>
          <p:nvPr/>
        </p:nvSpPr>
        <p:spPr>
          <a:xfrm>
            <a:off x="4906166" y="255000"/>
            <a:ext cx="9570570" cy="1011046"/>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ea typeface="Poppins Bold"/>
                <a:cs typeface="Poppins Bold"/>
                <a:sym typeface="Poppins Bold"/>
              </a:rPr>
              <a:t>KIẾN TRÚC BẢO MẬT</a:t>
            </a:r>
          </a:p>
        </p:txBody>
      </p:sp>
      <p:sp>
        <p:nvSpPr>
          <p:cNvPr id="71" name="TextBox 71"/>
          <p:cNvSpPr txBox="1"/>
          <p:nvPr/>
        </p:nvSpPr>
        <p:spPr>
          <a:xfrm>
            <a:off x="2416765" y="1462165"/>
            <a:ext cx="4587245" cy="1265667"/>
          </a:xfrm>
          <a:prstGeom prst="rect">
            <a:avLst/>
          </a:prstGeom>
        </p:spPr>
        <p:txBody>
          <a:bodyPr lIns="0" tIns="0" rIns="0" bIns="0" rtlCol="0" anchor="t">
            <a:spAutoFit/>
          </a:bodyPr>
          <a:lstStyle/>
          <a:p>
            <a:pPr algn="just">
              <a:lnSpc>
                <a:spcPts val="1960"/>
              </a:lnSpc>
            </a:pPr>
            <a:r>
              <a:rPr lang="en-US" sz="1400" b="1">
                <a:solidFill>
                  <a:srgbClr val="000000"/>
                </a:solidFill>
                <a:ea typeface="Poppins Bold"/>
                <a:cs typeface="Poppins Bold"/>
                <a:sym typeface="Poppins Bold"/>
              </a:rPr>
              <a:t>Identity</a:t>
            </a:r>
          </a:p>
          <a:p>
            <a:pPr algn="just">
              <a:lnSpc>
                <a:spcPts val="1960"/>
              </a:lnSpc>
              <a:spcBef>
                <a:spcPct val="0"/>
              </a:spcBef>
            </a:pPr>
            <a:r>
              <a:rPr lang="en-US" sz="1400">
                <a:solidFill>
                  <a:srgbClr val="000000"/>
                </a:solidFill>
                <a:ea typeface="Poppins"/>
                <a:cs typeface="Poppins"/>
                <a:sym typeface="Poppins"/>
              </a:rPr>
              <a:t>Mỗi Peer được tạo một cặp khóa RSA-2048 riêng.</a:t>
            </a:r>
          </a:p>
          <a:p>
            <a:pPr algn="just">
              <a:lnSpc>
                <a:spcPts val="1960"/>
              </a:lnSpc>
              <a:spcBef>
                <a:spcPct val="0"/>
              </a:spcBef>
            </a:pPr>
            <a:r>
              <a:rPr lang="en-US" sz="1400">
                <a:solidFill>
                  <a:srgbClr val="000000"/>
                </a:solidFill>
                <a:ea typeface="Poppins"/>
                <a:cs typeface="Poppins"/>
                <a:sym typeface="Poppins"/>
              </a:rPr>
              <a:t>Định danh duy nhất trong hệ thống.</a:t>
            </a:r>
          </a:p>
          <a:p>
            <a:pPr algn="just">
              <a:lnSpc>
                <a:spcPts val="1960"/>
              </a:lnSpc>
              <a:spcBef>
                <a:spcPct val="0"/>
              </a:spcBef>
            </a:pPr>
            <a:r>
              <a:rPr lang="en-US" sz="1400">
                <a:solidFill>
                  <a:srgbClr val="000000"/>
                </a:solidFill>
                <a:ea typeface="Poppins"/>
                <a:cs typeface="Poppins"/>
                <a:sym typeface="Poppins"/>
              </a:rPr>
              <a:t>Dùng để xác thực khi kết nối.</a:t>
            </a:r>
          </a:p>
          <a:p>
            <a:pPr algn="just">
              <a:lnSpc>
                <a:spcPts val="1960"/>
              </a:lnSpc>
              <a:spcBef>
                <a:spcPct val="0"/>
              </a:spcBef>
            </a:pPr>
            <a:endParaRPr lang="en-US" sz="1400">
              <a:solidFill>
                <a:srgbClr val="000000"/>
              </a:solidFill>
              <a:ea typeface="Poppins"/>
              <a:cs typeface="Poppins"/>
              <a:sym typeface="Poppins"/>
            </a:endParaRPr>
          </a:p>
        </p:txBody>
      </p:sp>
      <p:sp>
        <p:nvSpPr>
          <p:cNvPr id="72" name="TextBox 72"/>
          <p:cNvSpPr txBox="1"/>
          <p:nvPr/>
        </p:nvSpPr>
        <p:spPr>
          <a:xfrm>
            <a:off x="2416765" y="3005291"/>
            <a:ext cx="3752017" cy="1002665"/>
          </a:xfrm>
          <a:prstGeom prst="rect">
            <a:avLst/>
          </a:prstGeom>
        </p:spPr>
        <p:txBody>
          <a:bodyPr lIns="0" tIns="0" rIns="0" bIns="0" rtlCol="0" anchor="t">
            <a:spAutoFit/>
          </a:bodyPr>
          <a:lstStyle/>
          <a:p>
            <a:pPr algn="l">
              <a:lnSpc>
                <a:spcPts val="1960"/>
              </a:lnSpc>
              <a:spcBef>
                <a:spcPct val="0"/>
              </a:spcBef>
            </a:pPr>
            <a:r>
              <a:rPr lang="en-US" sz="1400" b="1">
                <a:solidFill>
                  <a:srgbClr val="000000"/>
                </a:solidFill>
                <a:ea typeface="Poppins Bold"/>
                <a:cs typeface="Poppins Bold"/>
                <a:sym typeface="Poppins Bold"/>
              </a:rPr>
              <a:t>Peer ID</a:t>
            </a:r>
          </a:p>
          <a:p>
            <a:pPr algn="l">
              <a:lnSpc>
                <a:spcPts val="1960"/>
              </a:lnSpc>
              <a:spcBef>
                <a:spcPct val="0"/>
              </a:spcBef>
            </a:pPr>
            <a:r>
              <a:rPr lang="en-US" sz="1400">
                <a:solidFill>
                  <a:srgbClr val="000000"/>
                </a:solidFill>
                <a:ea typeface="Poppins"/>
                <a:cs typeface="Poppins"/>
                <a:sym typeface="Poppins"/>
              </a:rPr>
              <a:t>Sinh từ khóa công khai RSA bằng SHA-256.</a:t>
            </a:r>
          </a:p>
          <a:p>
            <a:pPr algn="l">
              <a:lnSpc>
                <a:spcPts val="1960"/>
              </a:lnSpc>
              <a:spcBef>
                <a:spcPct val="0"/>
              </a:spcBef>
            </a:pPr>
            <a:r>
              <a:rPr lang="en-US" sz="1400">
                <a:solidFill>
                  <a:srgbClr val="000000"/>
                </a:solidFill>
                <a:ea typeface="Poppins"/>
                <a:cs typeface="Poppins"/>
                <a:sym typeface="Poppins"/>
              </a:rPr>
              <a:t>Định danh duy nhất cho từng Peer.</a:t>
            </a:r>
          </a:p>
          <a:p>
            <a:pPr algn="l">
              <a:lnSpc>
                <a:spcPts val="1960"/>
              </a:lnSpc>
              <a:spcBef>
                <a:spcPct val="0"/>
              </a:spcBef>
            </a:pPr>
            <a:r>
              <a:rPr lang="en-US" sz="1400">
                <a:solidFill>
                  <a:srgbClr val="000000"/>
                </a:solidFill>
                <a:ea typeface="Poppins"/>
                <a:cs typeface="Poppins"/>
                <a:sym typeface="Poppins"/>
              </a:rPr>
              <a:t>Giúp nhận diện và quản lý kết nối.</a:t>
            </a:r>
          </a:p>
        </p:txBody>
      </p:sp>
      <p:sp>
        <p:nvSpPr>
          <p:cNvPr id="73" name="TextBox 73"/>
          <p:cNvSpPr txBox="1"/>
          <p:nvPr/>
        </p:nvSpPr>
        <p:spPr>
          <a:xfrm>
            <a:off x="2416765" y="4387384"/>
            <a:ext cx="4151829" cy="1002665"/>
          </a:xfrm>
          <a:prstGeom prst="rect">
            <a:avLst/>
          </a:prstGeom>
        </p:spPr>
        <p:txBody>
          <a:bodyPr lIns="0" tIns="0" rIns="0" bIns="0" rtlCol="0" anchor="t">
            <a:spAutoFit/>
          </a:bodyPr>
          <a:lstStyle/>
          <a:p>
            <a:pPr algn="l">
              <a:lnSpc>
                <a:spcPts val="1960"/>
              </a:lnSpc>
              <a:spcBef>
                <a:spcPct val="0"/>
              </a:spcBef>
            </a:pPr>
            <a:r>
              <a:rPr lang="en-US" sz="1400" b="1">
                <a:solidFill>
                  <a:srgbClr val="000000"/>
                </a:solidFill>
                <a:ea typeface="Poppins Bold"/>
                <a:cs typeface="Poppins Bold"/>
                <a:sym typeface="Poppins Bold"/>
              </a:rPr>
              <a:t>RSA</a:t>
            </a:r>
          </a:p>
          <a:p>
            <a:pPr algn="l">
              <a:lnSpc>
                <a:spcPts val="1960"/>
              </a:lnSpc>
              <a:spcBef>
                <a:spcPct val="0"/>
              </a:spcBef>
            </a:pPr>
            <a:r>
              <a:rPr lang="en-US" sz="1400">
                <a:solidFill>
                  <a:srgbClr val="000000"/>
                </a:solidFill>
                <a:ea typeface="Poppins"/>
                <a:cs typeface="Poppins"/>
                <a:sym typeface="Poppins"/>
              </a:rPr>
              <a:t>Trao đổi khóa phiên (Session Key).</a:t>
            </a:r>
          </a:p>
          <a:p>
            <a:pPr algn="l">
              <a:lnSpc>
                <a:spcPts val="1960"/>
              </a:lnSpc>
              <a:spcBef>
                <a:spcPct val="0"/>
              </a:spcBef>
            </a:pPr>
            <a:r>
              <a:rPr lang="en-US" sz="1400">
                <a:solidFill>
                  <a:srgbClr val="000000"/>
                </a:solidFill>
                <a:ea typeface="Poppins"/>
                <a:cs typeface="Poppins"/>
                <a:sym typeface="Poppins"/>
              </a:rPr>
              <a:t>Không dùng để mã hóa toàn bộ dữ liệu.</a:t>
            </a:r>
          </a:p>
          <a:p>
            <a:pPr algn="l">
              <a:lnSpc>
                <a:spcPts val="1960"/>
              </a:lnSpc>
              <a:spcBef>
                <a:spcPct val="0"/>
              </a:spcBef>
            </a:pPr>
            <a:r>
              <a:rPr lang="en-US" sz="1400">
                <a:solidFill>
                  <a:srgbClr val="000000"/>
                </a:solidFill>
                <a:ea typeface="Poppins"/>
                <a:cs typeface="Poppins"/>
                <a:sym typeface="Poppins"/>
              </a:rPr>
              <a:t>Đảm bảo chỉ Peer nhận mới giải mã được khóa.</a:t>
            </a:r>
          </a:p>
        </p:txBody>
      </p:sp>
      <p:sp>
        <p:nvSpPr>
          <p:cNvPr id="74" name="TextBox 74"/>
          <p:cNvSpPr txBox="1"/>
          <p:nvPr/>
        </p:nvSpPr>
        <p:spPr>
          <a:xfrm>
            <a:off x="2390466" y="5729101"/>
            <a:ext cx="3590568" cy="1002665"/>
          </a:xfrm>
          <a:prstGeom prst="rect">
            <a:avLst/>
          </a:prstGeom>
        </p:spPr>
        <p:txBody>
          <a:bodyPr lIns="0" tIns="0" rIns="0" bIns="0" rtlCol="0" anchor="t">
            <a:spAutoFit/>
          </a:bodyPr>
          <a:lstStyle/>
          <a:p>
            <a:pPr algn="l">
              <a:lnSpc>
                <a:spcPts val="1960"/>
              </a:lnSpc>
              <a:spcBef>
                <a:spcPct val="0"/>
              </a:spcBef>
            </a:pPr>
            <a:r>
              <a:rPr lang="en-US" sz="1400" b="1">
                <a:solidFill>
                  <a:srgbClr val="000000"/>
                </a:solidFill>
                <a:ea typeface="Poppins Bold"/>
                <a:cs typeface="Poppins Bold"/>
                <a:sym typeface="Poppins Bold"/>
              </a:rPr>
              <a:t>Fernet (AES-128)</a:t>
            </a:r>
          </a:p>
          <a:p>
            <a:pPr algn="l">
              <a:lnSpc>
                <a:spcPts val="1960"/>
              </a:lnSpc>
              <a:spcBef>
                <a:spcPct val="0"/>
              </a:spcBef>
            </a:pPr>
            <a:r>
              <a:rPr lang="en-US" sz="1400">
                <a:solidFill>
                  <a:srgbClr val="000000"/>
                </a:solidFill>
                <a:ea typeface="Poppins"/>
                <a:cs typeface="Poppins"/>
                <a:sym typeface="Poppins"/>
              </a:rPr>
              <a:t>Mã hóa toàn bộ tin nhắn và file.</a:t>
            </a:r>
          </a:p>
          <a:p>
            <a:pPr algn="l">
              <a:lnSpc>
                <a:spcPts val="1960"/>
              </a:lnSpc>
              <a:spcBef>
                <a:spcPct val="0"/>
              </a:spcBef>
            </a:pPr>
            <a:r>
              <a:rPr lang="en-US" sz="1400">
                <a:solidFill>
                  <a:srgbClr val="000000"/>
                </a:solidFill>
                <a:ea typeface="Poppins"/>
                <a:cs typeface="Poppins"/>
                <a:sym typeface="Poppins"/>
              </a:rPr>
              <a:t>Sử dụng khóa phiên sau khi trao đổi RSA.</a:t>
            </a:r>
          </a:p>
          <a:p>
            <a:pPr algn="l">
              <a:lnSpc>
                <a:spcPts val="1960"/>
              </a:lnSpc>
              <a:spcBef>
                <a:spcPct val="0"/>
              </a:spcBef>
            </a:pPr>
            <a:r>
              <a:rPr lang="en-US" sz="1400">
                <a:solidFill>
                  <a:srgbClr val="000000"/>
                </a:solidFill>
                <a:ea typeface="Poppins"/>
                <a:cs typeface="Poppins"/>
                <a:sym typeface="Poppins"/>
              </a:rPr>
              <a:t>Đảm bảo tính bí mật dữ liệu.</a:t>
            </a:r>
          </a:p>
        </p:txBody>
      </p:sp>
      <p:sp>
        <p:nvSpPr>
          <p:cNvPr id="75" name="TextBox 75"/>
          <p:cNvSpPr txBox="1"/>
          <p:nvPr/>
        </p:nvSpPr>
        <p:spPr>
          <a:xfrm>
            <a:off x="2416765" y="7073830"/>
            <a:ext cx="3032165" cy="1002665"/>
          </a:xfrm>
          <a:prstGeom prst="rect">
            <a:avLst/>
          </a:prstGeom>
        </p:spPr>
        <p:txBody>
          <a:bodyPr lIns="0" tIns="0" rIns="0" bIns="0" rtlCol="0" anchor="t">
            <a:spAutoFit/>
          </a:bodyPr>
          <a:lstStyle/>
          <a:p>
            <a:pPr algn="l">
              <a:lnSpc>
                <a:spcPts val="1960"/>
              </a:lnSpc>
              <a:spcBef>
                <a:spcPct val="0"/>
              </a:spcBef>
            </a:pPr>
            <a:r>
              <a:rPr lang="en-US" sz="1400" b="1">
                <a:solidFill>
                  <a:srgbClr val="000000"/>
                </a:solidFill>
                <a:ea typeface="Poppins Bold"/>
                <a:cs typeface="Poppins Bold"/>
                <a:sym typeface="Poppins Bold"/>
              </a:rPr>
              <a:t>JWT</a:t>
            </a:r>
          </a:p>
          <a:p>
            <a:pPr algn="l">
              <a:lnSpc>
                <a:spcPts val="1960"/>
              </a:lnSpc>
              <a:spcBef>
                <a:spcPct val="0"/>
              </a:spcBef>
            </a:pPr>
            <a:r>
              <a:rPr lang="en-US" sz="1400">
                <a:solidFill>
                  <a:srgbClr val="000000"/>
                </a:solidFill>
                <a:ea typeface="Poppins"/>
                <a:cs typeface="Poppins"/>
                <a:sym typeface="Poppins"/>
              </a:rPr>
              <a:t>Ký các gói UDP Discovery.</a:t>
            </a:r>
          </a:p>
          <a:p>
            <a:pPr algn="l">
              <a:lnSpc>
                <a:spcPts val="1960"/>
              </a:lnSpc>
              <a:spcBef>
                <a:spcPct val="0"/>
              </a:spcBef>
            </a:pPr>
            <a:r>
              <a:rPr lang="en-US" sz="1400">
                <a:solidFill>
                  <a:srgbClr val="000000"/>
                </a:solidFill>
                <a:ea typeface="Poppins"/>
                <a:cs typeface="Poppins"/>
                <a:sym typeface="Poppins"/>
              </a:rPr>
              <a:t>Xác thực nguồn gửi.</a:t>
            </a:r>
          </a:p>
          <a:p>
            <a:pPr algn="l">
              <a:lnSpc>
                <a:spcPts val="1960"/>
              </a:lnSpc>
              <a:spcBef>
                <a:spcPct val="0"/>
              </a:spcBef>
            </a:pPr>
            <a:r>
              <a:rPr lang="en-US" sz="1400">
                <a:solidFill>
                  <a:srgbClr val="000000"/>
                </a:solidFill>
                <a:ea typeface="Poppins"/>
                <a:cs typeface="Poppins"/>
                <a:sym typeface="Poppins"/>
              </a:rPr>
              <a:t>Hạn chế giả mạo và Replay Attack.</a:t>
            </a:r>
          </a:p>
        </p:txBody>
      </p:sp>
      <p:sp>
        <p:nvSpPr>
          <p:cNvPr id="76" name="TextBox 76"/>
          <p:cNvSpPr txBox="1"/>
          <p:nvPr/>
        </p:nvSpPr>
        <p:spPr>
          <a:xfrm>
            <a:off x="8340497" y="8242931"/>
            <a:ext cx="4329940" cy="752707"/>
          </a:xfrm>
          <a:prstGeom prst="rect">
            <a:avLst/>
          </a:prstGeom>
        </p:spPr>
        <p:txBody>
          <a:bodyPr lIns="0" tIns="0" rIns="0" bIns="0" rtlCol="0" anchor="t">
            <a:spAutoFit/>
          </a:bodyPr>
          <a:lstStyle/>
          <a:p>
            <a:pPr algn="l">
              <a:lnSpc>
                <a:spcPts val="1960"/>
              </a:lnSpc>
            </a:pPr>
            <a:r>
              <a:rPr lang="en-US" sz="1400">
                <a:solidFill>
                  <a:srgbClr val="000000"/>
                </a:solidFill>
                <a:ea typeface="Poppins"/>
                <a:cs typeface="Poppins"/>
                <a:sym typeface="Poppins"/>
              </a:rPr>
              <a:t>TOFU (Trust On First Use)</a:t>
            </a:r>
          </a:p>
          <a:p>
            <a:pPr algn="l">
              <a:lnSpc>
                <a:spcPts val="1960"/>
              </a:lnSpc>
            </a:pPr>
            <a:r>
              <a:rPr lang="en-US" sz="1400">
                <a:solidFill>
                  <a:srgbClr val="000000"/>
                </a:solidFill>
                <a:ea typeface="Poppins"/>
                <a:cs typeface="Poppins"/>
                <a:sym typeface="Poppins"/>
              </a:rPr>
              <a:t>Lưu Fingerprint của Peer khi kết nối lần đầu.</a:t>
            </a:r>
          </a:p>
          <a:p>
            <a:pPr algn="l">
              <a:lnSpc>
                <a:spcPts val="1960"/>
              </a:lnSpc>
            </a:pPr>
            <a:r>
              <a:rPr lang="en-US" sz="1400">
                <a:solidFill>
                  <a:srgbClr val="000000"/>
                </a:solidFill>
                <a:ea typeface="Poppins"/>
                <a:cs typeface="Poppins"/>
                <a:sym typeface="Poppins"/>
              </a:rPr>
              <a:t>Nếu Fingerprint thay đổi → cảnh báo nguy cơ MITM.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
                                        <p:tgtEl>
                                          <p:spTgt spid="2"/>
                                        </p:tgtEl>
                                      </p:cBhvr>
                                    </p:animEffect>
                                  </p:childTnLst>
                                </p:cTn>
                              </p:par>
                            </p:childTnLst>
                          </p:cTn>
                        </p:par>
                        <p:par>
                          <p:cTn id="8" fill="hold">
                            <p:stCondLst>
                              <p:cond delay="5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
                                        <p:tgtEl>
                                          <p:spTgt spid="5"/>
                                        </p:tgtEl>
                                      </p:cBhvr>
                                    </p:animEffect>
                                  </p:childTnLst>
                                </p:cTn>
                              </p:par>
                            </p:childTnLst>
                          </p:cTn>
                        </p:par>
                        <p:par>
                          <p:cTn id="12" fill="hold">
                            <p:stCondLst>
                              <p:cond delay="1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
                                        <p:tgtEl>
                                          <p:spTgt spid="8"/>
                                        </p:tgtEl>
                                      </p:cBhvr>
                                    </p:animEffect>
                                  </p:childTnLst>
                                </p:cTn>
                              </p:par>
                            </p:childTnLst>
                          </p:cTn>
                        </p:par>
                        <p:par>
                          <p:cTn id="16" fill="hold">
                            <p:stCondLst>
                              <p:cond delay="15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
                                        <p:tgtEl>
                                          <p:spTgt spid="11"/>
                                        </p:tgtEl>
                                      </p:cBhvr>
                                    </p:animEffect>
                                  </p:childTnLst>
                                </p:cTn>
                              </p:par>
                            </p:childTnLst>
                          </p:cTn>
                        </p:par>
                        <p:par>
                          <p:cTn id="20" fill="hold">
                            <p:stCondLst>
                              <p:cond delay="200"/>
                            </p:stCondLst>
                            <p:childTnLst>
                              <p:par>
                                <p:cTn id="21" presetID="10"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
                                        <p:tgtEl>
                                          <p:spTgt spid="14"/>
                                        </p:tgtEl>
                                      </p:cBhvr>
                                    </p:animEffect>
                                  </p:childTnLst>
                                </p:cTn>
                              </p:par>
                            </p:childTnLst>
                          </p:cTn>
                        </p:par>
                        <p:par>
                          <p:cTn id="24" fill="hold">
                            <p:stCondLst>
                              <p:cond delay="250"/>
                            </p:stCondLst>
                            <p:childTnLst>
                              <p:par>
                                <p:cTn id="25" presetID="10" presetClass="entr" presetSubtype="0"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
                                        <p:tgtEl>
                                          <p:spTgt spid="17"/>
                                        </p:tgtEl>
                                      </p:cBhvr>
                                    </p:animEffect>
                                  </p:childTnLst>
                                </p:cTn>
                              </p:par>
                            </p:childTnLst>
                          </p:cTn>
                        </p:par>
                        <p:par>
                          <p:cTn id="28" fill="hold">
                            <p:stCondLst>
                              <p:cond delay="300"/>
                            </p:stCondLst>
                            <p:childTnLst>
                              <p:par>
                                <p:cTn id="29" presetID="10"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
                                        <p:tgtEl>
                                          <p:spTgt spid="20"/>
                                        </p:tgtEl>
                                      </p:cBhvr>
                                    </p:animEffect>
                                  </p:childTnLst>
                                </p:cTn>
                              </p:par>
                            </p:childTnLst>
                          </p:cTn>
                        </p:par>
                        <p:par>
                          <p:cTn id="32" fill="hold">
                            <p:stCondLst>
                              <p:cond delay="350"/>
                            </p:stCondLst>
                            <p:childTnLst>
                              <p:par>
                                <p:cTn id="33" presetID="10" presetClass="entr" presetSubtype="0"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
                                        <p:tgtEl>
                                          <p:spTgt spid="21"/>
                                        </p:tgtEl>
                                      </p:cBhvr>
                                    </p:animEffect>
                                  </p:childTnLst>
                                </p:cTn>
                              </p:par>
                            </p:childTnLst>
                          </p:cTn>
                        </p:par>
                        <p:par>
                          <p:cTn id="36" fill="hold">
                            <p:stCondLst>
                              <p:cond delay="400"/>
                            </p:stCondLst>
                            <p:childTnLst>
                              <p:par>
                                <p:cTn id="37" presetID="10" presetClass="entr" presetSubtype="0"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
                                        <p:tgtEl>
                                          <p:spTgt spid="22"/>
                                        </p:tgtEl>
                                      </p:cBhvr>
                                    </p:animEffect>
                                  </p:childTnLst>
                                </p:cTn>
                              </p:par>
                            </p:childTnLst>
                          </p:cTn>
                        </p:par>
                        <p:par>
                          <p:cTn id="40" fill="hold">
                            <p:stCondLst>
                              <p:cond delay="450"/>
                            </p:stCondLst>
                            <p:childTnLst>
                              <p:par>
                                <p:cTn id="41" presetID="10" presetClass="entr" presetSubtype="0"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
                                        <p:tgtEl>
                                          <p:spTgt spid="23"/>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
                                        <p:tgtEl>
                                          <p:spTgt spid="24"/>
                                        </p:tgtEl>
                                      </p:cBhvr>
                                    </p:animEffect>
                                  </p:childTnLst>
                                </p:cTn>
                              </p:par>
                            </p:childTnLst>
                          </p:cTn>
                        </p:par>
                        <p:par>
                          <p:cTn id="48" fill="hold">
                            <p:stCondLst>
                              <p:cond delay="550"/>
                            </p:stCondLst>
                            <p:childTnLst>
                              <p:par>
                                <p:cTn id="49" presetID="10" presetClass="entr" presetSubtype="0"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
                                        <p:tgtEl>
                                          <p:spTgt spid="25"/>
                                        </p:tgtEl>
                                      </p:cBhvr>
                                    </p:animEffect>
                                  </p:childTnLst>
                                </p:cTn>
                              </p:par>
                            </p:childTnLst>
                          </p:cTn>
                        </p:par>
                        <p:par>
                          <p:cTn id="52" fill="hold">
                            <p:stCondLst>
                              <p:cond delay="600"/>
                            </p:stCondLst>
                            <p:childTnLst>
                              <p:par>
                                <p:cTn id="53" presetID="10" presetClass="entr" presetSubtype="0" fill="hold" nodeType="after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
                                        <p:tgtEl>
                                          <p:spTgt spid="26"/>
                                        </p:tgtEl>
                                      </p:cBhvr>
                                    </p:animEffect>
                                  </p:childTnLst>
                                </p:cTn>
                              </p:par>
                            </p:childTnLst>
                          </p:cTn>
                        </p:par>
                        <p:par>
                          <p:cTn id="56" fill="hold">
                            <p:stCondLst>
                              <p:cond delay="650"/>
                            </p:stCondLst>
                            <p:childTnLst>
                              <p:par>
                                <p:cTn id="57" presetID="10" presetClass="entr" presetSubtype="0"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
                                        <p:tgtEl>
                                          <p:spTgt spid="27"/>
                                        </p:tgtEl>
                                      </p:cBhvr>
                                    </p:animEffect>
                                  </p:childTnLst>
                                </p:cTn>
                              </p:par>
                            </p:childTnLst>
                          </p:cTn>
                        </p:par>
                        <p:par>
                          <p:cTn id="60" fill="hold">
                            <p:stCondLst>
                              <p:cond delay="700"/>
                            </p:stCondLst>
                            <p:childTnLst>
                              <p:par>
                                <p:cTn id="61" presetID="10" presetClass="entr" presetSubtype="0" fill="hold"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
                                        <p:tgtEl>
                                          <p:spTgt spid="33"/>
                                        </p:tgtEl>
                                      </p:cBhvr>
                                    </p:animEffect>
                                  </p:childTnLst>
                                </p:cTn>
                              </p:par>
                            </p:childTnLst>
                          </p:cTn>
                        </p:par>
                        <p:par>
                          <p:cTn id="64" fill="hold">
                            <p:stCondLst>
                              <p:cond delay="750"/>
                            </p:stCondLst>
                            <p:childTnLst>
                              <p:par>
                                <p:cTn id="65" presetID="10" presetClass="entr" presetSubtype="0"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50"/>
                                        <p:tgtEl>
                                          <p:spTgt spid="39"/>
                                        </p:tgtEl>
                                      </p:cBhvr>
                                    </p:animEffect>
                                  </p:childTnLst>
                                </p:cTn>
                              </p:par>
                            </p:childTnLst>
                          </p:cTn>
                        </p:par>
                        <p:par>
                          <p:cTn id="68" fill="hold">
                            <p:stCondLst>
                              <p:cond delay="800"/>
                            </p:stCondLst>
                            <p:childTnLst>
                              <p:par>
                                <p:cTn id="69" presetID="10" presetClass="entr" presetSubtype="0" fill="hold"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
                                        <p:tgtEl>
                                          <p:spTgt spid="42"/>
                                        </p:tgtEl>
                                      </p:cBhvr>
                                    </p:animEffect>
                                  </p:childTnLst>
                                </p:cTn>
                              </p:par>
                            </p:childTnLst>
                          </p:cTn>
                        </p:par>
                        <p:par>
                          <p:cTn id="72" fill="hold">
                            <p:stCondLst>
                              <p:cond delay="850"/>
                            </p:stCondLst>
                            <p:childTnLst>
                              <p:par>
                                <p:cTn id="73" presetID="10" presetClass="entr" presetSubtype="0" fill="hold" nodeType="after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50"/>
                                        <p:tgtEl>
                                          <p:spTgt spid="45"/>
                                        </p:tgtEl>
                                      </p:cBhvr>
                                    </p:animEffect>
                                  </p:childTnLst>
                                </p:cTn>
                              </p:par>
                            </p:childTnLst>
                          </p:cTn>
                        </p:par>
                        <p:par>
                          <p:cTn id="76" fill="hold">
                            <p:stCondLst>
                              <p:cond delay="900"/>
                            </p:stCondLst>
                            <p:childTnLst>
                              <p:par>
                                <p:cTn id="77" presetID="10" presetClass="entr" presetSubtype="0" fill="hold" grpId="0" nodeType="after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fade">
                                      <p:cBhvr>
                                        <p:cTn id="79" dur="50"/>
                                        <p:tgtEl>
                                          <p:spTgt spid="48"/>
                                        </p:tgtEl>
                                      </p:cBhvr>
                                    </p:animEffect>
                                  </p:childTnLst>
                                </p:cTn>
                              </p:par>
                            </p:childTnLst>
                          </p:cTn>
                        </p:par>
                        <p:par>
                          <p:cTn id="80" fill="hold">
                            <p:stCondLst>
                              <p:cond delay="950"/>
                            </p:stCondLst>
                            <p:childTnLst>
                              <p:par>
                                <p:cTn id="81" presetID="10" presetClass="entr" presetSubtype="0" fill="hold" nodeType="after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50"/>
                                        <p:tgtEl>
                                          <p:spTgt spid="49"/>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50"/>
                                        <p:tgtEl>
                                          <p:spTgt spid="50"/>
                                        </p:tgtEl>
                                      </p:cBhvr>
                                    </p:animEffect>
                                  </p:childTnLst>
                                </p:cTn>
                              </p:par>
                            </p:childTnLst>
                          </p:cTn>
                        </p:par>
                        <p:par>
                          <p:cTn id="88" fill="hold">
                            <p:stCondLst>
                              <p:cond delay="1050"/>
                            </p:stCondLst>
                            <p:childTnLst>
                              <p:par>
                                <p:cTn id="89" presetID="10" presetClass="entr" presetSubtype="0" fill="hold" nodeType="after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fade">
                                      <p:cBhvr>
                                        <p:cTn id="91" dur="50"/>
                                        <p:tgtEl>
                                          <p:spTgt spid="53"/>
                                        </p:tgtEl>
                                      </p:cBhvr>
                                    </p:animEffect>
                                  </p:childTnLst>
                                </p:cTn>
                              </p:par>
                            </p:childTnLst>
                          </p:cTn>
                        </p:par>
                        <p:par>
                          <p:cTn id="92" fill="hold">
                            <p:stCondLst>
                              <p:cond delay="1100"/>
                            </p:stCondLst>
                            <p:childTnLst>
                              <p:par>
                                <p:cTn id="93" presetID="10" presetClass="entr" presetSubtype="0" fill="hold" nodeType="after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50"/>
                                        <p:tgtEl>
                                          <p:spTgt spid="54"/>
                                        </p:tgtEl>
                                      </p:cBhvr>
                                    </p:animEffect>
                                  </p:childTnLst>
                                </p:cTn>
                              </p:par>
                            </p:childTnLst>
                          </p:cTn>
                        </p:par>
                        <p:par>
                          <p:cTn id="96" fill="hold">
                            <p:stCondLst>
                              <p:cond delay="1150"/>
                            </p:stCondLst>
                            <p:childTnLst>
                              <p:par>
                                <p:cTn id="97" presetID="10" presetClass="entr" presetSubtype="0" fill="hold" nodeType="after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fade">
                                      <p:cBhvr>
                                        <p:cTn id="99" dur="50"/>
                                        <p:tgtEl>
                                          <p:spTgt spid="57"/>
                                        </p:tgtEl>
                                      </p:cBhvr>
                                    </p:animEffect>
                                  </p:childTnLst>
                                </p:cTn>
                              </p:par>
                            </p:childTnLst>
                          </p:cTn>
                        </p:par>
                        <p:par>
                          <p:cTn id="100" fill="hold">
                            <p:stCondLst>
                              <p:cond delay="1200"/>
                            </p:stCondLst>
                            <p:childTnLst>
                              <p:par>
                                <p:cTn id="101" presetID="10" presetClass="entr" presetSubtype="0" fill="hold" nodeType="after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50"/>
                                        <p:tgtEl>
                                          <p:spTgt spid="58"/>
                                        </p:tgtEl>
                                      </p:cBhvr>
                                    </p:animEffect>
                                  </p:childTnLst>
                                </p:cTn>
                              </p:par>
                            </p:childTnLst>
                          </p:cTn>
                        </p:par>
                        <p:par>
                          <p:cTn id="104" fill="hold">
                            <p:stCondLst>
                              <p:cond delay="1250"/>
                            </p:stCondLst>
                            <p:childTnLst>
                              <p:par>
                                <p:cTn id="105" presetID="10" presetClass="entr" presetSubtype="0" fill="hold" nodeType="after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50"/>
                                        <p:tgtEl>
                                          <p:spTgt spid="61"/>
                                        </p:tgtEl>
                                      </p:cBhvr>
                                    </p:animEffect>
                                  </p:childTnLst>
                                </p:cTn>
                              </p:par>
                            </p:childTnLst>
                          </p:cTn>
                        </p:par>
                        <p:par>
                          <p:cTn id="108" fill="hold">
                            <p:stCondLst>
                              <p:cond delay="1300"/>
                            </p:stCondLst>
                            <p:childTnLst>
                              <p:par>
                                <p:cTn id="109" presetID="10" presetClass="entr" presetSubtype="0" fill="hold" nodeType="afterEffect">
                                  <p:stCondLst>
                                    <p:cond delay="0"/>
                                  </p:stCondLst>
                                  <p:childTnLst>
                                    <p:set>
                                      <p:cBhvr>
                                        <p:cTn id="110" dur="1" fill="hold">
                                          <p:stCondLst>
                                            <p:cond delay="0"/>
                                          </p:stCondLst>
                                        </p:cTn>
                                        <p:tgtEl>
                                          <p:spTgt spid="64"/>
                                        </p:tgtEl>
                                        <p:attrNameLst>
                                          <p:attrName>style.visibility</p:attrName>
                                        </p:attrNameLst>
                                      </p:cBhvr>
                                      <p:to>
                                        <p:strVal val="visible"/>
                                      </p:to>
                                    </p:set>
                                    <p:animEffect transition="in" filter="fade">
                                      <p:cBhvr>
                                        <p:cTn id="111" dur="50"/>
                                        <p:tgtEl>
                                          <p:spTgt spid="64"/>
                                        </p:tgtEl>
                                      </p:cBhvr>
                                    </p:animEffect>
                                  </p:childTnLst>
                                </p:cTn>
                              </p:par>
                            </p:childTnLst>
                          </p:cTn>
                        </p:par>
                        <p:par>
                          <p:cTn id="112" fill="hold">
                            <p:stCondLst>
                              <p:cond delay="1350"/>
                            </p:stCondLst>
                            <p:childTnLst>
                              <p:par>
                                <p:cTn id="113" presetID="10" presetClass="entr" presetSubtype="0" fill="hold" nodeType="afterEffect">
                                  <p:stCondLst>
                                    <p:cond delay="0"/>
                                  </p:stCondLst>
                                  <p:childTnLst>
                                    <p:set>
                                      <p:cBhvr>
                                        <p:cTn id="114" dur="1" fill="hold">
                                          <p:stCondLst>
                                            <p:cond delay="0"/>
                                          </p:stCondLst>
                                        </p:cTn>
                                        <p:tgtEl>
                                          <p:spTgt spid="67"/>
                                        </p:tgtEl>
                                        <p:attrNameLst>
                                          <p:attrName>style.visibility</p:attrName>
                                        </p:attrNameLst>
                                      </p:cBhvr>
                                      <p:to>
                                        <p:strVal val="visible"/>
                                      </p:to>
                                    </p:set>
                                    <p:animEffect transition="in" filter="fade">
                                      <p:cBhvr>
                                        <p:cTn id="115" dur="50"/>
                                        <p:tgtEl>
                                          <p:spTgt spid="67"/>
                                        </p:tgtEl>
                                      </p:cBhvr>
                                    </p:animEffect>
                                  </p:childTnLst>
                                </p:cTn>
                              </p:par>
                            </p:childTnLst>
                          </p:cTn>
                        </p:par>
                        <p:par>
                          <p:cTn id="116" fill="hold">
                            <p:stCondLst>
                              <p:cond delay="1400"/>
                            </p:stCondLst>
                            <p:childTnLst>
                              <p:par>
                                <p:cTn id="117" presetID="10" presetClass="entr" presetSubtype="0" fill="hold" nodeType="afterEffect">
                                  <p:stCondLst>
                                    <p:cond delay="0"/>
                                  </p:stCondLst>
                                  <p:childTnLst>
                                    <p:set>
                                      <p:cBhvr>
                                        <p:cTn id="118" dur="1" fill="hold">
                                          <p:stCondLst>
                                            <p:cond delay="0"/>
                                          </p:stCondLst>
                                        </p:cTn>
                                        <p:tgtEl>
                                          <p:spTgt spid="68"/>
                                        </p:tgtEl>
                                        <p:attrNameLst>
                                          <p:attrName>style.visibility</p:attrName>
                                        </p:attrNameLst>
                                      </p:cBhvr>
                                      <p:to>
                                        <p:strVal val="visible"/>
                                      </p:to>
                                    </p:set>
                                    <p:animEffect transition="in" filter="fade">
                                      <p:cBhvr>
                                        <p:cTn id="119" dur="50"/>
                                        <p:tgtEl>
                                          <p:spTgt spid="68"/>
                                        </p:tgtEl>
                                      </p:cBhvr>
                                    </p:animEffect>
                                  </p:childTnLst>
                                </p:cTn>
                              </p:par>
                            </p:childTnLst>
                          </p:cTn>
                        </p:par>
                        <p:par>
                          <p:cTn id="120" fill="hold">
                            <p:stCondLst>
                              <p:cond delay="1450"/>
                            </p:stCondLst>
                            <p:childTnLst>
                              <p:par>
                                <p:cTn id="121" presetID="10" presetClass="entr" presetSubtype="0" fill="hold" nodeType="afterEffect">
                                  <p:stCondLst>
                                    <p:cond delay="0"/>
                                  </p:stCondLst>
                                  <p:childTnLst>
                                    <p:set>
                                      <p:cBhvr>
                                        <p:cTn id="122" dur="1" fill="hold">
                                          <p:stCondLst>
                                            <p:cond delay="0"/>
                                          </p:stCondLst>
                                        </p:cTn>
                                        <p:tgtEl>
                                          <p:spTgt spid="69"/>
                                        </p:tgtEl>
                                        <p:attrNameLst>
                                          <p:attrName>style.visibility</p:attrName>
                                        </p:attrNameLst>
                                      </p:cBhvr>
                                      <p:to>
                                        <p:strVal val="visible"/>
                                      </p:to>
                                    </p:set>
                                    <p:animEffect transition="in" filter="fade">
                                      <p:cBhvr>
                                        <p:cTn id="123" dur="50"/>
                                        <p:tgtEl>
                                          <p:spTgt spid="69"/>
                                        </p:tgtEl>
                                      </p:cBhvr>
                                    </p:animEffect>
                                  </p:childTnLst>
                                </p:cTn>
                              </p:par>
                            </p:childTnLst>
                          </p:cTn>
                        </p:par>
                        <p:par>
                          <p:cTn id="124" fill="hold">
                            <p:stCondLst>
                              <p:cond delay="1500"/>
                            </p:stCondLst>
                            <p:childTnLst>
                              <p:par>
                                <p:cTn id="125" presetID="10" presetClass="entr" presetSubtype="0" fill="hold" grpId="0" nodeType="afterEffect">
                                  <p:stCondLst>
                                    <p:cond delay="0"/>
                                  </p:stCondLst>
                                  <p:childTnLst>
                                    <p:set>
                                      <p:cBhvr>
                                        <p:cTn id="126" dur="1" fill="hold">
                                          <p:stCondLst>
                                            <p:cond delay="0"/>
                                          </p:stCondLst>
                                        </p:cTn>
                                        <p:tgtEl>
                                          <p:spTgt spid="70"/>
                                        </p:tgtEl>
                                        <p:attrNameLst>
                                          <p:attrName>style.visibility</p:attrName>
                                        </p:attrNameLst>
                                      </p:cBhvr>
                                      <p:to>
                                        <p:strVal val="visible"/>
                                      </p:to>
                                    </p:set>
                                    <p:animEffect transition="in" filter="fade">
                                      <p:cBhvr>
                                        <p:cTn id="127" dur="50"/>
                                        <p:tgtEl>
                                          <p:spTgt spid="70"/>
                                        </p:tgtEl>
                                      </p:cBhvr>
                                    </p:animEffect>
                                  </p:childTnLst>
                                </p:cTn>
                              </p:par>
                            </p:childTnLst>
                          </p:cTn>
                        </p:par>
                        <p:par>
                          <p:cTn id="128" fill="hold">
                            <p:stCondLst>
                              <p:cond delay="1550"/>
                            </p:stCondLst>
                            <p:childTnLst>
                              <p:par>
                                <p:cTn id="129" presetID="10" presetClass="entr" presetSubtype="0" fill="hold" grpId="0" nodeType="afterEffect">
                                  <p:stCondLst>
                                    <p:cond delay="0"/>
                                  </p:stCondLst>
                                  <p:childTnLst>
                                    <p:set>
                                      <p:cBhvr>
                                        <p:cTn id="130" dur="1" fill="hold">
                                          <p:stCondLst>
                                            <p:cond delay="0"/>
                                          </p:stCondLst>
                                        </p:cTn>
                                        <p:tgtEl>
                                          <p:spTgt spid="71"/>
                                        </p:tgtEl>
                                        <p:attrNameLst>
                                          <p:attrName>style.visibility</p:attrName>
                                        </p:attrNameLst>
                                      </p:cBhvr>
                                      <p:to>
                                        <p:strVal val="visible"/>
                                      </p:to>
                                    </p:set>
                                    <p:animEffect transition="in" filter="fade">
                                      <p:cBhvr>
                                        <p:cTn id="131" dur="50"/>
                                        <p:tgtEl>
                                          <p:spTgt spid="71"/>
                                        </p:tgtEl>
                                      </p:cBhvr>
                                    </p:animEffect>
                                  </p:childTnLst>
                                </p:cTn>
                              </p:par>
                            </p:childTnLst>
                          </p:cTn>
                        </p:par>
                        <p:par>
                          <p:cTn id="132" fill="hold">
                            <p:stCondLst>
                              <p:cond delay="1600"/>
                            </p:stCondLst>
                            <p:childTnLst>
                              <p:par>
                                <p:cTn id="133" presetID="10" presetClass="entr" presetSubtype="0" fill="hold" grpId="0" nodeType="afterEffect">
                                  <p:stCondLst>
                                    <p:cond delay="0"/>
                                  </p:stCondLst>
                                  <p:childTnLst>
                                    <p:set>
                                      <p:cBhvr>
                                        <p:cTn id="134" dur="1" fill="hold">
                                          <p:stCondLst>
                                            <p:cond delay="0"/>
                                          </p:stCondLst>
                                        </p:cTn>
                                        <p:tgtEl>
                                          <p:spTgt spid="72"/>
                                        </p:tgtEl>
                                        <p:attrNameLst>
                                          <p:attrName>style.visibility</p:attrName>
                                        </p:attrNameLst>
                                      </p:cBhvr>
                                      <p:to>
                                        <p:strVal val="visible"/>
                                      </p:to>
                                    </p:set>
                                    <p:animEffect transition="in" filter="fade">
                                      <p:cBhvr>
                                        <p:cTn id="135" dur="50"/>
                                        <p:tgtEl>
                                          <p:spTgt spid="72"/>
                                        </p:tgtEl>
                                      </p:cBhvr>
                                    </p:animEffect>
                                  </p:childTnLst>
                                </p:cTn>
                              </p:par>
                            </p:childTnLst>
                          </p:cTn>
                        </p:par>
                        <p:par>
                          <p:cTn id="136" fill="hold">
                            <p:stCondLst>
                              <p:cond delay="1650"/>
                            </p:stCondLst>
                            <p:childTnLst>
                              <p:par>
                                <p:cTn id="137" presetID="10" presetClass="entr" presetSubtype="0" fill="hold" grpId="0" nodeType="afterEffect">
                                  <p:stCondLst>
                                    <p:cond delay="0"/>
                                  </p:stCondLst>
                                  <p:childTnLst>
                                    <p:set>
                                      <p:cBhvr>
                                        <p:cTn id="138" dur="1" fill="hold">
                                          <p:stCondLst>
                                            <p:cond delay="0"/>
                                          </p:stCondLst>
                                        </p:cTn>
                                        <p:tgtEl>
                                          <p:spTgt spid="73"/>
                                        </p:tgtEl>
                                        <p:attrNameLst>
                                          <p:attrName>style.visibility</p:attrName>
                                        </p:attrNameLst>
                                      </p:cBhvr>
                                      <p:to>
                                        <p:strVal val="visible"/>
                                      </p:to>
                                    </p:set>
                                    <p:animEffect transition="in" filter="fade">
                                      <p:cBhvr>
                                        <p:cTn id="139" dur="50"/>
                                        <p:tgtEl>
                                          <p:spTgt spid="73"/>
                                        </p:tgtEl>
                                      </p:cBhvr>
                                    </p:animEffect>
                                  </p:childTnLst>
                                </p:cTn>
                              </p:par>
                            </p:childTnLst>
                          </p:cTn>
                        </p:par>
                        <p:par>
                          <p:cTn id="140" fill="hold">
                            <p:stCondLst>
                              <p:cond delay="1700"/>
                            </p:stCondLst>
                            <p:childTnLst>
                              <p:par>
                                <p:cTn id="141" presetID="10" presetClass="entr" presetSubtype="0" fill="hold" grpId="0" nodeType="afterEffect">
                                  <p:stCondLst>
                                    <p:cond delay="0"/>
                                  </p:stCondLst>
                                  <p:childTnLst>
                                    <p:set>
                                      <p:cBhvr>
                                        <p:cTn id="142" dur="1" fill="hold">
                                          <p:stCondLst>
                                            <p:cond delay="0"/>
                                          </p:stCondLst>
                                        </p:cTn>
                                        <p:tgtEl>
                                          <p:spTgt spid="74"/>
                                        </p:tgtEl>
                                        <p:attrNameLst>
                                          <p:attrName>style.visibility</p:attrName>
                                        </p:attrNameLst>
                                      </p:cBhvr>
                                      <p:to>
                                        <p:strVal val="visible"/>
                                      </p:to>
                                    </p:set>
                                    <p:animEffect transition="in" filter="fade">
                                      <p:cBhvr>
                                        <p:cTn id="143" dur="50"/>
                                        <p:tgtEl>
                                          <p:spTgt spid="74"/>
                                        </p:tgtEl>
                                      </p:cBhvr>
                                    </p:animEffect>
                                  </p:childTnLst>
                                </p:cTn>
                              </p:par>
                            </p:childTnLst>
                          </p:cTn>
                        </p:par>
                        <p:par>
                          <p:cTn id="144" fill="hold">
                            <p:stCondLst>
                              <p:cond delay="1750"/>
                            </p:stCondLst>
                            <p:childTnLst>
                              <p:par>
                                <p:cTn id="145" presetID="10" presetClass="entr" presetSubtype="0" fill="hold" grpId="0" nodeType="afterEffect">
                                  <p:stCondLst>
                                    <p:cond delay="0"/>
                                  </p:stCondLst>
                                  <p:childTnLst>
                                    <p:set>
                                      <p:cBhvr>
                                        <p:cTn id="146" dur="1" fill="hold">
                                          <p:stCondLst>
                                            <p:cond delay="0"/>
                                          </p:stCondLst>
                                        </p:cTn>
                                        <p:tgtEl>
                                          <p:spTgt spid="75"/>
                                        </p:tgtEl>
                                        <p:attrNameLst>
                                          <p:attrName>style.visibility</p:attrName>
                                        </p:attrNameLst>
                                      </p:cBhvr>
                                      <p:to>
                                        <p:strVal val="visible"/>
                                      </p:to>
                                    </p:set>
                                    <p:animEffect transition="in" filter="fade">
                                      <p:cBhvr>
                                        <p:cTn id="147" dur="50"/>
                                        <p:tgtEl>
                                          <p:spTgt spid="75"/>
                                        </p:tgtEl>
                                      </p:cBhvr>
                                    </p:animEffect>
                                  </p:childTnLst>
                                </p:cTn>
                              </p:par>
                            </p:childTnLst>
                          </p:cTn>
                        </p:par>
                        <p:par>
                          <p:cTn id="148" fill="hold">
                            <p:stCondLst>
                              <p:cond delay="1800"/>
                            </p:stCondLst>
                            <p:childTnLst>
                              <p:par>
                                <p:cTn id="149" presetID="10" presetClass="entr" presetSubtype="0" fill="hold" grpId="0" nodeType="afterEffect">
                                  <p:stCondLst>
                                    <p:cond delay="0"/>
                                  </p:stCondLst>
                                  <p:childTnLst>
                                    <p:set>
                                      <p:cBhvr>
                                        <p:cTn id="150" dur="1" fill="hold">
                                          <p:stCondLst>
                                            <p:cond delay="0"/>
                                          </p:stCondLst>
                                        </p:cTn>
                                        <p:tgtEl>
                                          <p:spTgt spid="76"/>
                                        </p:tgtEl>
                                        <p:attrNameLst>
                                          <p:attrName>style.visibility</p:attrName>
                                        </p:attrNameLst>
                                      </p:cBhvr>
                                      <p:to>
                                        <p:strVal val="visible"/>
                                      </p:to>
                                    </p:set>
                                    <p:animEffect transition="in" filter="fade">
                                      <p:cBhvr>
                                        <p:cTn id="151" dur="5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70" grpId="0"/>
      <p:bldP spid="71" grpId="0"/>
      <p:bldP spid="72" grpId="0"/>
      <p:bldP spid="73" grpId="0"/>
      <p:bldP spid="74" grpId="0"/>
      <p:bldP spid="75" grpId="0"/>
      <p:bldP spid="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sp>
      <p:sp>
        <p:nvSpPr>
          <p:cNvPr id="3" name="Freeform 3"/>
          <p:cNvSpPr/>
          <p:nvPr/>
        </p:nvSpPr>
        <p:spPr>
          <a:xfrm>
            <a:off x="7435067" y="1525856"/>
            <a:ext cx="10852933" cy="7235289"/>
          </a:xfrm>
          <a:custGeom>
            <a:avLst/>
            <a:gdLst/>
            <a:ahLst/>
            <a:cxnLst/>
            <a:rect l="l" t="t" r="r" b="b"/>
            <a:pathLst>
              <a:path w="10852933" h="7235289">
                <a:moveTo>
                  <a:pt x="0" y="0"/>
                </a:moveTo>
                <a:lnTo>
                  <a:pt x="10852933" y="0"/>
                </a:lnTo>
                <a:lnTo>
                  <a:pt x="10852933" y="7235288"/>
                </a:lnTo>
                <a:lnTo>
                  <a:pt x="0" y="7235288"/>
                </a:lnTo>
                <a:lnTo>
                  <a:pt x="0" y="0"/>
                </a:lnTo>
                <a:close/>
              </a:path>
            </a:pathLst>
          </a:custGeom>
          <a:blipFill>
            <a:blip r:embed="rId3"/>
            <a:stretch>
              <a:fillRect/>
            </a:stretch>
          </a:blipFill>
          <a:ln w="95250" cap="sq">
            <a:solidFill>
              <a:srgbClr val="000000"/>
            </a:solidFill>
            <a:prstDash val="solid"/>
            <a:miter/>
          </a:ln>
        </p:spPr>
      </p:sp>
      <p:grpSp>
        <p:nvGrpSpPr>
          <p:cNvPr id="4" name="Group 4"/>
          <p:cNvGrpSpPr/>
          <p:nvPr/>
        </p:nvGrpSpPr>
        <p:grpSpPr>
          <a:xfrm>
            <a:off x="0" y="1358365"/>
            <a:ext cx="7298611" cy="1561513"/>
            <a:chOff x="0" y="0"/>
            <a:chExt cx="1908761" cy="408373"/>
          </a:xfrm>
        </p:grpSpPr>
        <p:sp>
          <p:nvSpPr>
            <p:cNvPr id="5" name="Freeform 5"/>
            <p:cNvSpPr/>
            <p:nvPr/>
          </p:nvSpPr>
          <p:spPr>
            <a:xfrm>
              <a:off x="0" y="0"/>
              <a:ext cx="1908760" cy="408373"/>
            </a:xfrm>
            <a:custGeom>
              <a:avLst/>
              <a:gdLst/>
              <a:ahLst/>
              <a:cxnLst/>
              <a:rect l="l" t="t" r="r" b="b"/>
              <a:pathLst>
                <a:path w="1908760" h="408373">
                  <a:moveTo>
                    <a:pt x="54098" y="0"/>
                  </a:moveTo>
                  <a:lnTo>
                    <a:pt x="1854663" y="0"/>
                  </a:lnTo>
                  <a:cubicBezTo>
                    <a:pt x="1884540" y="0"/>
                    <a:pt x="1908760" y="24220"/>
                    <a:pt x="1908760" y="54098"/>
                  </a:cubicBezTo>
                  <a:lnTo>
                    <a:pt x="1908760" y="354275"/>
                  </a:lnTo>
                  <a:cubicBezTo>
                    <a:pt x="1908760" y="384153"/>
                    <a:pt x="1884540" y="408373"/>
                    <a:pt x="1854663" y="408373"/>
                  </a:cubicBezTo>
                  <a:lnTo>
                    <a:pt x="54098" y="408373"/>
                  </a:lnTo>
                  <a:cubicBezTo>
                    <a:pt x="24220" y="408373"/>
                    <a:pt x="0" y="384153"/>
                    <a:pt x="0" y="354275"/>
                  </a:cubicBezTo>
                  <a:lnTo>
                    <a:pt x="0" y="54098"/>
                  </a:lnTo>
                  <a:cubicBezTo>
                    <a:pt x="0" y="24220"/>
                    <a:pt x="24220" y="0"/>
                    <a:pt x="54098" y="0"/>
                  </a:cubicBezTo>
                  <a:close/>
                </a:path>
              </a:pathLst>
            </a:custGeom>
            <a:solidFill>
              <a:srgbClr val="D5EDF1"/>
            </a:solidFill>
          </p:spPr>
        </p:sp>
        <p:sp>
          <p:nvSpPr>
            <p:cNvPr id="6" name="TextBox 6"/>
            <p:cNvSpPr txBox="1"/>
            <p:nvPr/>
          </p:nvSpPr>
          <p:spPr>
            <a:xfrm>
              <a:off x="0" y="-57150"/>
              <a:ext cx="1908761" cy="465523"/>
            </a:xfrm>
            <a:prstGeom prst="rect">
              <a:avLst/>
            </a:prstGeom>
          </p:spPr>
          <p:txBody>
            <a:bodyPr lIns="50800" tIns="50800" rIns="50800" bIns="50800" rtlCol="0" anchor="ctr"/>
            <a:lstStyle/>
            <a:p>
              <a:pPr algn="ctr">
                <a:lnSpc>
                  <a:spcPts val="2380"/>
                </a:lnSpc>
              </a:pPr>
              <a:endParaRPr/>
            </a:p>
          </p:txBody>
        </p:sp>
      </p:grpSp>
      <p:grpSp>
        <p:nvGrpSpPr>
          <p:cNvPr id="7" name="Group 7"/>
          <p:cNvGrpSpPr/>
          <p:nvPr/>
        </p:nvGrpSpPr>
        <p:grpSpPr>
          <a:xfrm>
            <a:off x="0" y="3070799"/>
            <a:ext cx="7298611" cy="1390578"/>
            <a:chOff x="0" y="0"/>
            <a:chExt cx="1908761" cy="363669"/>
          </a:xfrm>
        </p:grpSpPr>
        <p:sp>
          <p:nvSpPr>
            <p:cNvPr id="8" name="Freeform 8"/>
            <p:cNvSpPr/>
            <p:nvPr/>
          </p:nvSpPr>
          <p:spPr>
            <a:xfrm>
              <a:off x="0" y="0"/>
              <a:ext cx="1908760" cy="363669"/>
            </a:xfrm>
            <a:custGeom>
              <a:avLst/>
              <a:gdLst/>
              <a:ahLst/>
              <a:cxnLst/>
              <a:rect l="l" t="t" r="r" b="b"/>
              <a:pathLst>
                <a:path w="1908760" h="363669">
                  <a:moveTo>
                    <a:pt x="54098" y="0"/>
                  </a:moveTo>
                  <a:lnTo>
                    <a:pt x="1854663" y="0"/>
                  </a:lnTo>
                  <a:cubicBezTo>
                    <a:pt x="1884540" y="0"/>
                    <a:pt x="1908760" y="24220"/>
                    <a:pt x="1908760" y="54098"/>
                  </a:cubicBezTo>
                  <a:lnTo>
                    <a:pt x="1908760" y="309572"/>
                  </a:lnTo>
                  <a:cubicBezTo>
                    <a:pt x="1908760" y="339449"/>
                    <a:pt x="1884540" y="363669"/>
                    <a:pt x="1854663" y="363669"/>
                  </a:cubicBezTo>
                  <a:lnTo>
                    <a:pt x="54098" y="363669"/>
                  </a:lnTo>
                  <a:cubicBezTo>
                    <a:pt x="24220" y="363669"/>
                    <a:pt x="0" y="339449"/>
                    <a:pt x="0" y="309572"/>
                  </a:cubicBezTo>
                  <a:lnTo>
                    <a:pt x="0" y="54098"/>
                  </a:lnTo>
                  <a:cubicBezTo>
                    <a:pt x="0" y="24220"/>
                    <a:pt x="24220" y="0"/>
                    <a:pt x="54098" y="0"/>
                  </a:cubicBezTo>
                  <a:close/>
                </a:path>
              </a:pathLst>
            </a:custGeom>
            <a:solidFill>
              <a:srgbClr val="D5EDF1"/>
            </a:solidFill>
          </p:spPr>
        </p:sp>
        <p:sp>
          <p:nvSpPr>
            <p:cNvPr id="9" name="TextBox 9"/>
            <p:cNvSpPr txBox="1"/>
            <p:nvPr/>
          </p:nvSpPr>
          <p:spPr>
            <a:xfrm>
              <a:off x="0" y="-57150"/>
              <a:ext cx="1908761" cy="420819"/>
            </a:xfrm>
            <a:prstGeom prst="rect">
              <a:avLst/>
            </a:prstGeom>
          </p:spPr>
          <p:txBody>
            <a:bodyPr lIns="50800" tIns="50800" rIns="50800" bIns="50800" rtlCol="0" anchor="ctr"/>
            <a:lstStyle/>
            <a:p>
              <a:pPr algn="ctr">
                <a:lnSpc>
                  <a:spcPts val="2380"/>
                </a:lnSpc>
              </a:pPr>
              <a:endParaRPr/>
            </a:p>
          </p:txBody>
        </p:sp>
      </p:grpSp>
      <p:grpSp>
        <p:nvGrpSpPr>
          <p:cNvPr id="10" name="Group 10"/>
          <p:cNvGrpSpPr/>
          <p:nvPr/>
        </p:nvGrpSpPr>
        <p:grpSpPr>
          <a:xfrm>
            <a:off x="0" y="4595352"/>
            <a:ext cx="7298611" cy="1469186"/>
            <a:chOff x="0" y="0"/>
            <a:chExt cx="1908761" cy="384227"/>
          </a:xfrm>
        </p:grpSpPr>
        <p:sp>
          <p:nvSpPr>
            <p:cNvPr id="11" name="Freeform 11"/>
            <p:cNvSpPr/>
            <p:nvPr/>
          </p:nvSpPr>
          <p:spPr>
            <a:xfrm>
              <a:off x="0" y="0"/>
              <a:ext cx="1908760" cy="384227"/>
            </a:xfrm>
            <a:custGeom>
              <a:avLst/>
              <a:gdLst/>
              <a:ahLst/>
              <a:cxnLst/>
              <a:rect l="l" t="t" r="r" b="b"/>
              <a:pathLst>
                <a:path w="1908760" h="384227">
                  <a:moveTo>
                    <a:pt x="54098" y="0"/>
                  </a:moveTo>
                  <a:lnTo>
                    <a:pt x="1854663" y="0"/>
                  </a:lnTo>
                  <a:cubicBezTo>
                    <a:pt x="1884540" y="0"/>
                    <a:pt x="1908760" y="24220"/>
                    <a:pt x="1908760" y="54098"/>
                  </a:cubicBezTo>
                  <a:lnTo>
                    <a:pt x="1908760" y="330129"/>
                  </a:lnTo>
                  <a:cubicBezTo>
                    <a:pt x="1908760" y="360007"/>
                    <a:pt x="1884540" y="384227"/>
                    <a:pt x="1854663" y="384227"/>
                  </a:cubicBezTo>
                  <a:lnTo>
                    <a:pt x="54098" y="384227"/>
                  </a:lnTo>
                  <a:cubicBezTo>
                    <a:pt x="24220" y="384227"/>
                    <a:pt x="0" y="360007"/>
                    <a:pt x="0" y="330129"/>
                  </a:cubicBezTo>
                  <a:lnTo>
                    <a:pt x="0" y="54098"/>
                  </a:lnTo>
                  <a:cubicBezTo>
                    <a:pt x="0" y="24220"/>
                    <a:pt x="24220" y="0"/>
                    <a:pt x="54098" y="0"/>
                  </a:cubicBezTo>
                  <a:close/>
                </a:path>
              </a:pathLst>
            </a:custGeom>
            <a:solidFill>
              <a:srgbClr val="D5EDF1"/>
            </a:solidFill>
          </p:spPr>
        </p:sp>
        <p:sp>
          <p:nvSpPr>
            <p:cNvPr id="12" name="TextBox 12"/>
            <p:cNvSpPr txBox="1"/>
            <p:nvPr/>
          </p:nvSpPr>
          <p:spPr>
            <a:xfrm>
              <a:off x="0" y="-57150"/>
              <a:ext cx="1908761" cy="441377"/>
            </a:xfrm>
            <a:prstGeom prst="rect">
              <a:avLst/>
            </a:prstGeom>
          </p:spPr>
          <p:txBody>
            <a:bodyPr lIns="50800" tIns="50800" rIns="50800" bIns="50800" rtlCol="0" anchor="ctr"/>
            <a:lstStyle/>
            <a:p>
              <a:pPr algn="ctr">
                <a:lnSpc>
                  <a:spcPts val="2380"/>
                </a:lnSpc>
              </a:pPr>
              <a:endParaRPr/>
            </a:p>
          </p:txBody>
        </p:sp>
      </p:grpSp>
      <p:grpSp>
        <p:nvGrpSpPr>
          <p:cNvPr id="13" name="Group 13"/>
          <p:cNvGrpSpPr/>
          <p:nvPr/>
        </p:nvGrpSpPr>
        <p:grpSpPr>
          <a:xfrm>
            <a:off x="0" y="6218016"/>
            <a:ext cx="7298611" cy="1365508"/>
            <a:chOff x="0" y="0"/>
            <a:chExt cx="1908761" cy="357113"/>
          </a:xfrm>
        </p:grpSpPr>
        <p:sp>
          <p:nvSpPr>
            <p:cNvPr id="14" name="Freeform 14"/>
            <p:cNvSpPr/>
            <p:nvPr/>
          </p:nvSpPr>
          <p:spPr>
            <a:xfrm>
              <a:off x="0" y="0"/>
              <a:ext cx="1908760" cy="357113"/>
            </a:xfrm>
            <a:custGeom>
              <a:avLst/>
              <a:gdLst/>
              <a:ahLst/>
              <a:cxnLst/>
              <a:rect l="l" t="t" r="r" b="b"/>
              <a:pathLst>
                <a:path w="1908760" h="357113">
                  <a:moveTo>
                    <a:pt x="54098" y="0"/>
                  </a:moveTo>
                  <a:lnTo>
                    <a:pt x="1854663" y="0"/>
                  </a:lnTo>
                  <a:cubicBezTo>
                    <a:pt x="1884540" y="0"/>
                    <a:pt x="1908760" y="24220"/>
                    <a:pt x="1908760" y="54098"/>
                  </a:cubicBezTo>
                  <a:lnTo>
                    <a:pt x="1908760" y="303015"/>
                  </a:lnTo>
                  <a:cubicBezTo>
                    <a:pt x="1908760" y="332892"/>
                    <a:pt x="1884540" y="357113"/>
                    <a:pt x="1854663" y="357113"/>
                  </a:cubicBezTo>
                  <a:lnTo>
                    <a:pt x="54098" y="357113"/>
                  </a:lnTo>
                  <a:cubicBezTo>
                    <a:pt x="24220" y="357113"/>
                    <a:pt x="0" y="332892"/>
                    <a:pt x="0" y="303015"/>
                  </a:cubicBezTo>
                  <a:lnTo>
                    <a:pt x="0" y="54098"/>
                  </a:lnTo>
                  <a:cubicBezTo>
                    <a:pt x="0" y="24220"/>
                    <a:pt x="24220" y="0"/>
                    <a:pt x="54098" y="0"/>
                  </a:cubicBezTo>
                  <a:close/>
                </a:path>
              </a:pathLst>
            </a:custGeom>
            <a:solidFill>
              <a:srgbClr val="D5EDF1"/>
            </a:solidFill>
          </p:spPr>
        </p:sp>
        <p:sp>
          <p:nvSpPr>
            <p:cNvPr id="15" name="TextBox 15"/>
            <p:cNvSpPr txBox="1"/>
            <p:nvPr/>
          </p:nvSpPr>
          <p:spPr>
            <a:xfrm>
              <a:off x="0" y="-57150"/>
              <a:ext cx="1908761" cy="414263"/>
            </a:xfrm>
            <a:prstGeom prst="rect">
              <a:avLst/>
            </a:prstGeom>
          </p:spPr>
          <p:txBody>
            <a:bodyPr lIns="50800" tIns="50800" rIns="50800" bIns="50800" rtlCol="0" anchor="ctr"/>
            <a:lstStyle/>
            <a:p>
              <a:pPr algn="ctr">
                <a:lnSpc>
                  <a:spcPts val="2380"/>
                </a:lnSpc>
              </a:pPr>
              <a:endParaRPr/>
            </a:p>
          </p:txBody>
        </p:sp>
      </p:grpSp>
      <p:grpSp>
        <p:nvGrpSpPr>
          <p:cNvPr id="16" name="Group 16"/>
          <p:cNvGrpSpPr/>
          <p:nvPr/>
        </p:nvGrpSpPr>
        <p:grpSpPr>
          <a:xfrm>
            <a:off x="0" y="7737002"/>
            <a:ext cx="7298611" cy="1402173"/>
            <a:chOff x="0" y="0"/>
            <a:chExt cx="1908761" cy="366702"/>
          </a:xfrm>
        </p:grpSpPr>
        <p:sp>
          <p:nvSpPr>
            <p:cNvPr id="17" name="Freeform 17"/>
            <p:cNvSpPr/>
            <p:nvPr/>
          </p:nvSpPr>
          <p:spPr>
            <a:xfrm>
              <a:off x="0" y="0"/>
              <a:ext cx="1908760" cy="366702"/>
            </a:xfrm>
            <a:custGeom>
              <a:avLst/>
              <a:gdLst/>
              <a:ahLst/>
              <a:cxnLst/>
              <a:rect l="l" t="t" r="r" b="b"/>
              <a:pathLst>
                <a:path w="1908760" h="366702">
                  <a:moveTo>
                    <a:pt x="54098" y="0"/>
                  </a:moveTo>
                  <a:lnTo>
                    <a:pt x="1854663" y="0"/>
                  </a:lnTo>
                  <a:cubicBezTo>
                    <a:pt x="1884540" y="0"/>
                    <a:pt x="1908760" y="24220"/>
                    <a:pt x="1908760" y="54098"/>
                  </a:cubicBezTo>
                  <a:lnTo>
                    <a:pt x="1908760" y="312604"/>
                  </a:lnTo>
                  <a:cubicBezTo>
                    <a:pt x="1908760" y="342481"/>
                    <a:pt x="1884540" y="366702"/>
                    <a:pt x="1854663" y="366702"/>
                  </a:cubicBezTo>
                  <a:lnTo>
                    <a:pt x="54098" y="366702"/>
                  </a:lnTo>
                  <a:cubicBezTo>
                    <a:pt x="24220" y="366702"/>
                    <a:pt x="0" y="342481"/>
                    <a:pt x="0" y="312604"/>
                  </a:cubicBezTo>
                  <a:lnTo>
                    <a:pt x="0" y="54098"/>
                  </a:lnTo>
                  <a:cubicBezTo>
                    <a:pt x="0" y="24220"/>
                    <a:pt x="24220" y="0"/>
                    <a:pt x="54098" y="0"/>
                  </a:cubicBezTo>
                  <a:close/>
                </a:path>
              </a:pathLst>
            </a:custGeom>
            <a:solidFill>
              <a:srgbClr val="D5EDF1"/>
            </a:solidFill>
          </p:spPr>
        </p:sp>
        <p:sp>
          <p:nvSpPr>
            <p:cNvPr id="18" name="TextBox 18"/>
            <p:cNvSpPr txBox="1"/>
            <p:nvPr/>
          </p:nvSpPr>
          <p:spPr>
            <a:xfrm>
              <a:off x="0" y="-57150"/>
              <a:ext cx="1908761" cy="423852"/>
            </a:xfrm>
            <a:prstGeom prst="rect">
              <a:avLst/>
            </a:prstGeom>
          </p:spPr>
          <p:txBody>
            <a:bodyPr lIns="50800" tIns="50800" rIns="50800" bIns="50800" rtlCol="0" anchor="ctr"/>
            <a:lstStyle/>
            <a:p>
              <a:pPr algn="ctr">
                <a:lnSpc>
                  <a:spcPts val="2380"/>
                </a:lnSpc>
              </a:pPr>
              <a:endParaRPr/>
            </a:p>
          </p:txBody>
        </p:sp>
      </p:grpSp>
      <p:sp>
        <p:nvSpPr>
          <p:cNvPr id="19" name="TextBox 19"/>
          <p:cNvSpPr txBox="1"/>
          <p:nvPr/>
        </p:nvSpPr>
        <p:spPr>
          <a:xfrm>
            <a:off x="4920259" y="-34956"/>
            <a:ext cx="7701861" cy="1310743"/>
          </a:xfrm>
          <a:prstGeom prst="rect">
            <a:avLst/>
          </a:prstGeom>
        </p:spPr>
        <p:txBody>
          <a:bodyPr lIns="0" tIns="0" rIns="0" bIns="0" rtlCol="0" anchor="t">
            <a:spAutoFit/>
          </a:bodyPr>
          <a:lstStyle/>
          <a:p>
            <a:pPr algn="ctr">
              <a:lnSpc>
                <a:spcPts val="10850"/>
              </a:lnSpc>
            </a:pPr>
            <a:r>
              <a:rPr lang="en-US" sz="7750" b="1">
                <a:solidFill>
                  <a:srgbClr val="000000"/>
                </a:solidFill>
                <a:ea typeface="Poppins Bold"/>
                <a:cs typeface="Poppins Bold"/>
                <a:sym typeface="Poppins Bold"/>
              </a:rPr>
              <a:t>LUỒNG MÃ HÓA</a:t>
            </a:r>
          </a:p>
        </p:txBody>
      </p:sp>
      <p:sp>
        <p:nvSpPr>
          <p:cNvPr id="20" name="TextBox 20"/>
          <p:cNvSpPr txBox="1"/>
          <p:nvPr/>
        </p:nvSpPr>
        <p:spPr>
          <a:xfrm>
            <a:off x="13589603" y="1909281"/>
            <a:ext cx="12601" cy="455253"/>
          </a:xfrm>
          <a:prstGeom prst="rect">
            <a:avLst/>
          </a:prstGeom>
        </p:spPr>
        <p:txBody>
          <a:bodyPr lIns="0" tIns="0" rIns="0" bIns="0" rtlCol="0" anchor="t">
            <a:spAutoFit/>
          </a:bodyPr>
          <a:lstStyle/>
          <a:p>
            <a:pPr marL="0" lvl="0" indent="0" algn="ctr">
              <a:lnSpc>
                <a:spcPts val="4074"/>
              </a:lnSpc>
              <a:spcBef>
                <a:spcPct val="0"/>
              </a:spcBef>
            </a:pPr>
            <a:endParaRPr/>
          </a:p>
        </p:txBody>
      </p:sp>
      <p:sp>
        <p:nvSpPr>
          <p:cNvPr id="21" name="TextBox 21"/>
          <p:cNvSpPr txBox="1"/>
          <p:nvPr/>
        </p:nvSpPr>
        <p:spPr>
          <a:xfrm>
            <a:off x="312175" y="1369578"/>
            <a:ext cx="5530381" cy="1701221"/>
          </a:xfrm>
          <a:prstGeom prst="rect">
            <a:avLst/>
          </a:prstGeom>
        </p:spPr>
        <p:txBody>
          <a:bodyPr lIns="0" tIns="0" rIns="0" bIns="0" rtlCol="0" anchor="t">
            <a:spAutoFit/>
          </a:bodyPr>
          <a:lstStyle/>
          <a:p>
            <a:pPr algn="l">
              <a:lnSpc>
                <a:spcPts val="3383"/>
              </a:lnSpc>
            </a:pPr>
            <a:r>
              <a:rPr lang="en-US" sz="2416">
                <a:solidFill>
                  <a:srgbClr val="000000"/>
                </a:solidFill>
                <a:ea typeface="Poppins"/>
                <a:cs typeface="Poppins"/>
                <a:sym typeface="Poppins"/>
              </a:rPr>
              <a:t>Handshake</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Hai Peer thiết lập kết nối TCP.</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Trao đổi RSA Public Key để chuẩn bị xác thực.</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Khởi tạo phiên giao tiếp an toàn.</a:t>
            </a:r>
          </a:p>
          <a:p>
            <a:pPr algn="l">
              <a:lnSpc>
                <a:spcPts val="2537"/>
              </a:lnSpc>
              <a:spcBef>
                <a:spcPct val="0"/>
              </a:spcBef>
            </a:pPr>
            <a:endParaRPr lang="en-US" sz="1812">
              <a:solidFill>
                <a:srgbClr val="000000"/>
              </a:solidFill>
              <a:ea typeface="Poppins"/>
              <a:cs typeface="Poppins"/>
              <a:sym typeface="Poppins"/>
            </a:endParaRPr>
          </a:p>
        </p:txBody>
      </p:sp>
      <p:sp>
        <p:nvSpPr>
          <p:cNvPr id="22" name="TextBox 22"/>
          <p:cNvSpPr txBox="1"/>
          <p:nvPr/>
        </p:nvSpPr>
        <p:spPr>
          <a:xfrm>
            <a:off x="312175" y="2987497"/>
            <a:ext cx="6769360" cy="1701221"/>
          </a:xfrm>
          <a:prstGeom prst="rect">
            <a:avLst/>
          </a:prstGeom>
        </p:spPr>
        <p:txBody>
          <a:bodyPr lIns="0" tIns="0" rIns="0" bIns="0" rtlCol="0" anchor="t">
            <a:spAutoFit/>
          </a:bodyPr>
          <a:lstStyle/>
          <a:p>
            <a:pPr algn="l">
              <a:lnSpc>
                <a:spcPts val="3383"/>
              </a:lnSpc>
              <a:spcBef>
                <a:spcPct val="0"/>
              </a:spcBef>
            </a:pPr>
            <a:r>
              <a:rPr lang="en-US" sz="2416">
                <a:solidFill>
                  <a:srgbClr val="000000"/>
                </a:solidFill>
                <a:ea typeface="Poppins"/>
                <a:cs typeface="Poppins"/>
                <a:sym typeface="Poppins"/>
              </a:rPr>
              <a:t>Trao đổi khóa</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Tạo Fernet Session Key.</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Mã hóa Session Key bằng RSA Public Key của Peer nhận.</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Peer nhận giải mã bằng RSA Private Key.</a:t>
            </a:r>
          </a:p>
          <a:p>
            <a:pPr algn="l">
              <a:lnSpc>
                <a:spcPts val="2537"/>
              </a:lnSpc>
              <a:spcBef>
                <a:spcPct val="0"/>
              </a:spcBef>
            </a:pPr>
            <a:endParaRPr lang="en-US" sz="1812">
              <a:solidFill>
                <a:srgbClr val="000000"/>
              </a:solidFill>
              <a:ea typeface="Poppins"/>
              <a:cs typeface="Poppins"/>
              <a:sym typeface="Poppins"/>
            </a:endParaRPr>
          </a:p>
        </p:txBody>
      </p:sp>
      <p:sp>
        <p:nvSpPr>
          <p:cNvPr id="23" name="TextBox 23"/>
          <p:cNvSpPr txBox="1"/>
          <p:nvPr/>
        </p:nvSpPr>
        <p:spPr>
          <a:xfrm>
            <a:off x="312175" y="4528677"/>
            <a:ext cx="5922830" cy="1701221"/>
          </a:xfrm>
          <a:prstGeom prst="rect">
            <a:avLst/>
          </a:prstGeom>
        </p:spPr>
        <p:txBody>
          <a:bodyPr lIns="0" tIns="0" rIns="0" bIns="0" rtlCol="0" anchor="t">
            <a:spAutoFit/>
          </a:bodyPr>
          <a:lstStyle/>
          <a:p>
            <a:pPr algn="just">
              <a:lnSpc>
                <a:spcPts val="3383"/>
              </a:lnSpc>
              <a:spcBef>
                <a:spcPct val="0"/>
              </a:spcBef>
            </a:pPr>
            <a:r>
              <a:rPr lang="en-US" sz="2416">
                <a:solidFill>
                  <a:srgbClr val="000000"/>
                </a:solidFill>
                <a:ea typeface="Poppins"/>
                <a:cs typeface="Poppins"/>
                <a:sym typeface="Poppins"/>
              </a:rPr>
              <a:t>Mã hóa tin nhắn</a:t>
            </a:r>
          </a:p>
          <a:p>
            <a:pPr marL="391370" lvl="1" indent="-195685" algn="just">
              <a:lnSpc>
                <a:spcPts val="2537"/>
              </a:lnSpc>
              <a:spcBef>
                <a:spcPct val="0"/>
              </a:spcBef>
              <a:buFont typeface="Arial"/>
              <a:buChar char="•"/>
            </a:pPr>
            <a:r>
              <a:rPr lang="en-US" sz="1812">
                <a:solidFill>
                  <a:srgbClr val="000000"/>
                </a:solidFill>
                <a:ea typeface="Poppins"/>
                <a:cs typeface="Poppins"/>
                <a:sym typeface="Poppins"/>
              </a:rPr>
              <a:t>Sử dụng Fernet (AES) để mã hóa tin nhắn và tệp.</a:t>
            </a:r>
          </a:p>
          <a:p>
            <a:pPr marL="391370" lvl="1" indent="-195685" algn="just">
              <a:lnSpc>
                <a:spcPts val="2537"/>
              </a:lnSpc>
              <a:spcBef>
                <a:spcPct val="0"/>
              </a:spcBef>
              <a:buFont typeface="Arial"/>
              <a:buChar char="•"/>
            </a:pPr>
            <a:r>
              <a:rPr lang="en-US" sz="1812">
                <a:solidFill>
                  <a:srgbClr val="000000"/>
                </a:solidFill>
                <a:ea typeface="Poppins"/>
                <a:cs typeface="Poppins"/>
                <a:sym typeface="Poppins"/>
              </a:rPr>
              <a:t>Dữ liệu được mã hóa trước khi gửi qua mạng.</a:t>
            </a:r>
          </a:p>
          <a:p>
            <a:pPr marL="391370" lvl="1" indent="-195685" algn="just">
              <a:lnSpc>
                <a:spcPts val="2537"/>
              </a:lnSpc>
              <a:spcBef>
                <a:spcPct val="0"/>
              </a:spcBef>
              <a:buFont typeface="Arial"/>
              <a:buChar char="•"/>
            </a:pPr>
            <a:r>
              <a:rPr lang="en-US" sz="1812">
                <a:solidFill>
                  <a:srgbClr val="000000"/>
                </a:solidFill>
                <a:ea typeface="Poppins"/>
                <a:cs typeface="Poppins"/>
                <a:sym typeface="Poppins"/>
              </a:rPr>
              <a:t>Đảm bảo tính bảo mật trong quá trình truyền.</a:t>
            </a:r>
          </a:p>
          <a:p>
            <a:pPr algn="just">
              <a:lnSpc>
                <a:spcPts val="2537"/>
              </a:lnSpc>
              <a:spcBef>
                <a:spcPct val="0"/>
              </a:spcBef>
            </a:pPr>
            <a:endParaRPr lang="en-US" sz="1812">
              <a:solidFill>
                <a:srgbClr val="000000"/>
              </a:solidFill>
              <a:ea typeface="Poppins"/>
              <a:cs typeface="Poppins"/>
              <a:sym typeface="Poppins"/>
            </a:endParaRPr>
          </a:p>
        </p:txBody>
      </p:sp>
      <p:sp>
        <p:nvSpPr>
          <p:cNvPr id="24" name="TextBox 24"/>
          <p:cNvSpPr txBox="1"/>
          <p:nvPr/>
        </p:nvSpPr>
        <p:spPr>
          <a:xfrm>
            <a:off x="312175" y="6163223"/>
            <a:ext cx="6326431" cy="1701221"/>
          </a:xfrm>
          <a:prstGeom prst="rect">
            <a:avLst/>
          </a:prstGeom>
        </p:spPr>
        <p:txBody>
          <a:bodyPr lIns="0" tIns="0" rIns="0" bIns="0" rtlCol="0" anchor="t">
            <a:spAutoFit/>
          </a:bodyPr>
          <a:lstStyle/>
          <a:p>
            <a:pPr algn="l">
              <a:lnSpc>
                <a:spcPts val="3383"/>
              </a:lnSpc>
              <a:spcBef>
                <a:spcPct val="0"/>
              </a:spcBef>
            </a:pPr>
            <a:r>
              <a:rPr lang="en-US" sz="2416">
                <a:solidFill>
                  <a:srgbClr val="000000"/>
                </a:solidFill>
                <a:ea typeface="Poppins"/>
                <a:cs typeface="Poppins"/>
                <a:sym typeface="Poppins"/>
              </a:rPr>
              <a:t>Giải mã</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Peer nhận sử dụng Session Key để giải mã dữ liệu.</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Kiểm tra tính toàn vẹn trước khi hiển thị hoặc lưu trữ.</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Đảm bảo dữ liệu không bị thay đổi.</a:t>
            </a:r>
          </a:p>
          <a:p>
            <a:pPr algn="l">
              <a:lnSpc>
                <a:spcPts val="2537"/>
              </a:lnSpc>
              <a:spcBef>
                <a:spcPct val="0"/>
              </a:spcBef>
            </a:pPr>
            <a:endParaRPr lang="en-US" sz="1812">
              <a:solidFill>
                <a:srgbClr val="000000"/>
              </a:solidFill>
              <a:ea typeface="Poppins"/>
              <a:cs typeface="Poppins"/>
              <a:sym typeface="Poppins"/>
            </a:endParaRPr>
          </a:p>
        </p:txBody>
      </p:sp>
      <p:sp>
        <p:nvSpPr>
          <p:cNvPr id="25" name="TextBox 25"/>
          <p:cNvSpPr txBox="1"/>
          <p:nvPr/>
        </p:nvSpPr>
        <p:spPr>
          <a:xfrm>
            <a:off x="312175" y="7697940"/>
            <a:ext cx="5539613" cy="1673790"/>
          </a:xfrm>
          <a:prstGeom prst="rect">
            <a:avLst/>
          </a:prstGeom>
        </p:spPr>
        <p:txBody>
          <a:bodyPr lIns="0" tIns="0" rIns="0" bIns="0" rtlCol="0" anchor="t">
            <a:spAutoFit/>
          </a:bodyPr>
          <a:lstStyle/>
          <a:p>
            <a:pPr algn="l">
              <a:lnSpc>
                <a:spcPts val="3242"/>
              </a:lnSpc>
              <a:spcBef>
                <a:spcPct val="0"/>
              </a:spcBef>
            </a:pPr>
            <a:r>
              <a:rPr lang="en-US" sz="2316">
                <a:solidFill>
                  <a:srgbClr val="000000"/>
                </a:solidFill>
                <a:ea typeface="Poppins"/>
                <a:cs typeface="Poppins"/>
                <a:sym typeface="Poppins"/>
              </a:rPr>
              <a:t>Bảo vệ khỏi giả mạo</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Áp dụng cơ chế Trust-On-First-Use (TOFU).</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So sánh Public Key ở các lần kết nối tiếp theo.</a:t>
            </a:r>
          </a:p>
          <a:p>
            <a:pPr marL="391370" lvl="1" indent="-195685" algn="l">
              <a:lnSpc>
                <a:spcPts val="2537"/>
              </a:lnSpc>
              <a:spcBef>
                <a:spcPct val="0"/>
              </a:spcBef>
              <a:buFont typeface="Arial"/>
              <a:buChar char="•"/>
            </a:pPr>
            <a:r>
              <a:rPr lang="en-US" sz="1812">
                <a:solidFill>
                  <a:srgbClr val="000000"/>
                </a:solidFill>
                <a:ea typeface="Poppins"/>
                <a:cs typeface="Poppins"/>
                <a:sym typeface="Poppins"/>
              </a:rPr>
              <a:t>Cảnh báo khi phát hiện Public Key Mismatch.</a:t>
            </a:r>
          </a:p>
          <a:p>
            <a:pPr algn="l">
              <a:lnSpc>
                <a:spcPts val="2537"/>
              </a:lnSpc>
              <a:spcBef>
                <a:spcPct val="0"/>
              </a:spcBef>
            </a:pPr>
            <a:endParaRPr lang="en-US" sz="1812">
              <a:solidFill>
                <a:srgbClr val="000000"/>
              </a:solidFill>
              <a:ea typeface="Poppins"/>
              <a:cs typeface="Poppins"/>
              <a:sym typeface="Poppin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50"/>
                                        <p:tgtEl>
                                          <p:spTgt spid="3"/>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50"/>
                                        <p:tgtEl>
                                          <p:spTgt spid="4"/>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50"/>
                                        <p:tgtEl>
                                          <p:spTgt spid="10"/>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50"/>
                                        <p:tgtEl>
                                          <p:spTgt spid="16"/>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250"/>
                                        <p:tgtEl>
                                          <p:spTgt spid="19"/>
                                        </p:tgtEl>
                                      </p:cBhvr>
                                    </p:animEffect>
                                  </p:childTnLst>
                                </p:cTn>
                              </p:par>
                            </p:childTnLst>
                          </p:cTn>
                        </p:par>
                        <p:par>
                          <p:cTn id="36" fill="hold">
                            <p:stCondLst>
                              <p:cond delay="2000"/>
                            </p:stCondLst>
                            <p:childTnLst>
                              <p:par>
                                <p:cTn id="37" presetID="10" presetClass="entr" presetSubtype="0" fill="hold" grpId="0" nodeType="afterEffect" nodePh="1">
                                  <p:stCondLst>
                                    <p:cond delay="0"/>
                                  </p:stCondLst>
                                  <p:endCondLst>
                                    <p:cond evt="begin" delay="0">
                                      <p:tn val="37"/>
                                    </p:cond>
                                  </p:end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50"/>
                                        <p:tgtEl>
                                          <p:spTgt spid="20"/>
                                        </p:tgtEl>
                                      </p:cBhvr>
                                    </p:animEffect>
                                  </p:childTnLst>
                                </p:cTn>
                              </p:par>
                            </p:childTnLst>
                          </p:cTn>
                        </p:par>
                        <p:par>
                          <p:cTn id="40" fill="hold">
                            <p:stCondLst>
                              <p:cond delay="2250"/>
                            </p:stCondLst>
                            <p:childTnLst>
                              <p:par>
                                <p:cTn id="41" presetID="10"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250"/>
                                        <p:tgtEl>
                                          <p:spTgt spid="21"/>
                                        </p:tgtEl>
                                      </p:cBhvr>
                                    </p:animEffect>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250"/>
                                        <p:tgtEl>
                                          <p:spTgt spid="22"/>
                                        </p:tgtEl>
                                      </p:cBhvr>
                                    </p:animEffect>
                                  </p:childTnLst>
                                </p:cTn>
                              </p:par>
                            </p:childTnLst>
                          </p:cTn>
                        </p:par>
                        <p:par>
                          <p:cTn id="48" fill="hold">
                            <p:stCondLst>
                              <p:cond delay="2750"/>
                            </p:stCondLst>
                            <p:childTnLst>
                              <p:par>
                                <p:cTn id="49" presetID="10" presetClass="entr" presetSubtype="0"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250"/>
                                        <p:tgtEl>
                                          <p:spTgt spid="23"/>
                                        </p:tgtEl>
                                      </p:cBhvr>
                                    </p:animEffect>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250"/>
                                        <p:tgtEl>
                                          <p:spTgt spid="24"/>
                                        </p:tgtEl>
                                      </p:cBhvr>
                                    </p:animEffect>
                                  </p:childTnLst>
                                </p:cTn>
                              </p:par>
                            </p:childTnLst>
                          </p:cTn>
                        </p:par>
                        <p:par>
                          <p:cTn id="56" fill="hold">
                            <p:stCondLst>
                              <p:cond delay="325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sp>
      <p:sp>
        <p:nvSpPr>
          <p:cNvPr id="3" name="Freeform 3"/>
          <p:cNvSpPr/>
          <p:nvPr/>
        </p:nvSpPr>
        <p:spPr>
          <a:xfrm>
            <a:off x="10405213" y="1414324"/>
            <a:ext cx="7568443" cy="8775860"/>
          </a:xfrm>
          <a:custGeom>
            <a:avLst/>
            <a:gdLst/>
            <a:ahLst/>
            <a:cxnLst/>
            <a:rect l="l" t="t" r="r" b="b"/>
            <a:pathLst>
              <a:path w="7568443" h="8775860">
                <a:moveTo>
                  <a:pt x="0" y="0"/>
                </a:moveTo>
                <a:lnTo>
                  <a:pt x="7568443" y="0"/>
                </a:lnTo>
                <a:lnTo>
                  <a:pt x="7568443" y="8775860"/>
                </a:lnTo>
                <a:lnTo>
                  <a:pt x="0" y="8775860"/>
                </a:lnTo>
                <a:lnTo>
                  <a:pt x="0" y="0"/>
                </a:lnTo>
                <a:close/>
              </a:path>
            </a:pathLst>
          </a:custGeom>
          <a:blipFill>
            <a:blip r:embed="rId3"/>
            <a:stretch>
              <a:fillRect r="-620"/>
            </a:stretch>
          </a:blipFill>
          <a:ln w="95250" cap="sq">
            <a:solidFill>
              <a:srgbClr val="000000"/>
            </a:solidFill>
            <a:prstDash val="solid"/>
            <a:miter/>
          </a:ln>
        </p:spPr>
      </p:sp>
      <p:grpSp>
        <p:nvGrpSpPr>
          <p:cNvPr id="4" name="Group 4"/>
          <p:cNvGrpSpPr/>
          <p:nvPr/>
        </p:nvGrpSpPr>
        <p:grpSpPr>
          <a:xfrm>
            <a:off x="0" y="1202637"/>
            <a:ext cx="9678001" cy="8987547"/>
            <a:chOff x="0" y="0"/>
            <a:chExt cx="2548939" cy="2367091"/>
          </a:xfrm>
        </p:grpSpPr>
        <p:sp>
          <p:nvSpPr>
            <p:cNvPr id="5" name="Freeform 5"/>
            <p:cNvSpPr/>
            <p:nvPr/>
          </p:nvSpPr>
          <p:spPr>
            <a:xfrm>
              <a:off x="0" y="0"/>
              <a:ext cx="2548939" cy="2367091"/>
            </a:xfrm>
            <a:custGeom>
              <a:avLst/>
              <a:gdLst/>
              <a:ahLst/>
              <a:cxnLst/>
              <a:rect l="l" t="t" r="r" b="b"/>
              <a:pathLst>
                <a:path w="2548939" h="2367091">
                  <a:moveTo>
                    <a:pt x="40797" y="0"/>
                  </a:moveTo>
                  <a:lnTo>
                    <a:pt x="2508141" y="0"/>
                  </a:lnTo>
                  <a:cubicBezTo>
                    <a:pt x="2530673" y="0"/>
                    <a:pt x="2548939" y="18266"/>
                    <a:pt x="2548939" y="40797"/>
                  </a:cubicBezTo>
                  <a:lnTo>
                    <a:pt x="2548939" y="2326293"/>
                  </a:lnTo>
                  <a:cubicBezTo>
                    <a:pt x="2548939" y="2348825"/>
                    <a:pt x="2530673" y="2367091"/>
                    <a:pt x="2508141" y="2367091"/>
                  </a:cubicBezTo>
                  <a:lnTo>
                    <a:pt x="40797" y="2367091"/>
                  </a:lnTo>
                  <a:cubicBezTo>
                    <a:pt x="18266" y="2367091"/>
                    <a:pt x="0" y="2348825"/>
                    <a:pt x="0" y="2326293"/>
                  </a:cubicBezTo>
                  <a:lnTo>
                    <a:pt x="0" y="40797"/>
                  </a:lnTo>
                  <a:cubicBezTo>
                    <a:pt x="0" y="18266"/>
                    <a:pt x="18266" y="0"/>
                    <a:pt x="40797" y="0"/>
                  </a:cubicBezTo>
                  <a:close/>
                </a:path>
              </a:pathLst>
            </a:custGeom>
            <a:solidFill>
              <a:srgbClr val="D5EDF1"/>
            </a:solidFill>
          </p:spPr>
        </p:sp>
        <p:sp>
          <p:nvSpPr>
            <p:cNvPr id="6" name="TextBox 6"/>
            <p:cNvSpPr txBox="1"/>
            <p:nvPr/>
          </p:nvSpPr>
          <p:spPr>
            <a:xfrm>
              <a:off x="0" y="-57150"/>
              <a:ext cx="2548939" cy="2424241"/>
            </a:xfrm>
            <a:prstGeom prst="rect">
              <a:avLst/>
            </a:prstGeom>
          </p:spPr>
          <p:txBody>
            <a:bodyPr lIns="50800" tIns="50800" rIns="50800" bIns="50800" rtlCol="0" anchor="ctr"/>
            <a:lstStyle/>
            <a:p>
              <a:pPr algn="ctr">
                <a:lnSpc>
                  <a:spcPts val="2380"/>
                </a:lnSpc>
              </a:pPr>
              <a:endParaRPr/>
            </a:p>
          </p:txBody>
        </p:sp>
      </p:grpSp>
      <p:sp>
        <p:nvSpPr>
          <p:cNvPr id="7" name="TextBox 7"/>
          <p:cNvSpPr txBox="1"/>
          <p:nvPr/>
        </p:nvSpPr>
        <p:spPr>
          <a:xfrm>
            <a:off x="4338486" y="18413"/>
            <a:ext cx="8483679" cy="939744"/>
          </a:xfrm>
          <a:prstGeom prst="rect">
            <a:avLst/>
          </a:prstGeom>
        </p:spPr>
        <p:txBody>
          <a:bodyPr lIns="0" tIns="0" rIns="0" bIns="0" rtlCol="0" anchor="t">
            <a:spAutoFit/>
          </a:bodyPr>
          <a:lstStyle/>
          <a:p>
            <a:pPr algn="ctr">
              <a:lnSpc>
                <a:spcPts val="7839"/>
              </a:lnSpc>
              <a:spcBef>
                <a:spcPct val="0"/>
              </a:spcBef>
            </a:pPr>
            <a:r>
              <a:rPr lang="en-US" sz="5599" b="1">
                <a:solidFill>
                  <a:srgbClr val="000000"/>
                </a:solidFill>
                <a:ea typeface="Poppins Bold"/>
                <a:cs typeface="Poppins Bold"/>
                <a:sym typeface="Poppins Bold"/>
              </a:rPr>
              <a:t>Giao thức truyền thông</a:t>
            </a:r>
          </a:p>
        </p:txBody>
      </p:sp>
      <p:sp>
        <p:nvSpPr>
          <p:cNvPr id="8" name="TextBox 8"/>
          <p:cNvSpPr txBox="1"/>
          <p:nvPr/>
        </p:nvSpPr>
        <p:spPr>
          <a:xfrm>
            <a:off x="406708" y="1338124"/>
            <a:ext cx="6786533" cy="2021205"/>
          </a:xfrm>
          <a:prstGeom prst="rect">
            <a:avLst/>
          </a:prstGeom>
        </p:spPr>
        <p:txBody>
          <a:bodyPr lIns="0" tIns="0" rIns="0" bIns="0" rtlCol="0" anchor="t">
            <a:spAutoFit/>
          </a:bodyPr>
          <a:lstStyle/>
          <a:p>
            <a:pPr algn="just">
              <a:lnSpc>
                <a:spcPts val="4199"/>
              </a:lnSpc>
            </a:pPr>
            <a:r>
              <a:rPr lang="en-US" sz="2999" b="1">
                <a:solidFill>
                  <a:srgbClr val="000000"/>
                </a:solidFill>
                <a:ea typeface="Poppins Bold"/>
                <a:cs typeface="Poppins Bold"/>
                <a:sym typeface="Poppins Bold"/>
              </a:rPr>
              <a:t>Packet Format</a:t>
            </a:r>
          </a:p>
          <a:p>
            <a:pPr marL="453388" lvl="1" indent="-226694" algn="just">
              <a:lnSpc>
                <a:spcPts val="2939"/>
              </a:lnSpc>
              <a:spcBef>
                <a:spcPct val="0"/>
              </a:spcBef>
              <a:buFont typeface="Arial"/>
              <a:buChar char="•"/>
            </a:pPr>
            <a:r>
              <a:rPr lang="en-US" sz="2099">
                <a:solidFill>
                  <a:srgbClr val="000000"/>
                </a:solidFill>
                <a:ea typeface="Poppins"/>
                <a:cs typeface="Poppins"/>
                <a:sym typeface="Poppins"/>
              </a:rPr>
              <a:t>Mỗi gói tin được chia thành Header và Payload.</a:t>
            </a:r>
          </a:p>
          <a:p>
            <a:pPr marL="453388" lvl="1" indent="-226694" algn="just">
              <a:lnSpc>
                <a:spcPts val="2939"/>
              </a:lnSpc>
              <a:spcBef>
                <a:spcPct val="0"/>
              </a:spcBef>
              <a:buFont typeface="Arial"/>
              <a:buChar char="•"/>
            </a:pPr>
            <a:r>
              <a:rPr lang="en-US" sz="2099">
                <a:solidFill>
                  <a:srgbClr val="000000"/>
                </a:solidFill>
                <a:ea typeface="Poppins"/>
                <a:cs typeface="Poppins"/>
                <a:sym typeface="Poppins"/>
              </a:rPr>
              <a:t>Header chứa loại gói tin và thông tin điều khiển.</a:t>
            </a:r>
          </a:p>
          <a:p>
            <a:pPr marL="453388" lvl="1" indent="-226694" algn="just">
              <a:lnSpc>
                <a:spcPts val="2939"/>
              </a:lnSpc>
              <a:spcBef>
                <a:spcPct val="0"/>
              </a:spcBef>
              <a:buFont typeface="Arial"/>
              <a:buChar char="•"/>
            </a:pPr>
            <a:r>
              <a:rPr lang="en-US" sz="2099">
                <a:solidFill>
                  <a:srgbClr val="000000"/>
                </a:solidFill>
                <a:ea typeface="Poppins"/>
                <a:cs typeface="Poppins"/>
                <a:sym typeface="Poppins"/>
              </a:rPr>
              <a:t>Payload chứa dữ liệu cần truyền.</a:t>
            </a:r>
          </a:p>
          <a:p>
            <a:pPr algn="just">
              <a:lnSpc>
                <a:spcPts val="2939"/>
              </a:lnSpc>
              <a:spcBef>
                <a:spcPct val="0"/>
              </a:spcBef>
            </a:pPr>
            <a:endParaRPr lang="en-US" sz="2099">
              <a:solidFill>
                <a:srgbClr val="000000"/>
              </a:solidFill>
              <a:ea typeface="Poppins"/>
              <a:cs typeface="Poppins"/>
              <a:sym typeface="Poppins"/>
            </a:endParaRPr>
          </a:p>
        </p:txBody>
      </p:sp>
      <p:sp>
        <p:nvSpPr>
          <p:cNvPr id="9" name="TextBox 9"/>
          <p:cNvSpPr txBox="1"/>
          <p:nvPr/>
        </p:nvSpPr>
        <p:spPr>
          <a:xfrm>
            <a:off x="406708" y="3264080"/>
            <a:ext cx="6434495" cy="2058036"/>
          </a:xfrm>
          <a:prstGeom prst="rect">
            <a:avLst/>
          </a:prstGeom>
        </p:spPr>
        <p:txBody>
          <a:bodyPr lIns="0" tIns="0" rIns="0" bIns="0" rtlCol="0" anchor="t">
            <a:spAutoFit/>
          </a:bodyPr>
          <a:lstStyle/>
          <a:p>
            <a:pPr algn="l">
              <a:lnSpc>
                <a:spcPts val="4339"/>
              </a:lnSpc>
              <a:spcBef>
                <a:spcPct val="0"/>
              </a:spcBef>
            </a:pPr>
            <a:r>
              <a:rPr lang="en-US" sz="3099" b="1">
                <a:solidFill>
                  <a:srgbClr val="000000"/>
                </a:solidFill>
                <a:ea typeface="Poppins Bold"/>
                <a:cs typeface="Poppins Bold"/>
                <a:sym typeface="Poppins Bold"/>
              </a:rPr>
              <a:t>JSON</a:t>
            </a:r>
          </a:p>
          <a:p>
            <a:pPr marL="453388" lvl="1" indent="-226694" algn="l">
              <a:lnSpc>
                <a:spcPts val="2939"/>
              </a:lnSpc>
              <a:spcBef>
                <a:spcPct val="0"/>
              </a:spcBef>
              <a:buFont typeface="Arial"/>
              <a:buChar char="•"/>
            </a:pPr>
            <a:r>
              <a:rPr lang="en-US" sz="2099">
                <a:solidFill>
                  <a:srgbClr val="000000"/>
                </a:solidFill>
                <a:ea typeface="Poppins"/>
                <a:cs typeface="Poppins"/>
                <a:sym typeface="Poppins"/>
              </a:rPr>
              <a:t>Sử dụng JSON làm định dạng trao đổi dữ liệu.</a:t>
            </a:r>
          </a:p>
          <a:p>
            <a:pPr marL="453388" lvl="1" indent="-226694" algn="l">
              <a:lnSpc>
                <a:spcPts val="2939"/>
              </a:lnSpc>
              <a:spcBef>
                <a:spcPct val="0"/>
              </a:spcBef>
              <a:buFont typeface="Arial"/>
              <a:buChar char="•"/>
            </a:pPr>
            <a:r>
              <a:rPr lang="en-US" sz="2099">
                <a:solidFill>
                  <a:srgbClr val="000000"/>
                </a:solidFill>
                <a:ea typeface="Poppins"/>
                <a:cs typeface="Poppins"/>
                <a:sym typeface="Poppins"/>
              </a:rPr>
              <a:t>Dễ đọc, dễ phân tích và dễ mở rộng.</a:t>
            </a:r>
          </a:p>
          <a:p>
            <a:pPr marL="453388" lvl="1" indent="-226694" algn="l">
              <a:lnSpc>
                <a:spcPts val="2939"/>
              </a:lnSpc>
              <a:spcBef>
                <a:spcPct val="0"/>
              </a:spcBef>
              <a:buFont typeface="Arial"/>
              <a:buChar char="•"/>
            </a:pPr>
            <a:r>
              <a:rPr lang="en-US" sz="2099">
                <a:solidFill>
                  <a:srgbClr val="000000"/>
                </a:solidFill>
                <a:ea typeface="Poppins"/>
                <a:cs typeface="Poppins"/>
                <a:sym typeface="Poppins"/>
              </a:rPr>
              <a:t>Phù hợp để truyền thông tin giữa các Peer.</a:t>
            </a:r>
          </a:p>
          <a:p>
            <a:pPr algn="l">
              <a:lnSpc>
                <a:spcPts val="2939"/>
              </a:lnSpc>
              <a:spcBef>
                <a:spcPct val="0"/>
              </a:spcBef>
            </a:pPr>
            <a:endParaRPr lang="en-US" sz="2099">
              <a:solidFill>
                <a:srgbClr val="000000"/>
              </a:solidFill>
              <a:ea typeface="Poppins"/>
              <a:cs typeface="Poppins"/>
              <a:sym typeface="Poppins"/>
            </a:endParaRPr>
          </a:p>
        </p:txBody>
      </p:sp>
      <p:sp>
        <p:nvSpPr>
          <p:cNvPr id="10" name="TextBox 10"/>
          <p:cNvSpPr txBox="1"/>
          <p:nvPr/>
        </p:nvSpPr>
        <p:spPr>
          <a:xfrm>
            <a:off x="406708" y="5478325"/>
            <a:ext cx="7557328" cy="1645194"/>
          </a:xfrm>
          <a:prstGeom prst="rect">
            <a:avLst/>
          </a:prstGeom>
        </p:spPr>
        <p:txBody>
          <a:bodyPr lIns="0" tIns="0" rIns="0" bIns="0" rtlCol="0" anchor="t">
            <a:spAutoFit/>
          </a:bodyPr>
          <a:lstStyle/>
          <a:p>
            <a:pPr algn="just">
              <a:lnSpc>
                <a:spcPts val="4339"/>
              </a:lnSpc>
              <a:spcBef>
                <a:spcPct val="0"/>
              </a:spcBef>
            </a:pPr>
            <a:r>
              <a:rPr lang="en-US" sz="3099" b="1">
                <a:solidFill>
                  <a:srgbClr val="000000"/>
                </a:solidFill>
                <a:ea typeface="Poppins Bold"/>
                <a:cs typeface="Poppins Bold"/>
                <a:sym typeface="Poppins Bold"/>
              </a:rPr>
              <a:t>Length Header</a:t>
            </a:r>
          </a:p>
          <a:p>
            <a:pPr marL="453388" lvl="1" indent="-226694" algn="just">
              <a:lnSpc>
                <a:spcPts val="2939"/>
              </a:lnSpc>
              <a:buFont typeface="Arial"/>
              <a:buChar char="•"/>
            </a:pPr>
            <a:r>
              <a:rPr lang="en-US" sz="2099">
                <a:solidFill>
                  <a:srgbClr val="000000"/>
                </a:solidFill>
                <a:ea typeface="Poppins"/>
                <a:cs typeface="Poppins"/>
                <a:sym typeface="Poppins"/>
              </a:rPr>
              <a:t>Mỗi gói tin có Length Header xác định kích thước dữ liệu.</a:t>
            </a:r>
          </a:p>
          <a:p>
            <a:pPr marL="453388" lvl="1" indent="-226694" algn="just">
              <a:lnSpc>
                <a:spcPts val="2939"/>
              </a:lnSpc>
              <a:buFont typeface="Arial"/>
              <a:buChar char="•"/>
            </a:pPr>
            <a:r>
              <a:rPr lang="en-US" sz="2099">
                <a:solidFill>
                  <a:srgbClr val="000000"/>
                </a:solidFill>
                <a:ea typeface="Poppins"/>
                <a:cs typeface="Poppins"/>
                <a:sym typeface="Poppins"/>
              </a:rPr>
              <a:t>Giúp bên nhận biết chính xác số byte cần đọc.</a:t>
            </a:r>
          </a:p>
          <a:p>
            <a:pPr marL="453388" lvl="1" indent="-226694" algn="just">
              <a:lnSpc>
                <a:spcPts val="2939"/>
              </a:lnSpc>
              <a:buFont typeface="Arial"/>
              <a:buChar char="•"/>
            </a:pPr>
            <a:r>
              <a:rPr lang="en-US" sz="2099">
                <a:solidFill>
                  <a:srgbClr val="000000"/>
                </a:solidFill>
                <a:ea typeface="Poppins"/>
                <a:cs typeface="Poppins"/>
                <a:sym typeface="Poppins"/>
              </a:rPr>
              <a:t>Hạn chế lỗi khi truyền dữ liệu qua TCP.</a:t>
            </a:r>
          </a:p>
        </p:txBody>
      </p:sp>
      <p:sp>
        <p:nvSpPr>
          <p:cNvPr id="11" name="TextBox 11"/>
          <p:cNvSpPr txBox="1"/>
          <p:nvPr/>
        </p:nvSpPr>
        <p:spPr>
          <a:xfrm>
            <a:off x="406708" y="7920462"/>
            <a:ext cx="7851815" cy="2058036"/>
          </a:xfrm>
          <a:prstGeom prst="rect">
            <a:avLst/>
          </a:prstGeom>
        </p:spPr>
        <p:txBody>
          <a:bodyPr lIns="0" tIns="0" rIns="0" bIns="0" rtlCol="0" anchor="t">
            <a:spAutoFit/>
          </a:bodyPr>
          <a:lstStyle/>
          <a:p>
            <a:pPr algn="l">
              <a:lnSpc>
                <a:spcPts val="4339"/>
              </a:lnSpc>
            </a:pPr>
            <a:r>
              <a:rPr lang="en-US" sz="3099" b="1">
                <a:solidFill>
                  <a:srgbClr val="000000"/>
                </a:solidFill>
                <a:ea typeface="Poppins Bold"/>
                <a:cs typeface="Poppins Bold"/>
                <a:sym typeface="Poppins Bold"/>
              </a:rPr>
              <a:t>Chunking</a:t>
            </a:r>
          </a:p>
          <a:p>
            <a:pPr marL="453388" lvl="1" indent="-226694" algn="l">
              <a:lnSpc>
                <a:spcPts val="2939"/>
              </a:lnSpc>
              <a:spcBef>
                <a:spcPct val="0"/>
              </a:spcBef>
              <a:buFont typeface="Arial"/>
              <a:buChar char="•"/>
            </a:pPr>
            <a:r>
              <a:rPr lang="en-US" sz="2099">
                <a:solidFill>
                  <a:srgbClr val="000000"/>
                </a:solidFill>
                <a:ea typeface="Poppins"/>
                <a:cs typeface="Poppins"/>
                <a:sym typeface="Poppins"/>
              </a:rPr>
              <a:t>Tệp lớn được chia thành nhiều Chunks.</a:t>
            </a:r>
          </a:p>
          <a:p>
            <a:pPr marL="453388" lvl="1" indent="-226694" algn="l">
              <a:lnSpc>
                <a:spcPts val="2939"/>
              </a:lnSpc>
              <a:spcBef>
                <a:spcPct val="0"/>
              </a:spcBef>
              <a:buFont typeface="Arial"/>
              <a:buChar char="•"/>
            </a:pPr>
            <a:r>
              <a:rPr lang="en-US" sz="2099">
                <a:solidFill>
                  <a:srgbClr val="000000"/>
                </a:solidFill>
                <a:ea typeface="Poppins"/>
                <a:cs typeface="Poppins"/>
                <a:sym typeface="Poppins"/>
              </a:rPr>
              <a:t>Mỗi Chunk được đánh số thứ tự.</a:t>
            </a:r>
          </a:p>
          <a:p>
            <a:pPr marL="453388" lvl="1" indent="-226694" algn="l">
              <a:lnSpc>
                <a:spcPts val="2939"/>
              </a:lnSpc>
              <a:spcBef>
                <a:spcPct val="0"/>
              </a:spcBef>
              <a:buFont typeface="Arial"/>
              <a:buChar char="•"/>
            </a:pPr>
            <a:r>
              <a:rPr lang="en-US" sz="2099">
                <a:solidFill>
                  <a:srgbClr val="000000"/>
                </a:solidFill>
                <a:ea typeface="Poppins"/>
                <a:cs typeface="Poppins"/>
                <a:sym typeface="Poppins"/>
              </a:rPr>
              <a:t>Bên nhận ghép các Chunk để khôi phục tệp hoàn chỉnh.</a:t>
            </a:r>
          </a:p>
          <a:p>
            <a:pPr algn="l">
              <a:lnSpc>
                <a:spcPts val="2939"/>
              </a:lnSpc>
              <a:spcBef>
                <a:spcPct val="0"/>
              </a:spcBef>
            </a:pPr>
            <a:endParaRPr lang="en-US" sz="2099">
              <a:solidFill>
                <a:srgbClr val="000000"/>
              </a:solidFill>
              <a:ea typeface="Poppins"/>
              <a:cs typeface="Poppins"/>
              <a:sym typeface="Poppin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50"/>
                                        <p:tgtEl>
                                          <p:spTgt spid="3"/>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50"/>
                                        <p:tgtEl>
                                          <p:spTgt spid="4"/>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50"/>
                                        <p:tgtEl>
                                          <p:spTgt spid="9"/>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50"/>
                                        <p:tgtEl>
                                          <p:spTgt spid="10"/>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38028"/>
            <a:ext cx="18288000" cy="11115527"/>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sp>
      <p:grpSp>
        <p:nvGrpSpPr>
          <p:cNvPr id="3" name="Group 3"/>
          <p:cNvGrpSpPr/>
          <p:nvPr/>
        </p:nvGrpSpPr>
        <p:grpSpPr>
          <a:xfrm>
            <a:off x="14367" y="840564"/>
            <a:ext cx="8439407" cy="9098625"/>
            <a:chOff x="0" y="0"/>
            <a:chExt cx="2222725" cy="2396346"/>
          </a:xfrm>
        </p:grpSpPr>
        <p:sp>
          <p:nvSpPr>
            <p:cNvPr id="4" name="Freeform 4"/>
            <p:cNvSpPr/>
            <p:nvPr/>
          </p:nvSpPr>
          <p:spPr>
            <a:xfrm>
              <a:off x="0" y="0"/>
              <a:ext cx="2222725" cy="2396346"/>
            </a:xfrm>
            <a:custGeom>
              <a:avLst/>
              <a:gdLst/>
              <a:ahLst/>
              <a:cxnLst/>
              <a:rect l="l" t="t" r="r" b="b"/>
              <a:pathLst>
                <a:path w="2222725" h="2396346">
                  <a:moveTo>
                    <a:pt x="46785" y="0"/>
                  </a:moveTo>
                  <a:lnTo>
                    <a:pt x="2175940" y="0"/>
                  </a:lnTo>
                  <a:cubicBezTo>
                    <a:pt x="2188348" y="0"/>
                    <a:pt x="2200248" y="4929"/>
                    <a:pt x="2209022" y="13703"/>
                  </a:cubicBezTo>
                  <a:cubicBezTo>
                    <a:pt x="2217795" y="22477"/>
                    <a:pt x="2222725" y="34377"/>
                    <a:pt x="2222725" y="46785"/>
                  </a:cubicBezTo>
                  <a:lnTo>
                    <a:pt x="2222725" y="2349561"/>
                  </a:lnTo>
                  <a:cubicBezTo>
                    <a:pt x="2222725" y="2375399"/>
                    <a:pt x="2201778" y="2396346"/>
                    <a:pt x="2175940" y="2396346"/>
                  </a:cubicBezTo>
                  <a:lnTo>
                    <a:pt x="46785" y="2396346"/>
                  </a:lnTo>
                  <a:cubicBezTo>
                    <a:pt x="20946" y="2396346"/>
                    <a:pt x="0" y="2375399"/>
                    <a:pt x="0" y="2349561"/>
                  </a:cubicBezTo>
                  <a:lnTo>
                    <a:pt x="0" y="46785"/>
                  </a:lnTo>
                  <a:cubicBezTo>
                    <a:pt x="0" y="20946"/>
                    <a:pt x="20946" y="0"/>
                    <a:pt x="46785" y="0"/>
                  </a:cubicBezTo>
                  <a:close/>
                </a:path>
              </a:pathLst>
            </a:custGeom>
            <a:solidFill>
              <a:srgbClr val="89E7F8"/>
            </a:solidFill>
          </p:spPr>
        </p:sp>
        <p:sp>
          <p:nvSpPr>
            <p:cNvPr id="5" name="TextBox 5"/>
            <p:cNvSpPr txBox="1"/>
            <p:nvPr/>
          </p:nvSpPr>
          <p:spPr>
            <a:xfrm>
              <a:off x="0" y="-57150"/>
              <a:ext cx="2222725" cy="2453496"/>
            </a:xfrm>
            <a:prstGeom prst="rect">
              <a:avLst/>
            </a:prstGeom>
          </p:spPr>
          <p:txBody>
            <a:bodyPr lIns="50800" tIns="50800" rIns="50800" bIns="50800" rtlCol="0" anchor="ctr"/>
            <a:lstStyle/>
            <a:p>
              <a:pPr algn="ctr">
                <a:lnSpc>
                  <a:spcPts val="2380"/>
                </a:lnSpc>
              </a:pPr>
              <a:endParaRPr/>
            </a:p>
          </p:txBody>
        </p:sp>
      </p:grpSp>
      <p:sp>
        <p:nvSpPr>
          <p:cNvPr id="6" name="Freeform 6"/>
          <p:cNvSpPr/>
          <p:nvPr/>
        </p:nvSpPr>
        <p:spPr>
          <a:xfrm>
            <a:off x="9861937" y="811989"/>
            <a:ext cx="7397363" cy="8753546"/>
          </a:xfrm>
          <a:custGeom>
            <a:avLst/>
            <a:gdLst/>
            <a:ahLst/>
            <a:cxnLst/>
            <a:rect l="l" t="t" r="r" b="b"/>
            <a:pathLst>
              <a:path w="7397363" h="8753546">
                <a:moveTo>
                  <a:pt x="0" y="0"/>
                </a:moveTo>
                <a:lnTo>
                  <a:pt x="7397363" y="0"/>
                </a:lnTo>
                <a:lnTo>
                  <a:pt x="7397363" y="8753546"/>
                </a:lnTo>
                <a:lnTo>
                  <a:pt x="0" y="8753546"/>
                </a:lnTo>
                <a:lnTo>
                  <a:pt x="0" y="0"/>
                </a:lnTo>
                <a:close/>
              </a:path>
            </a:pathLst>
          </a:custGeom>
          <a:blipFill>
            <a:blip r:embed="rId3"/>
            <a:stretch>
              <a:fillRect/>
            </a:stretch>
          </a:blipFill>
          <a:ln w="95250" cap="sq">
            <a:solidFill>
              <a:srgbClr val="000000"/>
            </a:solidFill>
            <a:prstDash val="solid"/>
            <a:miter/>
          </a:ln>
        </p:spPr>
      </p:sp>
      <p:sp>
        <p:nvSpPr>
          <p:cNvPr id="7" name="TextBox 7"/>
          <p:cNvSpPr txBox="1"/>
          <p:nvPr/>
        </p:nvSpPr>
        <p:spPr>
          <a:xfrm>
            <a:off x="6469906" y="-221063"/>
            <a:ext cx="4726662" cy="1046633"/>
          </a:xfrm>
          <a:prstGeom prst="rect">
            <a:avLst/>
          </a:prstGeom>
        </p:spPr>
        <p:txBody>
          <a:bodyPr lIns="0" tIns="0" rIns="0" bIns="0" rtlCol="0" anchor="t">
            <a:spAutoFit/>
          </a:bodyPr>
          <a:lstStyle/>
          <a:p>
            <a:pPr algn="ctr">
              <a:lnSpc>
                <a:spcPts val="8679"/>
              </a:lnSpc>
              <a:spcBef>
                <a:spcPct val="0"/>
              </a:spcBef>
            </a:pPr>
            <a:r>
              <a:rPr lang="en-US" sz="6199" b="1">
                <a:solidFill>
                  <a:srgbClr val="000000"/>
                </a:solidFill>
                <a:ea typeface="Poppins Bold"/>
                <a:cs typeface="Poppins Bold"/>
                <a:sym typeface="Poppins Bold"/>
              </a:rPr>
              <a:t>TRUYỀN FILE</a:t>
            </a:r>
          </a:p>
        </p:txBody>
      </p:sp>
      <p:sp>
        <p:nvSpPr>
          <p:cNvPr id="8" name="TextBox 8"/>
          <p:cNvSpPr txBox="1"/>
          <p:nvPr/>
        </p:nvSpPr>
        <p:spPr>
          <a:xfrm>
            <a:off x="164156" y="1122656"/>
            <a:ext cx="6881456" cy="1725295"/>
          </a:xfrm>
          <a:prstGeom prst="rect">
            <a:avLst/>
          </a:prstGeom>
        </p:spPr>
        <p:txBody>
          <a:bodyPr lIns="0" tIns="0" rIns="0" bIns="0" rtlCol="0" anchor="t">
            <a:spAutoFit/>
          </a:bodyPr>
          <a:lstStyle/>
          <a:p>
            <a:pPr algn="just">
              <a:lnSpc>
                <a:spcPts val="3639"/>
              </a:lnSpc>
            </a:pPr>
            <a:r>
              <a:rPr lang="en-US" sz="2599" b="1">
                <a:solidFill>
                  <a:srgbClr val="000000"/>
                </a:solidFill>
                <a:ea typeface="Poppins Bold"/>
                <a:cs typeface="Poppins Bold"/>
                <a:sym typeface="Poppins Bold"/>
              </a:rPr>
              <a:t>Chunk</a:t>
            </a:r>
          </a:p>
          <a:p>
            <a:pPr marL="388620" lvl="1" indent="-194310" algn="just">
              <a:lnSpc>
                <a:spcPts val="2520"/>
              </a:lnSpc>
              <a:spcBef>
                <a:spcPct val="0"/>
              </a:spcBef>
              <a:buFont typeface="Arial"/>
              <a:buChar char="•"/>
            </a:pPr>
            <a:r>
              <a:rPr lang="en-US" sz="1800">
                <a:solidFill>
                  <a:srgbClr val="000000"/>
                </a:solidFill>
                <a:ea typeface="Poppins"/>
                <a:cs typeface="Poppins"/>
                <a:sym typeface="Poppins"/>
              </a:rPr>
              <a:t>Tệp được chia thành nhiều Chunks có kích thước cố định.</a:t>
            </a:r>
          </a:p>
          <a:p>
            <a:pPr marL="388620" lvl="1" indent="-194310" algn="just">
              <a:lnSpc>
                <a:spcPts val="2520"/>
              </a:lnSpc>
              <a:spcBef>
                <a:spcPct val="0"/>
              </a:spcBef>
              <a:buFont typeface="Arial"/>
              <a:buChar char="•"/>
            </a:pPr>
            <a:r>
              <a:rPr lang="en-US" sz="1800">
                <a:solidFill>
                  <a:srgbClr val="000000"/>
                </a:solidFill>
                <a:ea typeface="Poppins"/>
                <a:cs typeface="Poppins"/>
                <a:sym typeface="Poppins"/>
              </a:rPr>
              <a:t>Mỗi Chunk được đánh số thứ tự (Chunk Index).</a:t>
            </a:r>
          </a:p>
          <a:p>
            <a:pPr marL="388620" lvl="1" indent="-194310" algn="just">
              <a:lnSpc>
                <a:spcPts val="2520"/>
              </a:lnSpc>
              <a:spcBef>
                <a:spcPct val="0"/>
              </a:spcBef>
              <a:buFont typeface="Arial"/>
              <a:buChar char="•"/>
            </a:pPr>
            <a:r>
              <a:rPr lang="en-US" sz="1800">
                <a:solidFill>
                  <a:srgbClr val="000000"/>
                </a:solidFill>
                <a:ea typeface="Poppins"/>
                <a:cs typeface="Poppins"/>
                <a:sym typeface="Poppins"/>
              </a:rPr>
              <a:t>Giúp truyền tệp ổn định và dễ khôi phục khi có lỗi.</a:t>
            </a:r>
          </a:p>
          <a:p>
            <a:pPr algn="just">
              <a:lnSpc>
                <a:spcPts val="2520"/>
              </a:lnSpc>
              <a:spcBef>
                <a:spcPct val="0"/>
              </a:spcBef>
            </a:pPr>
            <a:endParaRPr lang="en-US" sz="1800">
              <a:solidFill>
                <a:srgbClr val="000000"/>
              </a:solidFill>
              <a:ea typeface="Poppins"/>
              <a:cs typeface="Poppins"/>
              <a:sym typeface="Poppins"/>
            </a:endParaRPr>
          </a:p>
        </p:txBody>
      </p:sp>
      <p:sp>
        <p:nvSpPr>
          <p:cNvPr id="9" name="TextBox 9"/>
          <p:cNvSpPr txBox="1"/>
          <p:nvPr/>
        </p:nvSpPr>
        <p:spPr>
          <a:xfrm>
            <a:off x="164156" y="2781276"/>
            <a:ext cx="6498312" cy="1724831"/>
          </a:xfrm>
          <a:prstGeom prst="rect">
            <a:avLst/>
          </a:prstGeom>
        </p:spPr>
        <p:txBody>
          <a:bodyPr lIns="0" tIns="0" rIns="0" bIns="0" rtlCol="0" anchor="t">
            <a:spAutoFit/>
          </a:bodyPr>
          <a:lstStyle/>
          <a:p>
            <a:pPr algn="l">
              <a:lnSpc>
                <a:spcPts val="3639"/>
              </a:lnSpc>
            </a:pPr>
            <a:r>
              <a:rPr lang="en-US" sz="2599" b="1">
                <a:solidFill>
                  <a:srgbClr val="000000"/>
                </a:solidFill>
                <a:ea typeface="Poppins Bold"/>
                <a:cs typeface="Poppins Bold"/>
                <a:sym typeface="Poppins Bold"/>
              </a:rPr>
              <a:t>Base64</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Dữ liệu nhị phân được mã hóa sang Base64 trước khi gửi.</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Đảm bảo dữ liệu có thể truyền qua giao thức JSON.</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Peer nhận sẽ giải mã Base64 để khôi phục dữ liệu gốc.</a:t>
            </a:r>
          </a:p>
          <a:p>
            <a:pPr algn="l">
              <a:lnSpc>
                <a:spcPts val="2520"/>
              </a:lnSpc>
              <a:spcBef>
                <a:spcPct val="0"/>
              </a:spcBef>
            </a:pPr>
            <a:endParaRPr lang="en-US" sz="1800">
              <a:solidFill>
                <a:srgbClr val="000000"/>
              </a:solidFill>
              <a:ea typeface="Poppins"/>
              <a:cs typeface="Poppins"/>
              <a:sym typeface="Poppins"/>
            </a:endParaRPr>
          </a:p>
        </p:txBody>
      </p:sp>
      <p:sp>
        <p:nvSpPr>
          <p:cNvPr id="10" name="TextBox 10"/>
          <p:cNvSpPr txBox="1"/>
          <p:nvPr/>
        </p:nvSpPr>
        <p:spPr>
          <a:xfrm>
            <a:off x="164156" y="4830175"/>
            <a:ext cx="4845487" cy="1725295"/>
          </a:xfrm>
          <a:prstGeom prst="rect">
            <a:avLst/>
          </a:prstGeom>
        </p:spPr>
        <p:txBody>
          <a:bodyPr lIns="0" tIns="0" rIns="0" bIns="0" rtlCol="0" anchor="t">
            <a:spAutoFit/>
          </a:bodyPr>
          <a:lstStyle/>
          <a:p>
            <a:pPr algn="l">
              <a:lnSpc>
                <a:spcPts val="3639"/>
              </a:lnSpc>
            </a:pPr>
            <a:r>
              <a:rPr lang="en-US" sz="2599" b="1">
                <a:solidFill>
                  <a:srgbClr val="000000"/>
                </a:solidFill>
                <a:ea typeface="Poppins Bold"/>
                <a:cs typeface="Poppins Bold"/>
                <a:sym typeface="Poppins Bold"/>
              </a:rPr>
              <a:t>SHA-256</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Tạo SHA-256 Hash cho toàn bộ tệp.</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Hash được gửi kèm sau khi truyền.</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Dùng để kiểm tra tính toàn vẹn của tệp.</a:t>
            </a:r>
          </a:p>
          <a:p>
            <a:pPr algn="l">
              <a:lnSpc>
                <a:spcPts val="2520"/>
              </a:lnSpc>
              <a:spcBef>
                <a:spcPct val="0"/>
              </a:spcBef>
            </a:pPr>
            <a:endParaRPr lang="en-US" sz="1800">
              <a:solidFill>
                <a:srgbClr val="000000"/>
              </a:solidFill>
              <a:ea typeface="Poppins"/>
              <a:cs typeface="Poppins"/>
              <a:sym typeface="Poppins"/>
            </a:endParaRPr>
          </a:p>
        </p:txBody>
      </p:sp>
      <p:sp>
        <p:nvSpPr>
          <p:cNvPr id="11" name="TextBox 11"/>
          <p:cNvSpPr txBox="1"/>
          <p:nvPr/>
        </p:nvSpPr>
        <p:spPr>
          <a:xfrm>
            <a:off x="164156" y="6488795"/>
            <a:ext cx="6414135" cy="1725295"/>
          </a:xfrm>
          <a:prstGeom prst="rect">
            <a:avLst/>
          </a:prstGeom>
        </p:spPr>
        <p:txBody>
          <a:bodyPr lIns="0" tIns="0" rIns="0" bIns="0" rtlCol="0" anchor="t">
            <a:spAutoFit/>
          </a:bodyPr>
          <a:lstStyle/>
          <a:p>
            <a:pPr algn="l">
              <a:lnSpc>
                <a:spcPts val="3639"/>
              </a:lnSpc>
            </a:pPr>
            <a:r>
              <a:rPr lang="en-US" sz="2599" b="1">
                <a:solidFill>
                  <a:srgbClr val="000000"/>
                </a:solidFill>
                <a:ea typeface="Poppins Bold"/>
                <a:cs typeface="Poppins Bold"/>
                <a:sym typeface="Poppins Bold"/>
              </a:rPr>
              <a:t>Kiểm tra toàn vẹn</a:t>
            </a:r>
          </a:p>
          <a:p>
            <a:pPr marL="388620" lvl="1" indent="-194310" algn="l">
              <a:lnSpc>
                <a:spcPts val="2520"/>
              </a:lnSpc>
              <a:buFont typeface="Arial"/>
              <a:buChar char="•"/>
            </a:pPr>
            <a:r>
              <a:rPr lang="en-US" sz="1800">
                <a:solidFill>
                  <a:srgbClr val="000000"/>
                </a:solidFill>
                <a:ea typeface="Poppins"/>
                <a:cs typeface="Poppins"/>
                <a:sym typeface="Poppins"/>
              </a:rPr>
              <a:t>Peer nhận tính lại SHA-256 Hash.</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So sánh với Hash từ Peer gửi.</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Nếu trùng khớp, tệp được xác nhận không bị thay đổi.</a:t>
            </a:r>
          </a:p>
          <a:p>
            <a:pPr algn="l">
              <a:lnSpc>
                <a:spcPts val="2520"/>
              </a:lnSpc>
              <a:spcBef>
                <a:spcPct val="0"/>
              </a:spcBef>
            </a:pPr>
            <a:endParaRPr lang="en-US" sz="1800">
              <a:solidFill>
                <a:srgbClr val="000000"/>
              </a:solidFill>
              <a:ea typeface="Poppins"/>
              <a:cs typeface="Poppins"/>
              <a:sym typeface="Poppins"/>
            </a:endParaRPr>
          </a:p>
        </p:txBody>
      </p:sp>
      <p:sp>
        <p:nvSpPr>
          <p:cNvPr id="12" name="TextBox 12"/>
          <p:cNvSpPr txBox="1"/>
          <p:nvPr/>
        </p:nvSpPr>
        <p:spPr>
          <a:xfrm>
            <a:off x="158720" y="8068656"/>
            <a:ext cx="8121968" cy="1725295"/>
          </a:xfrm>
          <a:prstGeom prst="rect">
            <a:avLst/>
          </a:prstGeom>
        </p:spPr>
        <p:txBody>
          <a:bodyPr lIns="0" tIns="0" rIns="0" bIns="0" rtlCol="0" anchor="t">
            <a:spAutoFit/>
          </a:bodyPr>
          <a:lstStyle/>
          <a:p>
            <a:pPr algn="l">
              <a:lnSpc>
                <a:spcPts val="3639"/>
              </a:lnSpc>
              <a:spcBef>
                <a:spcPct val="0"/>
              </a:spcBef>
            </a:pPr>
            <a:r>
              <a:rPr lang="en-US" sz="2599" b="1">
                <a:solidFill>
                  <a:srgbClr val="000000"/>
                </a:solidFill>
                <a:ea typeface="Poppins Bold"/>
                <a:cs typeface="Poppins Bold"/>
                <a:sym typeface="Poppins Bold"/>
              </a:rPr>
              <a:t>File Complete</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Sau khi nhận đủ tất cả Chunks, hệ thống ghép thành tệp hoàn chỉnh.</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Kiểm tra Hash lần cuối.</a:t>
            </a:r>
          </a:p>
          <a:p>
            <a:pPr marL="388620" lvl="1" indent="-194310" algn="l">
              <a:lnSpc>
                <a:spcPts val="2520"/>
              </a:lnSpc>
              <a:spcBef>
                <a:spcPct val="0"/>
              </a:spcBef>
              <a:buFont typeface="Arial"/>
              <a:buChar char="•"/>
            </a:pPr>
            <a:r>
              <a:rPr lang="en-US" sz="1800">
                <a:solidFill>
                  <a:srgbClr val="000000"/>
                </a:solidFill>
                <a:ea typeface="Poppins"/>
                <a:cs typeface="Poppins"/>
                <a:sym typeface="Poppins"/>
              </a:rPr>
              <a:t>Thông báo truyền tệp thành công.</a:t>
            </a:r>
          </a:p>
          <a:p>
            <a:pPr algn="l">
              <a:lnSpc>
                <a:spcPts val="2520"/>
              </a:lnSpc>
              <a:spcBef>
                <a:spcPct val="0"/>
              </a:spcBef>
            </a:pPr>
            <a:endParaRPr lang="en-US" sz="1800">
              <a:solidFill>
                <a:srgbClr val="000000"/>
              </a:solidFill>
              <a:ea typeface="Poppins"/>
              <a:cs typeface="Poppins"/>
              <a:sym typeface="Poppin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50"/>
                                        <p:tgtEl>
                                          <p:spTgt spid="3"/>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50"/>
                                        <p:tgtEl>
                                          <p:spTgt spid="9"/>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50"/>
                                        <p:tgtEl>
                                          <p:spTgt spid="10"/>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50"/>
                                        <p:tgtEl>
                                          <p:spTgt spid="11"/>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57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sp>
      <p:grpSp>
        <p:nvGrpSpPr>
          <p:cNvPr id="3" name="Group 3"/>
          <p:cNvGrpSpPr/>
          <p:nvPr/>
        </p:nvGrpSpPr>
        <p:grpSpPr>
          <a:xfrm>
            <a:off x="89640" y="2136457"/>
            <a:ext cx="8839695" cy="7830358"/>
            <a:chOff x="0" y="0"/>
            <a:chExt cx="2328150" cy="2062317"/>
          </a:xfrm>
        </p:grpSpPr>
        <p:sp>
          <p:nvSpPr>
            <p:cNvPr id="4" name="Freeform 4"/>
            <p:cNvSpPr/>
            <p:nvPr/>
          </p:nvSpPr>
          <p:spPr>
            <a:xfrm>
              <a:off x="0" y="0"/>
              <a:ext cx="2328150" cy="2062317"/>
            </a:xfrm>
            <a:custGeom>
              <a:avLst/>
              <a:gdLst/>
              <a:ahLst/>
              <a:cxnLst/>
              <a:rect l="l" t="t" r="r" b="b"/>
              <a:pathLst>
                <a:path w="2328150" h="2062317">
                  <a:moveTo>
                    <a:pt x="44666" y="0"/>
                  </a:moveTo>
                  <a:lnTo>
                    <a:pt x="2283484" y="0"/>
                  </a:lnTo>
                  <a:cubicBezTo>
                    <a:pt x="2308152" y="0"/>
                    <a:pt x="2328150" y="19998"/>
                    <a:pt x="2328150" y="44666"/>
                  </a:cubicBezTo>
                  <a:lnTo>
                    <a:pt x="2328150" y="2017650"/>
                  </a:lnTo>
                  <a:cubicBezTo>
                    <a:pt x="2328150" y="2029496"/>
                    <a:pt x="2323444" y="2040857"/>
                    <a:pt x="2315068" y="2049234"/>
                  </a:cubicBezTo>
                  <a:cubicBezTo>
                    <a:pt x="2306691" y="2057611"/>
                    <a:pt x="2295330" y="2062317"/>
                    <a:pt x="2283484" y="2062317"/>
                  </a:cubicBezTo>
                  <a:lnTo>
                    <a:pt x="44666" y="2062317"/>
                  </a:lnTo>
                  <a:cubicBezTo>
                    <a:pt x="19998" y="2062317"/>
                    <a:pt x="0" y="2042319"/>
                    <a:pt x="0" y="2017650"/>
                  </a:cubicBezTo>
                  <a:lnTo>
                    <a:pt x="0" y="44666"/>
                  </a:lnTo>
                  <a:cubicBezTo>
                    <a:pt x="0" y="19998"/>
                    <a:pt x="19998" y="0"/>
                    <a:pt x="44666" y="0"/>
                  </a:cubicBezTo>
                  <a:close/>
                </a:path>
              </a:pathLst>
            </a:custGeom>
            <a:solidFill>
              <a:srgbClr val="89E7F8"/>
            </a:solidFill>
          </p:spPr>
        </p:sp>
        <p:sp>
          <p:nvSpPr>
            <p:cNvPr id="5" name="TextBox 5"/>
            <p:cNvSpPr txBox="1"/>
            <p:nvPr/>
          </p:nvSpPr>
          <p:spPr>
            <a:xfrm>
              <a:off x="0" y="-57150"/>
              <a:ext cx="2328150" cy="2119467"/>
            </a:xfrm>
            <a:prstGeom prst="rect">
              <a:avLst/>
            </a:prstGeom>
          </p:spPr>
          <p:txBody>
            <a:bodyPr lIns="50800" tIns="50800" rIns="50800" bIns="50800" rtlCol="0" anchor="ctr"/>
            <a:lstStyle/>
            <a:p>
              <a:pPr algn="ctr">
                <a:lnSpc>
                  <a:spcPts val="2380"/>
                </a:lnSpc>
              </a:pPr>
              <a:endParaRPr/>
            </a:p>
          </p:txBody>
        </p:sp>
      </p:grpSp>
      <p:sp>
        <p:nvSpPr>
          <p:cNvPr id="6" name="Freeform 6"/>
          <p:cNvSpPr/>
          <p:nvPr/>
        </p:nvSpPr>
        <p:spPr>
          <a:xfrm>
            <a:off x="10831736" y="2136457"/>
            <a:ext cx="6792874" cy="7612704"/>
          </a:xfrm>
          <a:custGeom>
            <a:avLst/>
            <a:gdLst/>
            <a:ahLst/>
            <a:cxnLst/>
            <a:rect l="l" t="t" r="r" b="b"/>
            <a:pathLst>
              <a:path w="6792874" h="7612704">
                <a:moveTo>
                  <a:pt x="0" y="0"/>
                </a:moveTo>
                <a:lnTo>
                  <a:pt x="6792874" y="0"/>
                </a:lnTo>
                <a:lnTo>
                  <a:pt x="6792874" y="7612704"/>
                </a:lnTo>
                <a:lnTo>
                  <a:pt x="0" y="7612704"/>
                </a:lnTo>
                <a:lnTo>
                  <a:pt x="0" y="0"/>
                </a:lnTo>
                <a:close/>
              </a:path>
            </a:pathLst>
          </a:custGeom>
          <a:blipFill>
            <a:blip r:embed="rId3"/>
            <a:stretch>
              <a:fillRect/>
            </a:stretch>
          </a:blipFill>
          <a:ln w="95250" cap="sq">
            <a:solidFill>
              <a:srgbClr val="000000"/>
            </a:solidFill>
            <a:prstDash val="solid"/>
            <a:miter/>
          </a:ln>
        </p:spPr>
      </p:sp>
      <p:sp>
        <p:nvSpPr>
          <p:cNvPr id="7" name="TextBox 7"/>
          <p:cNvSpPr txBox="1"/>
          <p:nvPr/>
        </p:nvSpPr>
        <p:spPr>
          <a:xfrm>
            <a:off x="211418" y="2221264"/>
            <a:ext cx="8596139" cy="7732310"/>
          </a:xfrm>
          <a:prstGeom prst="rect">
            <a:avLst/>
          </a:prstGeom>
        </p:spPr>
        <p:txBody>
          <a:bodyPr lIns="0" tIns="0" rIns="0" bIns="0" rtlCol="0" anchor="t">
            <a:spAutoFit/>
          </a:bodyPr>
          <a:lstStyle/>
          <a:p>
            <a:pPr algn="l">
              <a:lnSpc>
                <a:spcPts val="4388"/>
              </a:lnSpc>
            </a:pPr>
            <a:r>
              <a:rPr lang="en-US" sz="3134" b="1">
                <a:solidFill>
                  <a:srgbClr val="000000"/>
                </a:solidFill>
                <a:ea typeface="Poppins Bold"/>
                <a:cs typeface="Poppins Bold"/>
                <a:sym typeface="Poppins Bold"/>
              </a:rPr>
              <a:t>Contact Book</a:t>
            </a:r>
          </a:p>
          <a:p>
            <a:pPr marL="507635" lvl="1" indent="-253817" algn="l">
              <a:lnSpc>
                <a:spcPts val="3291"/>
              </a:lnSpc>
              <a:buFont typeface="Arial"/>
              <a:buChar char="•"/>
            </a:pPr>
            <a:r>
              <a:rPr lang="en-US" sz="2351">
                <a:solidFill>
                  <a:srgbClr val="000000"/>
                </a:solidFill>
                <a:ea typeface="Poppins"/>
                <a:cs typeface="Poppins"/>
                <a:sym typeface="Poppins"/>
              </a:rPr>
              <a:t>Lưu thông tin các Peer đã kết nối.</a:t>
            </a:r>
          </a:p>
          <a:p>
            <a:pPr marL="507635" lvl="1" indent="-253817" algn="l">
              <a:lnSpc>
                <a:spcPts val="3291"/>
              </a:lnSpc>
              <a:buFont typeface="Arial"/>
              <a:buChar char="•"/>
            </a:pPr>
            <a:r>
              <a:rPr lang="en-US" sz="2351">
                <a:solidFill>
                  <a:srgbClr val="000000"/>
                </a:solidFill>
                <a:ea typeface="Poppins"/>
                <a:cs typeface="Poppins"/>
                <a:sym typeface="Poppins"/>
              </a:rPr>
              <a:t>Bao gồm Peer ID, địa chỉ IP và Public Key.</a:t>
            </a:r>
          </a:p>
          <a:p>
            <a:pPr marL="507635" lvl="1" indent="-253817" algn="l">
              <a:lnSpc>
                <a:spcPts val="3291"/>
              </a:lnSpc>
              <a:buFont typeface="Arial"/>
              <a:buChar char="•"/>
            </a:pPr>
            <a:r>
              <a:rPr lang="en-US" sz="2351">
                <a:solidFill>
                  <a:srgbClr val="000000"/>
                </a:solidFill>
                <a:ea typeface="Poppins"/>
                <a:cs typeface="Poppins"/>
                <a:sym typeface="Poppins"/>
              </a:rPr>
              <a:t>Hỗ trợ kết nối lại nhanh chóng.</a:t>
            </a:r>
          </a:p>
          <a:p>
            <a:pPr algn="l">
              <a:lnSpc>
                <a:spcPts val="4388"/>
              </a:lnSpc>
            </a:pPr>
            <a:r>
              <a:rPr lang="en-US" sz="3134" b="1">
                <a:solidFill>
                  <a:srgbClr val="000000"/>
                </a:solidFill>
                <a:ea typeface="Poppins Bold"/>
                <a:cs typeface="Poppins Bold"/>
                <a:sym typeface="Poppins Bold"/>
              </a:rPr>
              <a:t>Message History</a:t>
            </a:r>
          </a:p>
          <a:p>
            <a:pPr marL="507635" lvl="1" indent="-253817" algn="l">
              <a:lnSpc>
                <a:spcPts val="3291"/>
              </a:lnSpc>
              <a:buFont typeface="Arial"/>
              <a:buChar char="•"/>
            </a:pPr>
            <a:r>
              <a:rPr lang="en-US" sz="2351">
                <a:solidFill>
                  <a:srgbClr val="000000"/>
                </a:solidFill>
                <a:ea typeface="Poppins"/>
                <a:cs typeface="Poppins"/>
                <a:sym typeface="Poppins"/>
              </a:rPr>
              <a:t>Lưu lịch sử tin nhắn của từng cuộc trò chuyện.</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Hỗ trợ xem lại nội dung sau khi khởi động lại ứng dụng.</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Dữ liệu được lưu theo từng Peer.</a:t>
            </a:r>
          </a:p>
          <a:p>
            <a:pPr algn="l">
              <a:lnSpc>
                <a:spcPts val="4388"/>
              </a:lnSpc>
              <a:spcBef>
                <a:spcPct val="0"/>
              </a:spcBef>
            </a:pPr>
            <a:r>
              <a:rPr lang="en-US" sz="3134" b="1">
                <a:solidFill>
                  <a:srgbClr val="000000"/>
                </a:solidFill>
                <a:ea typeface="Poppins Bold"/>
                <a:cs typeface="Poppins Bold"/>
                <a:sym typeface="Poppins Bold"/>
              </a:rPr>
              <a:t>JSON</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Sử dụng JSON làm định dạng lưu trữ.</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Dễ đọc, dễ chỉnh sửa và dễ mở rộng.</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Phù hợp với dữ liệu cấu hình và lịch sử.</a:t>
            </a:r>
          </a:p>
          <a:p>
            <a:pPr algn="l">
              <a:lnSpc>
                <a:spcPts val="4388"/>
              </a:lnSpc>
              <a:spcBef>
                <a:spcPct val="0"/>
              </a:spcBef>
            </a:pPr>
            <a:r>
              <a:rPr lang="en-US" sz="3134" b="1">
                <a:solidFill>
                  <a:srgbClr val="000000"/>
                </a:solidFill>
                <a:ea typeface="Poppins Bold"/>
                <a:cs typeface="Poppins Bold"/>
                <a:sym typeface="Poppins Bold"/>
              </a:rPr>
              <a:t>Atomic Write</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Ghi dữ liệu vào file tạm trước khi thay thế file chính.</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Tránh mất dữ liệu khi chương trình bị lỗi hoặc mất điện.</a:t>
            </a:r>
          </a:p>
          <a:p>
            <a:pPr marL="507635" lvl="1" indent="-253817" algn="l">
              <a:lnSpc>
                <a:spcPts val="3291"/>
              </a:lnSpc>
              <a:spcBef>
                <a:spcPct val="0"/>
              </a:spcBef>
              <a:buFont typeface="Arial"/>
              <a:buChar char="•"/>
            </a:pPr>
            <a:r>
              <a:rPr lang="en-US" sz="2351">
                <a:solidFill>
                  <a:srgbClr val="000000"/>
                </a:solidFill>
                <a:ea typeface="Poppins"/>
                <a:cs typeface="Poppins"/>
                <a:sym typeface="Poppins"/>
              </a:rPr>
              <a:t>Đảm bảo dữ liệu luôn nhất quán.</a:t>
            </a:r>
          </a:p>
          <a:p>
            <a:pPr algn="l">
              <a:lnSpc>
                <a:spcPts val="3291"/>
              </a:lnSpc>
              <a:spcBef>
                <a:spcPct val="0"/>
              </a:spcBef>
            </a:pPr>
            <a:endParaRPr lang="en-US" sz="2351">
              <a:solidFill>
                <a:srgbClr val="000000"/>
              </a:solidFill>
              <a:ea typeface="Poppins"/>
              <a:cs typeface="Poppins"/>
              <a:sym typeface="Poppins"/>
            </a:endParaRPr>
          </a:p>
        </p:txBody>
      </p:sp>
      <p:sp>
        <p:nvSpPr>
          <p:cNvPr id="8" name="TextBox 8"/>
          <p:cNvSpPr txBox="1"/>
          <p:nvPr/>
        </p:nvSpPr>
        <p:spPr>
          <a:xfrm>
            <a:off x="5821387" y="192084"/>
            <a:ext cx="6215896" cy="1347998"/>
          </a:xfrm>
          <a:prstGeom prst="rect">
            <a:avLst/>
          </a:prstGeom>
        </p:spPr>
        <p:txBody>
          <a:bodyPr lIns="0" tIns="0" rIns="0" bIns="0" rtlCol="0" anchor="t">
            <a:spAutoFit/>
          </a:bodyPr>
          <a:lstStyle/>
          <a:p>
            <a:pPr algn="ctr">
              <a:lnSpc>
                <a:spcPts val="11199"/>
              </a:lnSpc>
              <a:spcBef>
                <a:spcPct val="0"/>
              </a:spcBef>
            </a:pPr>
            <a:r>
              <a:rPr lang="en-US" sz="7999" b="1">
                <a:solidFill>
                  <a:srgbClr val="000000"/>
                </a:solidFill>
                <a:ea typeface="Poppins Bold"/>
                <a:cs typeface="Poppins Bold"/>
                <a:sym typeface="Poppins Bold"/>
              </a:rPr>
              <a:t> Storage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2297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sp>
      <p:grpSp>
        <p:nvGrpSpPr>
          <p:cNvPr id="3" name="Group 3"/>
          <p:cNvGrpSpPr/>
          <p:nvPr/>
        </p:nvGrpSpPr>
        <p:grpSpPr>
          <a:xfrm>
            <a:off x="155753" y="1481139"/>
            <a:ext cx="7812046" cy="8352592"/>
            <a:chOff x="0" y="0"/>
            <a:chExt cx="2057494" cy="2199860"/>
          </a:xfrm>
        </p:grpSpPr>
        <p:sp>
          <p:nvSpPr>
            <p:cNvPr id="4" name="Freeform 4"/>
            <p:cNvSpPr/>
            <p:nvPr/>
          </p:nvSpPr>
          <p:spPr>
            <a:xfrm>
              <a:off x="0" y="0"/>
              <a:ext cx="2057494" cy="2199860"/>
            </a:xfrm>
            <a:custGeom>
              <a:avLst/>
              <a:gdLst/>
              <a:ahLst/>
              <a:cxnLst/>
              <a:rect l="l" t="t" r="r" b="b"/>
              <a:pathLst>
                <a:path w="2057494" h="2199860">
                  <a:moveTo>
                    <a:pt x="50542" y="0"/>
                  </a:moveTo>
                  <a:lnTo>
                    <a:pt x="2006952" y="0"/>
                  </a:lnTo>
                  <a:cubicBezTo>
                    <a:pt x="2034865" y="0"/>
                    <a:pt x="2057494" y="22629"/>
                    <a:pt x="2057494" y="50542"/>
                  </a:cubicBezTo>
                  <a:lnTo>
                    <a:pt x="2057494" y="2149317"/>
                  </a:lnTo>
                  <a:cubicBezTo>
                    <a:pt x="2057494" y="2162722"/>
                    <a:pt x="2052169" y="2175578"/>
                    <a:pt x="2042690" y="2185056"/>
                  </a:cubicBezTo>
                  <a:cubicBezTo>
                    <a:pt x="2033212" y="2194535"/>
                    <a:pt x="2020356" y="2199860"/>
                    <a:pt x="2006952" y="2199860"/>
                  </a:cubicBezTo>
                  <a:lnTo>
                    <a:pt x="50542" y="2199860"/>
                  </a:lnTo>
                  <a:cubicBezTo>
                    <a:pt x="37138" y="2199860"/>
                    <a:pt x="24282" y="2194535"/>
                    <a:pt x="14803" y="2185056"/>
                  </a:cubicBezTo>
                  <a:cubicBezTo>
                    <a:pt x="5325" y="2175578"/>
                    <a:pt x="0" y="2162722"/>
                    <a:pt x="0" y="2149317"/>
                  </a:cubicBezTo>
                  <a:lnTo>
                    <a:pt x="0" y="50542"/>
                  </a:lnTo>
                  <a:cubicBezTo>
                    <a:pt x="0" y="37138"/>
                    <a:pt x="5325" y="24282"/>
                    <a:pt x="14803" y="14803"/>
                  </a:cubicBezTo>
                  <a:cubicBezTo>
                    <a:pt x="24282" y="5325"/>
                    <a:pt x="37138" y="0"/>
                    <a:pt x="50542" y="0"/>
                  </a:cubicBezTo>
                  <a:close/>
                </a:path>
              </a:pathLst>
            </a:custGeom>
            <a:solidFill>
              <a:srgbClr val="89E7F8"/>
            </a:solidFill>
          </p:spPr>
        </p:sp>
        <p:sp>
          <p:nvSpPr>
            <p:cNvPr id="5" name="TextBox 5"/>
            <p:cNvSpPr txBox="1"/>
            <p:nvPr/>
          </p:nvSpPr>
          <p:spPr>
            <a:xfrm>
              <a:off x="0" y="-57150"/>
              <a:ext cx="2057494" cy="2257010"/>
            </a:xfrm>
            <a:prstGeom prst="rect">
              <a:avLst/>
            </a:prstGeom>
          </p:spPr>
          <p:txBody>
            <a:bodyPr lIns="50800" tIns="50800" rIns="50800" bIns="50800" rtlCol="0" anchor="ctr"/>
            <a:lstStyle/>
            <a:p>
              <a:pPr algn="ctr">
                <a:lnSpc>
                  <a:spcPts val="2380"/>
                </a:lnSpc>
              </a:pPr>
              <a:endParaRPr/>
            </a:p>
          </p:txBody>
        </p:sp>
      </p:grpSp>
      <p:sp>
        <p:nvSpPr>
          <p:cNvPr id="6" name="Freeform 6"/>
          <p:cNvSpPr/>
          <p:nvPr/>
        </p:nvSpPr>
        <p:spPr>
          <a:xfrm>
            <a:off x="9144000" y="1481139"/>
            <a:ext cx="8301152" cy="8429603"/>
          </a:xfrm>
          <a:custGeom>
            <a:avLst/>
            <a:gdLst/>
            <a:ahLst/>
            <a:cxnLst/>
            <a:rect l="l" t="t" r="r" b="b"/>
            <a:pathLst>
              <a:path w="8301152" h="8429603">
                <a:moveTo>
                  <a:pt x="0" y="0"/>
                </a:moveTo>
                <a:lnTo>
                  <a:pt x="8301152" y="0"/>
                </a:lnTo>
                <a:lnTo>
                  <a:pt x="8301152" y="8429603"/>
                </a:lnTo>
                <a:lnTo>
                  <a:pt x="0" y="8429603"/>
                </a:lnTo>
                <a:lnTo>
                  <a:pt x="0" y="0"/>
                </a:lnTo>
                <a:close/>
              </a:path>
            </a:pathLst>
          </a:custGeom>
          <a:blipFill>
            <a:blip r:embed="rId3"/>
            <a:stretch>
              <a:fillRect/>
            </a:stretch>
          </a:blipFill>
          <a:ln w="95250" cap="sq">
            <a:solidFill>
              <a:srgbClr val="000000"/>
            </a:solidFill>
            <a:prstDash val="solid"/>
            <a:miter/>
          </a:ln>
        </p:spPr>
      </p:sp>
      <p:sp>
        <p:nvSpPr>
          <p:cNvPr id="7" name="TextBox 7"/>
          <p:cNvSpPr txBox="1"/>
          <p:nvPr/>
        </p:nvSpPr>
        <p:spPr>
          <a:xfrm>
            <a:off x="4899545" y="122974"/>
            <a:ext cx="7596426" cy="1010982"/>
          </a:xfrm>
          <a:prstGeom prst="rect">
            <a:avLst/>
          </a:prstGeom>
        </p:spPr>
        <p:txBody>
          <a:bodyPr lIns="0" tIns="0" rIns="0" bIns="0" rtlCol="0" anchor="t">
            <a:spAutoFit/>
          </a:bodyPr>
          <a:lstStyle/>
          <a:p>
            <a:pPr algn="l">
              <a:lnSpc>
                <a:spcPts val="8399"/>
              </a:lnSpc>
              <a:spcBef>
                <a:spcPct val="0"/>
              </a:spcBef>
            </a:pPr>
            <a:r>
              <a:rPr lang="en-US" sz="5999" b="1">
                <a:solidFill>
                  <a:srgbClr val="000000"/>
                </a:solidFill>
                <a:ea typeface="Poppins Bold"/>
                <a:cs typeface="Poppins Bold"/>
                <a:sym typeface="Poppins Bold"/>
              </a:rPr>
              <a:t>Trust-On-First-Use</a:t>
            </a:r>
          </a:p>
        </p:txBody>
      </p:sp>
      <p:sp>
        <p:nvSpPr>
          <p:cNvPr id="8" name="TextBox 8"/>
          <p:cNvSpPr txBox="1"/>
          <p:nvPr/>
        </p:nvSpPr>
        <p:spPr>
          <a:xfrm>
            <a:off x="373882" y="1714087"/>
            <a:ext cx="7041237" cy="8223790"/>
          </a:xfrm>
          <a:prstGeom prst="rect">
            <a:avLst/>
          </a:prstGeom>
        </p:spPr>
        <p:txBody>
          <a:bodyPr lIns="0" tIns="0" rIns="0" bIns="0" rtlCol="0" anchor="t">
            <a:spAutoFit/>
          </a:bodyPr>
          <a:lstStyle/>
          <a:p>
            <a:pPr algn="l">
              <a:lnSpc>
                <a:spcPts val="3919"/>
              </a:lnSpc>
              <a:spcBef>
                <a:spcPct val="0"/>
              </a:spcBef>
            </a:pPr>
            <a:r>
              <a:rPr lang="en-US" sz="2799" b="1">
                <a:solidFill>
                  <a:srgbClr val="000000"/>
                </a:solidFill>
                <a:ea typeface="Poppins Bold"/>
                <a:cs typeface="Poppins Bold"/>
                <a:sym typeface="Poppins Bold"/>
              </a:rPr>
              <a:t>NEW</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Peer được phát hiện lần đầu.</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Chưa có Public Key được lưu trong hệ thống.</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Lưu Public Key sau khi người dùng chấp nhận kết nối.</a:t>
            </a:r>
          </a:p>
          <a:p>
            <a:pPr algn="l">
              <a:lnSpc>
                <a:spcPts val="3919"/>
              </a:lnSpc>
              <a:spcBef>
                <a:spcPct val="0"/>
              </a:spcBef>
            </a:pPr>
            <a:r>
              <a:rPr lang="en-US" sz="2799" b="1">
                <a:solidFill>
                  <a:srgbClr val="000000"/>
                </a:solidFill>
                <a:ea typeface="Poppins Bold"/>
                <a:cs typeface="Poppins Bold"/>
                <a:sym typeface="Poppins Bold"/>
              </a:rPr>
              <a:t>TRUSTED</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Public Key đã được lưu thành công.</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Peer được xem là đáng tin cậy.</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Cho phép kết nối ở các lần tiếp theo.</a:t>
            </a:r>
          </a:p>
          <a:p>
            <a:pPr algn="l">
              <a:lnSpc>
                <a:spcPts val="3919"/>
              </a:lnSpc>
              <a:spcBef>
                <a:spcPct val="0"/>
              </a:spcBef>
            </a:pPr>
            <a:r>
              <a:rPr lang="en-US" sz="2799" b="1">
                <a:solidFill>
                  <a:srgbClr val="000000"/>
                </a:solidFill>
                <a:ea typeface="Poppins Bold"/>
                <a:cs typeface="Poppins Bold"/>
                <a:sym typeface="Poppins Bold"/>
              </a:rPr>
              <a:t>VERIFIED</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Public Key hiện tại trùng khớp với khóa đã lưu.</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Xác thực danh tính thành công.</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Cho phép trao đổi dữ liệu an toàn.</a:t>
            </a:r>
          </a:p>
          <a:p>
            <a:pPr algn="l">
              <a:lnSpc>
                <a:spcPts val="3919"/>
              </a:lnSpc>
              <a:spcBef>
                <a:spcPct val="0"/>
              </a:spcBef>
            </a:pPr>
            <a:r>
              <a:rPr lang="en-US" sz="2799" b="1">
                <a:solidFill>
                  <a:srgbClr val="000000"/>
                </a:solidFill>
                <a:ea typeface="Poppins Bold"/>
                <a:cs typeface="Poppins Bold"/>
                <a:sym typeface="Poppins Bold"/>
              </a:rPr>
              <a:t>MISMATCH</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Public Key nhận được khác với khóa đã lưu.</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Có nguy cơ giả mạo hoặc thay đổi khóa.</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Hiển thị cảnh báo cho người dùng.</a:t>
            </a:r>
          </a:p>
          <a:p>
            <a:pPr algn="l">
              <a:lnSpc>
                <a:spcPts val="3919"/>
              </a:lnSpc>
              <a:spcBef>
                <a:spcPct val="0"/>
              </a:spcBef>
            </a:pPr>
            <a:r>
              <a:rPr lang="en-US" sz="2799" b="1">
                <a:solidFill>
                  <a:srgbClr val="000000"/>
                </a:solidFill>
                <a:ea typeface="Poppins Bold"/>
                <a:cs typeface="Poppins Bold"/>
                <a:sym typeface="Poppins Bold"/>
              </a:rPr>
              <a:t>BLOCKED</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Từ chối kết nối với Peer không đáng tin cậy.</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Không cho phép gửi hoặc nhận dữ liệu.</a:t>
            </a:r>
          </a:p>
          <a:p>
            <a:pPr marL="431799" lvl="1" indent="-215899" algn="l">
              <a:lnSpc>
                <a:spcPts val="2799"/>
              </a:lnSpc>
              <a:spcBef>
                <a:spcPct val="0"/>
              </a:spcBef>
              <a:buFont typeface="Arial"/>
              <a:buChar char="•"/>
            </a:pPr>
            <a:r>
              <a:rPr lang="en-US" sz="1999">
                <a:solidFill>
                  <a:srgbClr val="000000"/>
                </a:solidFill>
                <a:ea typeface="Poppins"/>
                <a:cs typeface="Poppins"/>
                <a:sym typeface="Poppins"/>
              </a:rPr>
              <a:t>Yêu cầu người dùng xác minh lại trước khi kết nối.</a:t>
            </a:r>
          </a:p>
          <a:p>
            <a:pPr algn="l">
              <a:lnSpc>
                <a:spcPts val="2799"/>
              </a:lnSpc>
              <a:spcBef>
                <a:spcPct val="0"/>
              </a:spcBef>
            </a:pPr>
            <a:endParaRPr lang="en-US" sz="1999">
              <a:solidFill>
                <a:srgbClr val="000000"/>
              </a:solidFill>
              <a:ea typeface="Poppins"/>
              <a:cs typeface="Poppins"/>
              <a:sym typeface="Poppin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372600" y="7505700"/>
            <a:ext cx="1724577" cy="1724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DFF"/>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8" name="Group 8"/>
          <p:cNvGrpSpPr/>
          <p:nvPr/>
        </p:nvGrpSpPr>
        <p:grpSpPr>
          <a:xfrm>
            <a:off x="8484822" y="4807445"/>
            <a:ext cx="2320656" cy="232065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DFF"/>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sp>
        <p:nvSpPr>
          <p:cNvPr id="14" name="Freeform 14"/>
          <p:cNvSpPr/>
          <p:nvPr/>
        </p:nvSpPr>
        <p:spPr>
          <a:xfrm>
            <a:off x="8556758" y="1759282"/>
            <a:ext cx="9731242" cy="6035586"/>
          </a:xfrm>
          <a:custGeom>
            <a:avLst/>
            <a:gdLst/>
            <a:ahLst/>
            <a:cxnLst/>
            <a:rect l="l" t="t" r="r" b="b"/>
            <a:pathLst>
              <a:path w="9731242" h="6035586">
                <a:moveTo>
                  <a:pt x="0" y="0"/>
                </a:moveTo>
                <a:lnTo>
                  <a:pt x="9731242" y="0"/>
                </a:lnTo>
                <a:lnTo>
                  <a:pt x="9731242" y="6035587"/>
                </a:lnTo>
                <a:lnTo>
                  <a:pt x="0" y="6035587"/>
                </a:lnTo>
                <a:lnTo>
                  <a:pt x="0" y="0"/>
                </a:lnTo>
                <a:close/>
              </a:path>
            </a:pathLst>
          </a:custGeom>
          <a:blipFill>
            <a:blip r:embed="rId3"/>
            <a:stretch>
              <a:fillRect r="-29382"/>
            </a:stretch>
          </a:blipFill>
        </p:spPr>
      </p:sp>
      <p:sp>
        <p:nvSpPr>
          <p:cNvPr id="15" name="AutoShape 15"/>
          <p:cNvSpPr/>
          <p:nvPr/>
        </p:nvSpPr>
        <p:spPr>
          <a:xfrm>
            <a:off x="4661340" y="2658117"/>
            <a:ext cx="0" cy="430292"/>
          </a:xfrm>
          <a:prstGeom prst="line">
            <a:avLst/>
          </a:prstGeom>
          <a:ln w="38100" cap="flat">
            <a:solidFill>
              <a:srgbClr val="000000"/>
            </a:solidFill>
            <a:prstDash val="solid"/>
            <a:headEnd type="none" w="sm" len="sm"/>
            <a:tailEnd type="arrow" w="med" len="sm"/>
          </a:ln>
        </p:spPr>
      </p:sp>
      <p:sp>
        <p:nvSpPr>
          <p:cNvPr id="16" name="AutoShape 16"/>
          <p:cNvSpPr/>
          <p:nvPr/>
        </p:nvSpPr>
        <p:spPr>
          <a:xfrm>
            <a:off x="4642290" y="5137017"/>
            <a:ext cx="19050" cy="518979"/>
          </a:xfrm>
          <a:prstGeom prst="line">
            <a:avLst/>
          </a:prstGeom>
          <a:ln w="38100" cap="flat">
            <a:solidFill>
              <a:srgbClr val="000000"/>
            </a:solidFill>
            <a:prstDash val="solid"/>
            <a:headEnd type="none" w="sm" len="sm"/>
            <a:tailEnd type="triangle" w="lg" len="med"/>
          </a:ln>
        </p:spPr>
      </p:sp>
      <p:sp>
        <p:nvSpPr>
          <p:cNvPr id="17" name="AutoShape 17"/>
          <p:cNvSpPr/>
          <p:nvPr/>
        </p:nvSpPr>
        <p:spPr>
          <a:xfrm>
            <a:off x="4642290" y="6434607"/>
            <a:ext cx="19050" cy="483520"/>
          </a:xfrm>
          <a:prstGeom prst="line">
            <a:avLst/>
          </a:prstGeom>
          <a:ln w="38100" cap="flat">
            <a:solidFill>
              <a:srgbClr val="000000"/>
            </a:solidFill>
            <a:prstDash val="solid"/>
            <a:headEnd type="none" w="sm" len="sm"/>
            <a:tailEnd type="triangle" w="lg" len="med"/>
          </a:ln>
        </p:spPr>
      </p:sp>
      <p:grpSp>
        <p:nvGrpSpPr>
          <p:cNvPr id="18" name="Group 18"/>
          <p:cNvGrpSpPr/>
          <p:nvPr/>
        </p:nvGrpSpPr>
        <p:grpSpPr>
          <a:xfrm>
            <a:off x="10471304" y="2476314"/>
            <a:ext cx="5579423" cy="4620453"/>
            <a:chOff x="0" y="0"/>
            <a:chExt cx="1469478" cy="1216909"/>
          </a:xfrm>
        </p:grpSpPr>
        <p:sp>
          <p:nvSpPr>
            <p:cNvPr id="19" name="Freeform 19"/>
            <p:cNvSpPr/>
            <p:nvPr/>
          </p:nvSpPr>
          <p:spPr>
            <a:xfrm>
              <a:off x="0" y="0"/>
              <a:ext cx="1469478" cy="1216909"/>
            </a:xfrm>
            <a:custGeom>
              <a:avLst/>
              <a:gdLst/>
              <a:ahLst/>
              <a:cxnLst/>
              <a:rect l="l" t="t" r="r" b="b"/>
              <a:pathLst>
                <a:path w="1469478" h="1216909">
                  <a:moveTo>
                    <a:pt x="0" y="0"/>
                  </a:moveTo>
                  <a:lnTo>
                    <a:pt x="1469478" y="0"/>
                  </a:lnTo>
                  <a:lnTo>
                    <a:pt x="1469478" y="1216909"/>
                  </a:lnTo>
                  <a:lnTo>
                    <a:pt x="0" y="1216909"/>
                  </a:lnTo>
                  <a:close/>
                </a:path>
              </a:pathLst>
            </a:custGeom>
            <a:ln w="47625" cap="sq">
              <a:solidFill>
                <a:srgbClr val="979CE3"/>
              </a:solidFill>
              <a:prstDash val="dash"/>
              <a:miter/>
            </a:ln>
          </p:spPr>
        </p:sp>
        <p:sp>
          <p:nvSpPr>
            <p:cNvPr id="20" name="TextBox 20"/>
            <p:cNvSpPr txBox="1"/>
            <p:nvPr/>
          </p:nvSpPr>
          <p:spPr>
            <a:xfrm>
              <a:off x="0" y="-57150"/>
              <a:ext cx="1469478" cy="1274059"/>
            </a:xfrm>
            <a:prstGeom prst="rect">
              <a:avLst/>
            </a:prstGeom>
          </p:spPr>
          <p:txBody>
            <a:bodyPr lIns="50800" tIns="50800" rIns="50800" bIns="50800" rtlCol="0" anchor="ctr"/>
            <a:lstStyle/>
            <a:p>
              <a:pPr algn="ctr">
                <a:lnSpc>
                  <a:spcPts val="2380"/>
                </a:lnSpc>
              </a:pPr>
              <a:endParaRPr/>
            </a:p>
          </p:txBody>
        </p:sp>
      </p:grpSp>
      <p:sp>
        <p:nvSpPr>
          <p:cNvPr id="21" name="AutoShape 21"/>
          <p:cNvSpPr/>
          <p:nvPr/>
        </p:nvSpPr>
        <p:spPr>
          <a:xfrm flipV="1">
            <a:off x="8568845" y="3260859"/>
            <a:ext cx="23728" cy="4442705"/>
          </a:xfrm>
          <a:prstGeom prst="line">
            <a:avLst/>
          </a:prstGeom>
          <a:ln w="47625" cap="flat">
            <a:solidFill>
              <a:srgbClr val="FFBD59"/>
            </a:solidFill>
            <a:prstDash val="sysDash"/>
            <a:headEnd type="none" w="sm" len="sm"/>
            <a:tailEnd type="none" w="sm" len="sm"/>
          </a:ln>
        </p:spPr>
      </p:sp>
      <p:sp>
        <p:nvSpPr>
          <p:cNvPr id="22" name="AutoShape 22"/>
          <p:cNvSpPr/>
          <p:nvPr/>
        </p:nvSpPr>
        <p:spPr>
          <a:xfrm flipV="1">
            <a:off x="10303549" y="3208983"/>
            <a:ext cx="59902" cy="4516779"/>
          </a:xfrm>
          <a:prstGeom prst="line">
            <a:avLst/>
          </a:prstGeom>
          <a:ln w="47625" cap="flat">
            <a:solidFill>
              <a:srgbClr val="FFBD59"/>
            </a:solidFill>
            <a:prstDash val="sysDash"/>
            <a:headEnd type="none" w="sm" len="sm"/>
            <a:tailEnd type="none" w="sm" len="sm"/>
          </a:ln>
        </p:spPr>
      </p:sp>
      <p:sp>
        <p:nvSpPr>
          <p:cNvPr id="23" name="AutoShape 23"/>
          <p:cNvSpPr/>
          <p:nvPr/>
        </p:nvSpPr>
        <p:spPr>
          <a:xfrm flipV="1">
            <a:off x="8600060" y="7678331"/>
            <a:ext cx="1690600" cy="19012"/>
          </a:xfrm>
          <a:prstGeom prst="line">
            <a:avLst/>
          </a:prstGeom>
          <a:ln w="38100" cap="flat">
            <a:solidFill>
              <a:srgbClr val="FFBD59"/>
            </a:solidFill>
            <a:prstDash val="sysDash"/>
            <a:headEnd type="none" w="sm" len="sm"/>
            <a:tailEnd type="none" w="sm" len="sm"/>
          </a:ln>
        </p:spPr>
      </p:sp>
      <p:grpSp>
        <p:nvGrpSpPr>
          <p:cNvPr id="24" name="Group 24"/>
          <p:cNvGrpSpPr/>
          <p:nvPr/>
        </p:nvGrpSpPr>
        <p:grpSpPr>
          <a:xfrm>
            <a:off x="10244105" y="6918126"/>
            <a:ext cx="5855019" cy="686688"/>
            <a:chOff x="-45032" y="-79593"/>
            <a:chExt cx="1542063" cy="180856"/>
          </a:xfrm>
        </p:grpSpPr>
        <p:sp>
          <p:nvSpPr>
            <p:cNvPr id="25" name="Freeform 25"/>
            <p:cNvSpPr/>
            <p:nvPr/>
          </p:nvSpPr>
          <p:spPr>
            <a:xfrm>
              <a:off x="0" y="0"/>
              <a:ext cx="1497031" cy="101263"/>
            </a:xfrm>
            <a:custGeom>
              <a:avLst/>
              <a:gdLst/>
              <a:ahLst/>
              <a:cxnLst/>
              <a:rect l="l" t="t" r="r" b="b"/>
              <a:pathLst>
                <a:path w="1497031" h="101263">
                  <a:moveTo>
                    <a:pt x="50632" y="0"/>
                  </a:moveTo>
                  <a:lnTo>
                    <a:pt x="1446399" y="0"/>
                  </a:lnTo>
                  <a:cubicBezTo>
                    <a:pt x="1459827" y="0"/>
                    <a:pt x="1472706" y="5334"/>
                    <a:pt x="1482201" y="14830"/>
                  </a:cubicBezTo>
                  <a:cubicBezTo>
                    <a:pt x="1491696" y="24325"/>
                    <a:pt x="1497031" y="37203"/>
                    <a:pt x="1497031" y="50632"/>
                  </a:cubicBezTo>
                  <a:lnTo>
                    <a:pt x="1497031" y="50632"/>
                  </a:lnTo>
                  <a:cubicBezTo>
                    <a:pt x="1497031" y="64060"/>
                    <a:pt x="1491696" y="76938"/>
                    <a:pt x="1482201" y="86433"/>
                  </a:cubicBezTo>
                  <a:cubicBezTo>
                    <a:pt x="1472706" y="95929"/>
                    <a:pt x="1459827" y="101263"/>
                    <a:pt x="1446399" y="101263"/>
                  </a:cubicBezTo>
                  <a:lnTo>
                    <a:pt x="50632" y="101263"/>
                  </a:lnTo>
                  <a:cubicBezTo>
                    <a:pt x="37203" y="101263"/>
                    <a:pt x="24325" y="95929"/>
                    <a:pt x="14830" y="86433"/>
                  </a:cubicBezTo>
                  <a:cubicBezTo>
                    <a:pt x="5334" y="76938"/>
                    <a:pt x="0" y="64060"/>
                    <a:pt x="0" y="50632"/>
                  </a:cubicBezTo>
                  <a:lnTo>
                    <a:pt x="0" y="50632"/>
                  </a:lnTo>
                  <a:cubicBezTo>
                    <a:pt x="0" y="37203"/>
                    <a:pt x="5334" y="24325"/>
                    <a:pt x="14830" y="14830"/>
                  </a:cubicBezTo>
                  <a:cubicBezTo>
                    <a:pt x="24325" y="5334"/>
                    <a:pt x="37203" y="0"/>
                    <a:pt x="50632" y="0"/>
                  </a:cubicBezTo>
                  <a:close/>
                </a:path>
              </a:pathLst>
            </a:custGeom>
            <a:ln w="47625" cap="rnd">
              <a:solidFill>
                <a:srgbClr val="41B8D5"/>
              </a:solidFill>
              <a:prstDash val="dash"/>
              <a:round/>
            </a:ln>
          </p:spPr>
        </p:sp>
        <p:sp>
          <p:nvSpPr>
            <p:cNvPr id="26" name="TextBox 26"/>
            <p:cNvSpPr txBox="1"/>
            <p:nvPr/>
          </p:nvSpPr>
          <p:spPr>
            <a:xfrm>
              <a:off x="-45032" y="-79593"/>
              <a:ext cx="1497031" cy="158413"/>
            </a:xfrm>
            <a:prstGeom prst="rect">
              <a:avLst/>
            </a:prstGeom>
          </p:spPr>
          <p:txBody>
            <a:bodyPr lIns="50800" tIns="50800" rIns="50800" bIns="50800" rtlCol="0" anchor="ctr"/>
            <a:lstStyle/>
            <a:p>
              <a:pPr algn="ctr">
                <a:lnSpc>
                  <a:spcPts val="2380"/>
                </a:lnSpc>
              </a:pPr>
              <a:endParaRPr/>
            </a:p>
          </p:txBody>
        </p:sp>
      </p:grpSp>
      <p:sp>
        <p:nvSpPr>
          <p:cNvPr id="27" name="AutoShape 27"/>
          <p:cNvSpPr/>
          <p:nvPr/>
        </p:nvSpPr>
        <p:spPr>
          <a:xfrm flipV="1">
            <a:off x="18184502" y="2564582"/>
            <a:ext cx="0" cy="5211671"/>
          </a:xfrm>
          <a:prstGeom prst="line">
            <a:avLst/>
          </a:prstGeom>
          <a:ln w="47625" cap="flat">
            <a:solidFill>
              <a:srgbClr val="D02506"/>
            </a:solidFill>
            <a:prstDash val="sysDash"/>
            <a:headEnd type="none" w="sm" len="sm"/>
            <a:tailEnd type="none" w="sm" len="sm"/>
          </a:ln>
        </p:spPr>
      </p:sp>
      <p:sp>
        <p:nvSpPr>
          <p:cNvPr id="28" name="AutoShape 28"/>
          <p:cNvSpPr/>
          <p:nvPr/>
        </p:nvSpPr>
        <p:spPr>
          <a:xfrm>
            <a:off x="16203160" y="7604814"/>
            <a:ext cx="1915556" cy="0"/>
          </a:xfrm>
          <a:prstGeom prst="line">
            <a:avLst/>
          </a:prstGeom>
          <a:ln w="47625" cap="flat">
            <a:solidFill>
              <a:srgbClr val="D02506"/>
            </a:solidFill>
            <a:prstDash val="sysDash"/>
            <a:headEnd type="none" w="sm" len="sm"/>
            <a:tailEnd type="none" w="sm" len="sm"/>
          </a:ln>
        </p:spPr>
      </p:sp>
      <p:grpSp>
        <p:nvGrpSpPr>
          <p:cNvPr id="29" name="Group 29"/>
          <p:cNvGrpSpPr/>
          <p:nvPr/>
        </p:nvGrpSpPr>
        <p:grpSpPr>
          <a:xfrm>
            <a:off x="8763626" y="2651766"/>
            <a:ext cx="768966" cy="768966"/>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id="31" name="TextBox 31"/>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32" name="Group 32"/>
          <p:cNvGrpSpPr/>
          <p:nvPr/>
        </p:nvGrpSpPr>
        <p:grpSpPr>
          <a:xfrm>
            <a:off x="11186761" y="2903410"/>
            <a:ext cx="768966" cy="768966"/>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9CE3"/>
            </a:solidFill>
          </p:spPr>
        </p:sp>
        <p:sp>
          <p:nvSpPr>
            <p:cNvPr id="34" name="TextBox 34"/>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35" name="Group 35"/>
          <p:cNvGrpSpPr/>
          <p:nvPr/>
        </p:nvGrpSpPr>
        <p:grpSpPr>
          <a:xfrm>
            <a:off x="17544852" y="2803357"/>
            <a:ext cx="768966" cy="768966"/>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2506"/>
            </a:solidFill>
          </p:spPr>
        </p:sp>
        <p:sp>
          <p:nvSpPr>
            <p:cNvPr id="37" name="TextBox 37"/>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38" name="Group 38"/>
          <p:cNvGrpSpPr/>
          <p:nvPr/>
        </p:nvGrpSpPr>
        <p:grpSpPr>
          <a:xfrm>
            <a:off x="15436006" y="7435070"/>
            <a:ext cx="768966" cy="768966"/>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41" name="Group 41"/>
          <p:cNvGrpSpPr/>
          <p:nvPr/>
        </p:nvGrpSpPr>
        <p:grpSpPr>
          <a:xfrm>
            <a:off x="10948353" y="8314658"/>
            <a:ext cx="768966" cy="768966"/>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p:spPr>
        </p:sp>
        <p:sp>
          <p:nvSpPr>
            <p:cNvPr id="43" name="TextBox 43"/>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sp>
        <p:nvSpPr>
          <p:cNvPr id="44" name="AutoShape 44"/>
          <p:cNvSpPr/>
          <p:nvPr/>
        </p:nvSpPr>
        <p:spPr>
          <a:xfrm flipV="1">
            <a:off x="16138454" y="2456515"/>
            <a:ext cx="0" cy="5148299"/>
          </a:xfrm>
          <a:prstGeom prst="line">
            <a:avLst/>
          </a:prstGeom>
          <a:ln w="47625" cap="flat">
            <a:solidFill>
              <a:srgbClr val="D02506"/>
            </a:solidFill>
            <a:prstDash val="sysDash"/>
            <a:headEnd type="none" w="sm" len="sm"/>
            <a:tailEnd type="none" w="sm" len="sm"/>
          </a:ln>
        </p:spPr>
      </p:sp>
      <p:grpSp>
        <p:nvGrpSpPr>
          <p:cNvPr id="45" name="Group 45"/>
          <p:cNvGrpSpPr/>
          <p:nvPr/>
        </p:nvGrpSpPr>
        <p:grpSpPr>
          <a:xfrm>
            <a:off x="10947382" y="9349400"/>
            <a:ext cx="768966" cy="768966"/>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9CE3"/>
            </a:solidFill>
          </p:spPr>
        </p:sp>
        <p:sp>
          <p:nvSpPr>
            <p:cNvPr id="47" name="TextBox 47"/>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sp>
        <p:nvSpPr>
          <p:cNvPr id="49" name="Freeform 49"/>
          <p:cNvSpPr/>
          <p:nvPr/>
        </p:nvSpPr>
        <p:spPr>
          <a:xfrm>
            <a:off x="14680905" y="8400721"/>
            <a:ext cx="768966" cy="76896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2506"/>
          </a:solidFill>
        </p:spPr>
      </p:sp>
      <p:grpSp>
        <p:nvGrpSpPr>
          <p:cNvPr id="51" name="Group 51"/>
          <p:cNvGrpSpPr/>
          <p:nvPr/>
        </p:nvGrpSpPr>
        <p:grpSpPr>
          <a:xfrm>
            <a:off x="14772108" y="9325708"/>
            <a:ext cx="768966" cy="768966"/>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sp>
        <p:sp>
          <p:nvSpPr>
            <p:cNvPr id="53" name="TextBox 53"/>
            <p:cNvSpPr txBox="1"/>
            <p:nvPr/>
          </p:nvSpPr>
          <p:spPr>
            <a:xfrm>
              <a:off x="76200" y="19050"/>
              <a:ext cx="660400" cy="717550"/>
            </a:xfrm>
            <a:prstGeom prst="rect">
              <a:avLst/>
            </a:prstGeom>
          </p:spPr>
          <p:txBody>
            <a:bodyPr lIns="50800" tIns="50800" rIns="50800" bIns="50800" rtlCol="0" anchor="ctr"/>
            <a:lstStyle/>
            <a:p>
              <a:pPr algn="ctr">
                <a:lnSpc>
                  <a:spcPts val="2380"/>
                </a:lnSpc>
              </a:pPr>
              <a:endParaRPr/>
            </a:p>
          </p:txBody>
        </p:sp>
      </p:grpSp>
      <p:grpSp>
        <p:nvGrpSpPr>
          <p:cNvPr id="60" name="Group 60"/>
          <p:cNvGrpSpPr/>
          <p:nvPr/>
        </p:nvGrpSpPr>
        <p:grpSpPr>
          <a:xfrm>
            <a:off x="377311" y="7525973"/>
            <a:ext cx="9363859" cy="2598684"/>
            <a:chOff x="0" y="0"/>
            <a:chExt cx="2466202" cy="684427"/>
          </a:xfrm>
        </p:grpSpPr>
        <p:sp>
          <p:nvSpPr>
            <p:cNvPr id="61" name="Freeform 61"/>
            <p:cNvSpPr/>
            <p:nvPr/>
          </p:nvSpPr>
          <p:spPr>
            <a:xfrm>
              <a:off x="0" y="0"/>
              <a:ext cx="2466202" cy="684427"/>
            </a:xfrm>
            <a:custGeom>
              <a:avLst/>
              <a:gdLst/>
              <a:ahLst/>
              <a:cxnLst/>
              <a:rect l="l" t="t" r="r" b="b"/>
              <a:pathLst>
                <a:path w="2466202" h="684427">
                  <a:moveTo>
                    <a:pt x="42166" y="0"/>
                  </a:moveTo>
                  <a:lnTo>
                    <a:pt x="2424035" y="0"/>
                  </a:lnTo>
                  <a:cubicBezTo>
                    <a:pt x="2435219" y="0"/>
                    <a:pt x="2445944" y="4442"/>
                    <a:pt x="2453851" y="12350"/>
                  </a:cubicBezTo>
                  <a:cubicBezTo>
                    <a:pt x="2461759" y="20258"/>
                    <a:pt x="2466202" y="30983"/>
                    <a:pt x="2466202" y="42166"/>
                  </a:cubicBezTo>
                  <a:lnTo>
                    <a:pt x="2466202" y="642261"/>
                  </a:lnTo>
                  <a:cubicBezTo>
                    <a:pt x="2466202" y="653444"/>
                    <a:pt x="2461759" y="664169"/>
                    <a:pt x="2453851" y="672077"/>
                  </a:cubicBezTo>
                  <a:cubicBezTo>
                    <a:pt x="2445944" y="679985"/>
                    <a:pt x="2435219" y="684427"/>
                    <a:pt x="2424035" y="684427"/>
                  </a:cubicBezTo>
                  <a:lnTo>
                    <a:pt x="42166" y="684427"/>
                  </a:lnTo>
                  <a:cubicBezTo>
                    <a:pt x="30983" y="684427"/>
                    <a:pt x="20258" y="679985"/>
                    <a:pt x="12350" y="672077"/>
                  </a:cubicBezTo>
                  <a:cubicBezTo>
                    <a:pt x="4442" y="664169"/>
                    <a:pt x="0" y="653444"/>
                    <a:pt x="0" y="642261"/>
                  </a:cubicBezTo>
                  <a:lnTo>
                    <a:pt x="0" y="42166"/>
                  </a:lnTo>
                  <a:cubicBezTo>
                    <a:pt x="0" y="30983"/>
                    <a:pt x="4442" y="20258"/>
                    <a:pt x="12350" y="12350"/>
                  </a:cubicBezTo>
                  <a:cubicBezTo>
                    <a:pt x="20258" y="4442"/>
                    <a:pt x="30983" y="0"/>
                    <a:pt x="42166" y="0"/>
                  </a:cubicBezTo>
                  <a:close/>
                </a:path>
              </a:pathLst>
            </a:custGeom>
            <a:solidFill>
              <a:srgbClr val="D4ECFA"/>
            </a:solidFill>
          </p:spPr>
        </p:sp>
        <p:sp>
          <p:nvSpPr>
            <p:cNvPr id="62" name="TextBox 62"/>
            <p:cNvSpPr txBox="1"/>
            <p:nvPr/>
          </p:nvSpPr>
          <p:spPr>
            <a:xfrm>
              <a:off x="0" y="-57150"/>
              <a:ext cx="2466202" cy="741577"/>
            </a:xfrm>
            <a:prstGeom prst="rect">
              <a:avLst/>
            </a:prstGeom>
          </p:spPr>
          <p:txBody>
            <a:bodyPr lIns="50800" tIns="50800" rIns="50800" bIns="50800" rtlCol="0" anchor="ctr"/>
            <a:lstStyle/>
            <a:p>
              <a:pPr algn="ctr">
                <a:lnSpc>
                  <a:spcPts val="2380"/>
                </a:lnSpc>
              </a:pPr>
              <a:endParaRPr/>
            </a:p>
          </p:txBody>
        </p:sp>
      </p:grpSp>
      <p:sp>
        <p:nvSpPr>
          <p:cNvPr id="66" name="TextBox 66"/>
          <p:cNvSpPr txBox="1"/>
          <p:nvPr/>
        </p:nvSpPr>
        <p:spPr>
          <a:xfrm>
            <a:off x="2773746" y="543337"/>
            <a:ext cx="13291662" cy="1011046"/>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ea typeface="Poppins Bold"/>
                <a:cs typeface="Poppins Bold"/>
                <a:sym typeface="Poppins Bold"/>
              </a:rPr>
              <a:t>KIẾN TRÚC GIAO DIỆN NGƯỜI DÙNG</a:t>
            </a:r>
          </a:p>
        </p:txBody>
      </p:sp>
      <p:sp>
        <p:nvSpPr>
          <p:cNvPr id="67" name="TextBox 67"/>
          <p:cNvSpPr txBox="1"/>
          <p:nvPr/>
        </p:nvSpPr>
        <p:spPr>
          <a:xfrm>
            <a:off x="4409107" y="2073460"/>
            <a:ext cx="542568"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USER</a:t>
            </a:r>
          </a:p>
        </p:txBody>
      </p:sp>
      <p:sp>
        <p:nvSpPr>
          <p:cNvPr id="68" name="TextBox 68"/>
          <p:cNvSpPr txBox="1"/>
          <p:nvPr/>
        </p:nvSpPr>
        <p:spPr>
          <a:xfrm>
            <a:off x="3926844" y="3149198"/>
            <a:ext cx="1507093" cy="288412"/>
          </a:xfrm>
          <a:prstGeom prst="rect">
            <a:avLst/>
          </a:prstGeom>
        </p:spPr>
        <p:txBody>
          <a:bodyPr lIns="0" tIns="0" rIns="0" bIns="0" rtlCol="0" anchor="t">
            <a:spAutoFit/>
          </a:bodyPr>
          <a:lstStyle/>
          <a:p>
            <a:pPr algn="ctr">
              <a:lnSpc>
                <a:spcPts val="2379"/>
              </a:lnSpc>
              <a:spcBef>
                <a:spcPct val="0"/>
              </a:spcBef>
            </a:pPr>
            <a:r>
              <a:rPr lang="en-US" sz="1699" b="1">
                <a:solidFill>
                  <a:srgbClr val="000000"/>
                </a:solidFill>
                <a:ea typeface="Poppins Bold"/>
                <a:cs typeface="Poppins Bold"/>
                <a:sym typeface="Poppins Bold"/>
              </a:rPr>
              <a:t>Main Window</a:t>
            </a:r>
          </a:p>
        </p:txBody>
      </p:sp>
      <p:sp>
        <p:nvSpPr>
          <p:cNvPr id="69" name="TextBox 69"/>
          <p:cNvSpPr txBox="1"/>
          <p:nvPr/>
        </p:nvSpPr>
        <p:spPr>
          <a:xfrm>
            <a:off x="1460669" y="4778795"/>
            <a:ext cx="861655"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Sidebar</a:t>
            </a:r>
          </a:p>
        </p:txBody>
      </p:sp>
      <p:sp>
        <p:nvSpPr>
          <p:cNvPr id="70" name="TextBox 70"/>
          <p:cNvSpPr txBox="1"/>
          <p:nvPr/>
        </p:nvSpPr>
        <p:spPr>
          <a:xfrm>
            <a:off x="3205027" y="4778795"/>
            <a:ext cx="950952"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ChatBox</a:t>
            </a:r>
          </a:p>
        </p:txBody>
      </p:sp>
      <p:sp>
        <p:nvSpPr>
          <p:cNvPr id="71" name="TextBox 71"/>
          <p:cNvSpPr txBox="1"/>
          <p:nvPr/>
        </p:nvSpPr>
        <p:spPr>
          <a:xfrm>
            <a:off x="5016473" y="4778795"/>
            <a:ext cx="1310878"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Peer Details</a:t>
            </a:r>
          </a:p>
        </p:txBody>
      </p:sp>
      <p:sp>
        <p:nvSpPr>
          <p:cNvPr id="72" name="TextBox 72"/>
          <p:cNvSpPr txBox="1"/>
          <p:nvPr/>
        </p:nvSpPr>
        <p:spPr>
          <a:xfrm>
            <a:off x="3680504" y="5819168"/>
            <a:ext cx="2075498"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Controller Adapter</a:t>
            </a:r>
          </a:p>
        </p:txBody>
      </p:sp>
      <p:sp>
        <p:nvSpPr>
          <p:cNvPr id="73" name="TextBox 73"/>
          <p:cNvSpPr txBox="1"/>
          <p:nvPr/>
        </p:nvSpPr>
        <p:spPr>
          <a:xfrm>
            <a:off x="3680503" y="7146658"/>
            <a:ext cx="1953101"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Network/Security</a:t>
            </a:r>
          </a:p>
        </p:txBody>
      </p:sp>
      <p:sp>
        <p:nvSpPr>
          <p:cNvPr id="74" name="TextBox 74"/>
          <p:cNvSpPr txBox="1"/>
          <p:nvPr/>
        </p:nvSpPr>
        <p:spPr>
          <a:xfrm>
            <a:off x="9066775" y="2620324"/>
            <a:ext cx="162669"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1</a:t>
            </a:r>
          </a:p>
        </p:txBody>
      </p:sp>
      <p:sp>
        <p:nvSpPr>
          <p:cNvPr id="75" name="TextBox 75"/>
          <p:cNvSpPr txBox="1"/>
          <p:nvPr/>
        </p:nvSpPr>
        <p:spPr>
          <a:xfrm>
            <a:off x="11425170" y="2871968"/>
            <a:ext cx="292150"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2</a:t>
            </a:r>
          </a:p>
        </p:txBody>
      </p:sp>
      <p:sp>
        <p:nvSpPr>
          <p:cNvPr id="76" name="TextBox 76"/>
          <p:cNvSpPr txBox="1"/>
          <p:nvPr/>
        </p:nvSpPr>
        <p:spPr>
          <a:xfrm>
            <a:off x="17496831" y="2871443"/>
            <a:ext cx="768966"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3</a:t>
            </a:r>
          </a:p>
        </p:txBody>
      </p:sp>
      <p:sp>
        <p:nvSpPr>
          <p:cNvPr id="77" name="TextBox 77"/>
          <p:cNvSpPr txBox="1"/>
          <p:nvPr/>
        </p:nvSpPr>
        <p:spPr>
          <a:xfrm>
            <a:off x="12999682" y="8808314"/>
            <a:ext cx="768966"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4</a:t>
            </a:r>
          </a:p>
        </p:txBody>
      </p:sp>
      <p:sp>
        <p:nvSpPr>
          <p:cNvPr id="78" name="TextBox 78"/>
          <p:cNvSpPr txBox="1"/>
          <p:nvPr/>
        </p:nvSpPr>
        <p:spPr>
          <a:xfrm>
            <a:off x="11553415" y="8014100"/>
            <a:ext cx="1610171" cy="505523"/>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ea typeface="Poppins Bold"/>
                <a:cs typeface="Poppins Bold"/>
                <a:sym typeface="Poppins Bold"/>
              </a:rPr>
              <a:t>SIDEBAR</a:t>
            </a:r>
          </a:p>
        </p:txBody>
      </p:sp>
      <p:sp>
        <p:nvSpPr>
          <p:cNvPr id="79" name="TextBox 79"/>
          <p:cNvSpPr txBox="1"/>
          <p:nvPr/>
        </p:nvSpPr>
        <p:spPr>
          <a:xfrm>
            <a:off x="11550031" y="9249623"/>
            <a:ext cx="1978670" cy="505523"/>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ea typeface="Poppins Bold"/>
                <a:cs typeface="Poppins Bold"/>
                <a:sym typeface="Poppins Bold"/>
              </a:rPr>
              <a:t>CHAT BOX</a:t>
            </a:r>
          </a:p>
        </p:txBody>
      </p:sp>
      <p:sp>
        <p:nvSpPr>
          <p:cNvPr id="80" name="TextBox 80"/>
          <p:cNvSpPr txBox="1"/>
          <p:nvPr/>
        </p:nvSpPr>
        <p:spPr>
          <a:xfrm>
            <a:off x="15436006" y="8030952"/>
            <a:ext cx="2565974" cy="505523"/>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ea typeface="Poppins Bold"/>
                <a:cs typeface="Poppins Bold"/>
                <a:sym typeface="Poppins Bold"/>
              </a:rPr>
              <a:t>PEER DETAILS</a:t>
            </a:r>
          </a:p>
        </p:txBody>
      </p:sp>
      <p:sp>
        <p:nvSpPr>
          <p:cNvPr id="84" name="TextBox 84"/>
          <p:cNvSpPr txBox="1"/>
          <p:nvPr/>
        </p:nvSpPr>
        <p:spPr>
          <a:xfrm>
            <a:off x="15396808" y="9221421"/>
            <a:ext cx="3014304" cy="505523"/>
          </a:xfrm>
          <a:prstGeom prst="rect">
            <a:avLst/>
          </a:prstGeom>
        </p:spPr>
        <p:txBody>
          <a:bodyPr wrap="square" lIns="0" tIns="0" rIns="0" bIns="0" rtlCol="0" anchor="t">
            <a:spAutoFit/>
          </a:bodyPr>
          <a:lstStyle/>
          <a:p>
            <a:pPr algn="ctr">
              <a:lnSpc>
                <a:spcPts val="4200"/>
              </a:lnSpc>
              <a:spcBef>
                <a:spcPct val="0"/>
              </a:spcBef>
            </a:pPr>
            <a:r>
              <a:rPr lang="en-US" sz="3000" b="1">
                <a:solidFill>
                  <a:srgbClr val="000000"/>
                </a:solidFill>
                <a:ea typeface="Poppins Bold"/>
                <a:cs typeface="Poppins Bold"/>
                <a:sym typeface="Poppins Bold"/>
              </a:rPr>
              <a:t>MESSAGE INPUT</a:t>
            </a:r>
          </a:p>
        </p:txBody>
      </p:sp>
      <p:sp>
        <p:nvSpPr>
          <p:cNvPr id="85" name="TextBox 85"/>
          <p:cNvSpPr txBox="1"/>
          <p:nvPr/>
        </p:nvSpPr>
        <p:spPr>
          <a:xfrm>
            <a:off x="11317150" y="8500858"/>
            <a:ext cx="2356796" cy="640080"/>
          </a:xfrm>
          <a:prstGeom prst="rect">
            <a:avLst/>
          </a:prstGeom>
        </p:spPr>
        <p:txBody>
          <a:bodyPr lIns="0" tIns="0" rIns="0" bIns="0" rtlCol="0" anchor="t">
            <a:spAutoFit/>
          </a:bodyPr>
          <a:lstStyle/>
          <a:p>
            <a:pPr algn="ctr">
              <a:lnSpc>
                <a:spcPts val="2520"/>
              </a:lnSpc>
            </a:pPr>
            <a:r>
              <a:rPr lang="en-US" sz="1800">
                <a:solidFill>
                  <a:srgbClr val="000000"/>
                </a:solidFill>
                <a:ea typeface="Poppins"/>
                <a:cs typeface="Poppins"/>
                <a:sym typeface="Poppins"/>
              </a:rPr>
              <a:t>Danh sách Peer </a:t>
            </a:r>
          </a:p>
          <a:p>
            <a:pPr algn="ctr">
              <a:lnSpc>
                <a:spcPts val="2520"/>
              </a:lnSpc>
              <a:spcBef>
                <a:spcPct val="0"/>
              </a:spcBef>
            </a:pPr>
            <a:r>
              <a:rPr lang="en-US" sz="1800">
                <a:solidFill>
                  <a:srgbClr val="000000"/>
                </a:solidFill>
                <a:ea typeface="Poppins"/>
                <a:cs typeface="Poppins"/>
                <a:sym typeface="Poppins"/>
              </a:rPr>
              <a:t>và trạng thái</a:t>
            </a:r>
          </a:p>
        </p:txBody>
      </p:sp>
      <p:sp>
        <p:nvSpPr>
          <p:cNvPr id="86" name="TextBox 86"/>
          <p:cNvSpPr txBox="1"/>
          <p:nvPr/>
        </p:nvSpPr>
        <p:spPr>
          <a:xfrm>
            <a:off x="15486097" y="8393808"/>
            <a:ext cx="2208041" cy="942566"/>
          </a:xfrm>
          <a:prstGeom prst="rect">
            <a:avLst/>
          </a:prstGeom>
        </p:spPr>
        <p:txBody>
          <a:bodyPr wrap="square" lIns="0" tIns="0" rIns="0" bIns="0" rtlCol="0" anchor="t">
            <a:spAutoFit/>
          </a:bodyPr>
          <a:lstStyle/>
          <a:p>
            <a:pPr algn="ctr">
              <a:lnSpc>
                <a:spcPts val="2520"/>
              </a:lnSpc>
              <a:spcBef>
                <a:spcPct val="0"/>
              </a:spcBef>
            </a:pPr>
            <a:r>
              <a:rPr lang="en-US" sz="1800">
                <a:solidFill>
                  <a:srgbClr val="000000"/>
                </a:solidFill>
                <a:ea typeface="Poppins"/>
                <a:cs typeface="Poppins"/>
                <a:sym typeface="Poppins"/>
              </a:rPr>
              <a:t>Hiển thị thông tin Peer, địa chỉ IP, Trust và các chức năng</a:t>
            </a:r>
          </a:p>
        </p:txBody>
      </p:sp>
      <p:sp>
        <p:nvSpPr>
          <p:cNvPr id="87" name="TextBox 87"/>
          <p:cNvSpPr txBox="1"/>
          <p:nvPr/>
        </p:nvSpPr>
        <p:spPr>
          <a:xfrm>
            <a:off x="11717319" y="9652944"/>
            <a:ext cx="1600700" cy="621965"/>
          </a:xfrm>
          <a:prstGeom prst="rect">
            <a:avLst/>
          </a:prstGeom>
        </p:spPr>
        <p:txBody>
          <a:bodyPr wrap="square" lIns="0" tIns="0" rIns="0" bIns="0" rtlCol="0" anchor="t">
            <a:spAutoFit/>
          </a:bodyPr>
          <a:lstStyle/>
          <a:p>
            <a:pPr algn="ctr">
              <a:lnSpc>
                <a:spcPts val="2520"/>
              </a:lnSpc>
              <a:spcBef>
                <a:spcPct val="0"/>
              </a:spcBef>
            </a:pPr>
            <a:r>
              <a:rPr lang="en-US" sz="1800">
                <a:solidFill>
                  <a:srgbClr val="000000"/>
                </a:solidFill>
                <a:ea typeface="Poppins"/>
                <a:cs typeface="Poppins"/>
                <a:sym typeface="Poppins"/>
              </a:rPr>
              <a:t>Hiển thị lịch sử trò chuyện</a:t>
            </a:r>
          </a:p>
        </p:txBody>
      </p:sp>
      <p:sp>
        <p:nvSpPr>
          <p:cNvPr id="88" name="TextBox 88"/>
          <p:cNvSpPr txBox="1"/>
          <p:nvPr/>
        </p:nvSpPr>
        <p:spPr>
          <a:xfrm>
            <a:off x="15721081" y="9588362"/>
            <a:ext cx="1600700" cy="640080"/>
          </a:xfrm>
          <a:prstGeom prst="rect">
            <a:avLst/>
          </a:prstGeom>
        </p:spPr>
        <p:txBody>
          <a:bodyPr wrap="square" lIns="0" tIns="0" rIns="0" bIns="0" rtlCol="0" anchor="t">
            <a:spAutoFit/>
          </a:bodyPr>
          <a:lstStyle/>
          <a:p>
            <a:pPr algn="ctr">
              <a:lnSpc>
                <a:spcPts val="2520"/>
              </a:lnSpc>
              <a:spcBef>
                <a:spcPct val="0"/>
              </a:spcBef>
            </a:pPr>
            <a:r>
              <a:rPr lang="en-US" sz="1800">
                <a:solidFill>
                  <a:srgbClr val="000000"/>
                </a:solidFill>
                <a:ea typeface="Poppins"/>
                <a:cs typeface="Poppins"/>
                <a:sym typeface="Poppins"/>
              </a:rPr>
              <a:t>Ô nhập tin nhắn và nút Send</a:t>
            </a:r>
          </a:p>
        </p:txBody>
      </p:sp>
      <p:sp>
        <p:nvSpPr>
          <p:cNvPr id="89" name="TextBox 89"/>
          <p:cNvSpPr txBox="1"/>
          <p:nvPr/>
        </p:nvSpPr>
        <p:spPr>
          <a:xfrm>
            <a:off x="643068" y="7969858"/>
            <a:ext cx="8723960" cy="1709186"/>
          </a:xfrm>
          <a:prstGeom prst="rect">
            <a:avLst/>
          </a:prstGeom>
        </p:spPr>
        <p:txBody>
          <a:bodyPr lIns="0" tIns="0" rIns="0" bIns="0" rtlCol="0" anchor="t">
            <a:spAutoFit/>
          </a:bodyPr>
          <a:lstStyle/>
          <a:p>
            <a:pPr algn="l">
              <a:lnSpc>
                <a:spcPts val="2667"/>
              </a:lnSpc>
            </a:pPr>
            <a:r>
              <a:rPr lang="en-US" sz="1905" b="1">
                <a:solidFill>
                  <a:srgbClr val="000000"/>
                </a:solidFill>
                <a:ea typeface="Poppins Bold"/>
                <a:cs typeface="Poppins Bold"/>
                <a:sym typeface="Poppins Bold"/>
              </a:rPr>
              <a:t>-MAIN WINDOW:</a:t>
            </a:r>
            <a:r>
              <a:rPr lang="en-US" sz="1905">
                <a:solidFill>
                  <a:srgbClr val="000000"/>
                </a:solidFill>
                <a:ea typeface="Poppins"/>
                <a:cs typeface="Poppins"/>
                <a:sym typeface="Poppins"/>
              </a:rPr>
              <a:t> cửa sổ chính, chứa và quản lý toàn bộ thành phần giao diện.</a:t>
            </a:r>
          </a:p>
          <a:p>
            <a:pPr algn="l">
              <a:lnSpc>
                <a:spcPts val="2667"/>
              </a:lnSpc>
            </a:pPr>
            <a:r>
              <a:rPr lang="en-US" sz="1905" b="1">
                <a:solidFill>
                  <a:srgbClr val="000000"/>
                </a:solidFill>
                <a:ea typeface="Poppins Bold"/>
                <a:cs typeface="Poppins Bold"/>
                <a:sym typeface="Poppins Bold"/>
              </a:rPr>
              <a:t>-SIDEBAR:</a:t>
            </a:r>
            <a:r>
              <a:rPr lang="en-US" sz="1905">
                <a:solidFill>
                  <a:srgbClr val="000000"/>
                </a:solidFill>
                <a:ea typeface="Poppins"/>
                <a:cs typeface="Poppins"/>
                <a:sym typeface="Poppins"/>
              </a:rPr>
              <a:t> danh sách peer, danh sách online/offline, chọn peer để chat</a:t>
            </a:r>
          </a:p>
          <a:p>
            <a:pPr algn="l">
              <a:lnSpc>
                <a:spcPts val="2667"/>
              </a:lnSpc>
            </a:pPr>
            <a:r>
              <a:rPr lang="en-US" sz="1905" b="1">
                <a:solidFill>
                  <a:srgbClr val="000000"/>
                </a:solidFill>
                <a:ea typeface="Poppins Bold"/>
                <a:cs typeface="Poppins Bold"/>
                <a:sym typeface="Poppins Bold"/>
              </a:rPr>
              <a:t>-CHATBOX:</a:t>
            </a:r>
            <a:r>
              <a:rPr lang="en-US" sz="1905">
                <a:solidFill>
                  <a:srgbClr val="000000"/>
                </a:solidFill>
                <a:ea typeface="Poppins"/>
                <a:cs typeface="Poppins"/>
                <a:sym typeface="Poppins"/>
              </a:rPr>
              <a:t> hiển thị lịch sử tin nhắn và các nội dung trao đổi giữa các Peer.</a:t>
            </a:r>
          </a:p>
          <a:p>
            <a:pPr algn="l">
              <a:lnSpc>
                <a:spcPts val="2667"/>
              </a:lnSpc>
              <a:spcBef>
                <a:spcPct val="0"/>
              </a:spcBef>
            </a:pPr>
            <a:r>
              <a:rPr lang="en-US" sz="1905" b="1">
                <a:solidFill>
                  <a:srgbClr val="000000"/>
                </a:solidFill>
                <a:ea typeface="Poppins Bold"/>
                <a:cs typeface="Poppins Bold"/>
                <a:sym typeface="Poppins Bold"/>
              </a:rPr>
              <a:t>-CONTROLLER ADAPTER:</a:t>
            </a:r>
            <a:r>
              <a:rPr lang="en-US" sz="1905">
                <a:solidFill>
                  <a:srgbClr val="000000"/>
                </a:solidFill>
                <a:ea typeface="Poppins"/>
                <a:cs typeface="Poppins"/>
                <a:sym typeface="Poppins"/>
              </a:rPr>
              <a:t> kết nối GUI với Network, nhận event từ mạng, cập nhật giao diện.</a:t>
            </a:r>
          </a:p>
        </p:txBody>
      </p:sp>
      <p:sp>
        <p:nvSpPr>
          <p:cNvPr id="90" name="TextBox 90"/>
          <p:cNvSpPr txBox="1"/>
          <p:nvPr/>
        </p:nvSpPr>
        <p:spPr>
          <a:xfrm>
            <a:off x="15663538" y="7387609"/>
            <a:ext cx="319534"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4</a:t>
            </a:r>
          </a:p>
        </p:txBody>
      </p:sp>
      <p:sp>
        <p:nvSpPr>
          <p:cNvPr id="91" name="TextBox 91"/>
          <p:cNvSpPr txBox="1"/>
          <p:nvPr/>
        </p:nvSpPr>
        <p:spPr>
          <a:xfrm>
            <a:off x="11250531" y="8283714"/>
            <a:ext cx="162669"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1</a:t>
            </a:r>
          </a:p>
        </p:txBody>
      </p:sp>
      <p:sp>
        <p:nvSpPr>
          <p:cNvPr id="92" name="TextBox 92"/>
          <p:cNvSpPr txBox="1"/>
          <p:nvPr/>
        </p:nvSpPr>
        <p:spPr>
          <a:xfrm>
            <a:off x="11185790" y="9359842"/>
            <a:ext cx="292150"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2</a:t>
            </a:r>
          </a:p>
        </p:txBody>
      </p:sp>
      <p:sp>
        <p:nvSpPr>
          <p:cNvPr id="93" name="TextBox 93"/>
          <p:cNvSpPr txBox="1"/>
          <p:nvPr/>
        </p:nvSpPr>
        <p:spPr>
          <a:xfrm>
            <a:off x="14407419" y="8403080"/>
            <a:ext cx="1267992" cy="674031"/>
          </a:xfrm>
          <a:prstGeom prst="rect">
            <a:avLst/>
          </a:prstGeom>
        </p:spPr>
        <p:txBody>
          <a:bodyPr wrap="square"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3</a:t>
            </a:r>
          </a:p>
        </p:txBody>
      </p:sp>
      <p:sp>
        <p:nvSpPr>
          <p:cNvPr id="94" name="TextBox 94"/>
          <p:cNvSpPr txBox="1"/>
          <p:nvPr/>
        </p:nvSpPr>
        <p:spPr>
          <a:xfrm>
            <a:off x="14983626" y="9396867"/>
            <a:ext cx="319534" cy="674031"/>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ea typeface="Poppins"/>
                <a:cs typeface="Poppins"/>
                <a:sym typeface="Poppins"/>
              </a:rPr>
              <a:t>4</a:t>
            </a:r>
          </a:p>
        </p:txBody>
      </p:sp>
      <p:grpSp>
        <p:nvGrpSpPr>
          <p:cNvPr id="95" name="Group 95"/>
          <p:cNvGrpSpPr/>
          <p:nvPr/>
        </p:nvGrpSpPr>
        <p:grpSpPr>
          <a:xfrm>
            <a:off x="12495548" y="1271567"/>
            <a:ext cx="1082147" cy="1154057"/>
            <a:chOff x="0" y="0"/>
            <a:chExt cx="285010" cy="303949"/>
          </a:xfrm>
        </p:grpSpPr>
        <p:sp>
          <p:nvSpPr>
            <p:cNvPr id="96" name="Freeform 96"/>
            <p:cNvSpPr/>
            <p:nvPr/>
          </p:nvSpPr>
          <p:spPr>
            <a:xfrm>
              <a:off x="0" y="0"/>
              <a:ext cx="285010" cy="303949"/>
            </a:xfrm>
            <a:custGeom>
              <a:avLst/>
              <a:gdLst/>
              <a:ahLst/>
              <a:cxnLst/>
              <a:rect l="l" t="t" r="r" b="b"/>
              <a:pathLst>
                <a:path w="285010" h="303949">
                  <a:moveTo>
                    <a:pt x="93005" y="0"/>
                  </a:moveTo>
                  <a:lnTo>
                    <a:pt x="192005" y="0"/>
                  </a:lnTo>
                  <a:cubicBezTo>
                    <a:pt x="243370" y="0"/>
                    <a:pt x="285010" y="41640"/>
                    <a:pt x="285010" y="93005"/>
                  </a:cubicBezTo>
                  <a:lnTo>
                    <a:pt x="285010" y="210944"/>
                  </a:lnTo>
                  <a:cubicBezTo>
                    <a:pt x="285010" y="262309"/>
                    <a:pt x="243370" y="303949"/>
                    <a:pt x="192005" y="303949"/>
                  </a:cubicBezTo>
                  <a:lnTo>
                    <a:pt x="93005" y="303949"/>
                  </a:lnTo>
                  <a:cubicBezTo>
                    <a:pt x="41640" y="303949"/>
                    <a:pt x="0" y="262309"/>
                    <a:pt x="0" y="210944"/>
                  </a:cubicBezTo>
                  <a:lnTo>
                    <a:pt x="0" y="93005"/>
                  </a:lnTo>
                  <a:cubicBezTo>
                    <a:pt x="0" y="41640"/>
                    <a:pt x="41640" y="0"/>
                    <a:pt x="93005" y="0"/>
                  </a:cubicBezTo>
                  <a:close/>
                </a:path>
              </a:pathLst>
            </a:custGeom>
            <a:solidFill>
              <a:srgbClr val="D5EDF1">
                <a:alpha val="22745"/>
              </a:srgbClr>
            </a:solidFill>
            <a:ln cap="sq">
              <a:noFill/>
              <a:prstDash val="solid"/>
              <a:miter/>
            </a:ln>
          </p:spPr>
        </p:sp>
        <p:sp>
          <p:nvSpPr>
            <p:cNvPr id="97" name="TextBox 97"/>
            <p:cNvSpPr txBox="1"/>
            <p:nvPr/>
          </p:nvSpPr>
          <p:spPr>
            <a:xfrm>
              <a:off x="0" y="-57150"/>
              <a:ext cx="285010" cy="36109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0" name="TextBox 100"/>
          <p:cNvSpPr txBox="1"/>
          <p:nvPr/>
        </p:nvSpPr>
        <p:spPr>
          <a:xfrm>
            <a:off x="14702280" y="7012097"/>
            <a:ext cx="2037602" cy="1371049"/>
          </a:xfrm>
          <a:prstGeom prst="rect">
            <a:avLst/>
          </a:prstGeom>
        </p:spPr>
        <p:txBody>
          <a:bodyPr lIns="50800" tIns="50800" rIns="50800" bIns="50800" rtlCol="0" anchor="ctr"/>
          <a:lstStyle/>
          <a:p>
            <a:pPr marL="0" lvl="0" indent="0" algn="ctr">
              <a:lnSpc>
                <a:spcPts val="2659"/>
              </a:lnSpc>
              <a:spcBef>
                <a:spcPct val="0"/>
              </a:spcBef>
            </a:pPr>
            <a:endParaRPr/>
          </a:p>
        </p:txBody>
      </p:sp>
      <p:sp>
        <p:nvSpPr>
          <p:cNvPr id="101" name="TextBox 101"/>
          <p:cNvSpPr txBox="1"/>
          <p:nvPr/>
        </p:nvSpPr>
        <p:spPr>
          <a:xfrm>
            <a:off x="6745128" y="4778795"/>
            <a:ext cx="1792010" cy="288412"/>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ea typeface="Poppins Bold"/>
                <a:cs typeface="Poppins Bold"/>
                <a:sym typeface="Poppins Bold"/>
              </a:rPr>
              <a:t>Massage Innput</a:t>
            </a:r>
          </a:p>
        </p:txBody>
      </p:sp>
      <p:sp>
        <p:nvSpPr>
          <p:cNvPr id="102" name="Freeform 102"/>
          <p:cNvSpPr/>
          <p:nvPr/>
        </p:nvSpPr>
        <p:spPr>
          <a:xfrm>
            <a:off x="1891496" y="3772769"/>
            <a:ext cx="5772136" cy="1063177"/>
          </a:xfrm>
          <a:custGeom>
            <a:avLst/>
            <a:gdLst/>
            <a:ahLst/>
            <a:cxnLst/>
            <a:rect l="l" t="t" r="r" b="b"/>
            <a:pathLst>
              <a:path w="5772136" h="1063177">
                <a:moveTo>
                  <a:pt x="0" y="1063176"/>
                </a:moveTo>
                <a:lnTo>
                  <a:pt x="0" y="228600"/>
                </a:lnTo>
                <a:cubicBezTo>
                  <a:pt x="0" y="102347"/>
                  <a:pt x="102348" y="0"/>
                  <a:pt x="228600" y="0"/>
                </a:cubicBezTo>
                <a:lnTo>
                  <a:pt x="5543536" y="0"/>
                </a:lnTo>
                <a:cubicBezTo>
                  <a:pt x="5669788" y="0"/>
                  <a:pt x="5772136" y="102347"/>
                  <a:pt x="5772136" y="228600"/>
                </a:cubicBezTo>
                <a:lnTo>
                  <a:pt x="5772136" y="924677"/>
                </a:lnTo>
              </a:path>
            </a:pathLst>
          </a:custGeom>
          <a:ln w="38100" cap="flat">
            <a:solidFill>
              <a:srgbClr val="000000"/>
            </a:solidFill>
            <a:prstDash val="solid"/>
            <a:headEnd type="arrow" w="med" len="sm"/>
            <a:tailEnd type="arrow" w="med" len="sm"/>
          </a:ln>
        </p:spPr>
      </p:sp>
      <p:sp>
        <p:nvSpPr>
          <p:cNvPr id="103" name="Freeform 103"/>
          <p:cNvSpPr/>
          <p:nvPr/>
        </p:nvSpPr>
        <p:spPr>
          <a:xfrm>
            <a:off x="3680504" y="3772769"/>
            <a:ext cx="1710716" cy="1063177"/>
          </a:xfrm>
          <a:custGeom>
            <a:avLst/>
            <a:gdLst/>
            <a:ahLst/>
            <a:cxnLst/>
            <a:rect l="l" t="t" r="r" b="b"/>
            <a:pathLst>
              <a:path w="1710716" h="1063177">
                <a:moveTo>
                  <a:pt x="0" y="1063176"/>
                </a:moveTo>
                <a:lnTo>
                  <a:pt x="0" y="228600"/>
                </a:lnTo>
                <a:cubicBezTo>
                  <a:pt x="0" y="167971"/>
                  <a:pt x="24084" y="109826"/>
                  <a:pt x="66955" y="66955"/>
                </a:cubicBezTo>
                <a:cubicBezTo>
                  <a:pt x="109826" y="24084"/>
                  <a:pt x="167971" y="0"/>
                  <a:pt x="228600" y="0"/>
                </a:cubicBezTo>
                <a:lnTo>
                  <a:pt x="1482116" y="0"/>
                </a:lnTo>
                <a:cubicBezTo>
                  <a:pt x="1608368" y="0"/>
                  <a:pt x="1710716" y="102347"/>
                  <a:pt x="1710716" y="228600"/>
                </a:cubicBezTo>
                <a:lnTo>
                  <a:pt x="1710716" y="985274"/>
                </a:lnTo>
              </a:path>
            </a:pathLst>
          </a:custGeom>
          <a:ln w="38100" cap="flat">
            <a:solidFill>
              <a:srgbClr val="000000"/>
            </a:solidFill>
            <a:prstDash val="solid"/>
            <a:headEnd type="arrow" w="med" len="sm"/>
            <a:tailEnd type="arrow" w="med" len="sm"/>
          </a:ln>
        </p:spPr>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75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7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75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75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75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75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75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75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75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750"/>
                                        <p:tgtEl>
                                          <p:spTgt spid="24"/>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75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75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75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75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750"/>
                                        <p:tgtEl>
                                          <p:spTgt spid="35"/>
                                        </p:tgtEl>
                                      </p:cBhvr>
                                    </p:animEffect>
                                  </p:childTnLst>
                                </p:cTn>
                              </p:par>
                              <p:par>
                                <p:cTn id="53" presetID="10"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75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750"/>
                                        <p:tgtEl>
                                          <p:spTgt spid="41"/>
                                        </p:tgtEl>
                                      </p:cBhvr>
                                    </p:animEffect>
                                  </p:childTnLst>
                                </p:cTn>
                              </p:par>
                              <p:par>
                                <p:cTn id="59" presetID="10"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750"/>
                                        <p:tgtEl>
                                          <p:spTgt spid="44"/>
                                        </p:tgtEl>
                                      </p:cBhvr>
                                    </p:animEffect>
                                  </p:childTnLst>
                                </p:cTn>
                              </p:par>
                              <p:par>
                                <p:cTn id="62" presetID="10" presetClass="entr" presetSubtype="0" fill="hold"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750"/>
                                        <p:tgtEl>
                                          <p:spTgt spid="45"/>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75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fade">
                                      <p:cBhvr>
                                        <p:cTn id="70" dur="750"/>
                                        <p:tgtEl>
                                          <p:spTgt spid="51"/>
                                        </p:tgtEl>
                                      </p:cBhvr>
                                    </p:animEffect>
                                  </p:childTnLst>
                                </p:cTn>
                              </p:par>
                              <p:par>
                                <p:cTn id="71" presetID="10" presetClass="entr" presetSubtype="0" fill="hold" nodeType="withEffect">
                                  <p:stCondLst>
                                    <p:cond delay="0"/>
                                  </p:stCondLst>
                                  <p:childTnLst>
                                    <p:set>
                                      <p:cBhvr>
                                        <p:cTn id="72" dur="1" fill="hold">
                                          <p:stCondLst>
                                            <p:cond delay="0"/>
                                          </p:stCondLst>
                                        </p:cTn>
                                        <p:tgtEl>
                                          <p:spTgt spid="60"/>
                                        </p:tgtEl>
                                        <p:attrNameLst>
                                          <p:attrName>style.visibility</p:attrName>
                                        </p:attrNameLst>
                                      </p:cBhvr>
                                      <p:to>
                                        <p:strVal val="visible"/>
                                      </p:to>
                                    </p:set>
                                    <p:animEffect transition="in" filter="fade">
                                      <p:cBhvr>
                                        <p:cTn id="73" dur="750"/>
                                        <p:tgtEl>
                                          <p:spTgt spid="6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75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750"/>
                                        <p:tgtEl>
                                          <p:spTgt spid="6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75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750"/>
                                        <p:tgtEl>
                                          <p:spTgt spid="6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75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750"/>
                                        <p:tgtEl>
                                          <p:spTgt spid="7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75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750"/>
                                        <p:tgtEl>
                                          <p:spTgt spid="7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75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75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750"/>
                                        <p:tgtEl>
                                          <p:spTgt spid="7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77"/>
                                        </p:tgtEl>
                                        <p:attrNameLst>
                                          <p:attrName>style.visibility</p:attrName>
                                        </p:attrNameLst>
                                      </p:cBhvr>
                                      <p:to>
                                        <p:strVal val="visible"/>
                                      </p:to>
                                    </p:set>
                                    <p:animEffect transition="in" filter="fade">
                                      <p:cBhvr>
                                        <p:cTn id="109" dur="750"/>
                                        <p:tgtEl>
                                          <p:spTgt spid="7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8"/>
                                        </p:tgtEl>
                                        <p:attrNameLst>
                                          <p:attrName>style.visibility</p:attrName>
                                        </p:attrNameLst>
                                      </p:cBhvr>
                                      <p:to>
                                        <p:strVal val="visible"/>
                                      </p:to>
                                    </p:set>
                                    <p:animEffect transition="in" filter="fade">
                                      <p:cBhvr>
                                        <p:cTn id="112" dur="750"/>
                                        <p:tgtEl>
                                          <p:spTgt spid="7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79"/>
                                        </p:tgtEl>
                                        <p:attrNameLst>
                                          <p:attrName>style.visibility</p:attrName>
                                        </p:attrNameLst>
                                      </p:cBhvr>
                                      <p:to>
                                        <p:strVal val="visible"/>
                                      </p:to>
                                    </p:set>
                                    <p:animEffect transition="in" filter="fade">
                                      <p:cBhvr>
                                        <p:cTn id="115" dur="750"/>
                                        <p:tgtEl>
                                          <p:spTgt spid="7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80"/>
                                        </p:tgtEl>
                                        <p:attrNameLst>
                                          <p:attrName>style.visibility</p:attrName>
                                        </p:attrNameLst>
                                      </p:cBhvr>
                                      <p:to>
                                        <p:strVal val="visible"/>
                                      </p:to>
                                    </p:set>
                                    <p:animEffect transition="in" filter="fade">
                                      <p:cBhvr>
                                        <p:cTn id="118" dur="750"/>
                                        <p:tgtEl>
                                          <p:spTgt spid="8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84"/>
                                        </p:tgtEl>
                                        <p:attrNameLst>
                                          <p:attrName>style.visibility</p:attrName>
                                        </p:attrNameLst>
                                      </p:cBhvr>
                                      <p:to>
                                        <p:strVal val="visible"/>
                                      </p:to>
                                    </p:set>
                                    <p:animEffect transition="in" filter="fade">
                                      <p:cBhvr>
                                        <p:cTn id="121" dur="750"/>
                                        <p:tgtEl>
                                          <p:spTgt spid="8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85"/>
                                        </p:tgtEl>
                                        <p:attrNameLst>
                                          <p:attrName>style.visibility</p:attrName>
                                        </p:attrNameLst>
                                      </p:cBhvr>
                                      <p:to>
                                        <p:strVal val="visible"/>
                                      </p:to>
                                    </p:set>
                                    <p:animEffect transition="in" filter="fade">
                                      <p:cBhvr>
                                        <p:cTn id="124" dur="750"/>
                                        <p:tgtEl>
                                          <p:spTgt spid="8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86"/>
                                        </p:tgtEl>
                                        <p:attrNameLst>
                                          <p:attrName>style.visibility</p:attrName>
                                        </p:attrNameLst>
                                      </p:cBhvr>
                                      <p:to>
                                        <p:strVal val="visible"/>
                                      </p:to>
                                    </p:set>
                                    <p:animEffect transition="in" filter="fade">
                                      <p:cBhvr>
                                        <p:cTn id="127" dur="750"/>
                                        <p:tgtEl>
                                          <p:spTgt spid="8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87"/>
                                        </p:tgtEl>
                                        <p:attrNameLst>
                                          <p:attrName>style.visibility</p:attrName>
                                        </p:attrNameLst>
                                      </p:cBhvr>
                                      <p:to>
                                        <p:strVal val="visible"/>
                                      </p:to>
                                    </p:set>
                                    <p:animEffect transition="in" filter="fade">
                                      <p:cBhvr>
                                        <p:cTn id="130" dur="750"/>
                                        <p:tgtEl>
                                          <p:spTgt spid="8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88"/>
                                        </p:tgtEl>
                                        <p:attrNameLst>
                                          <p:attrName>style.visibility</p:attrName>
                                        </p:attrNameLst>
                                      </p:cBhvr>
                                      <p:to>
                                        <p:strVal val="visible"/>
                                      </p:to>
                                    </p:set>
                                    <p:animEffect transition="in" filter="fade">
                                      <p:cBhvr>
                                        <p:cTn id="133" dur="750"/>
                                        <p:tgtEl>
                                          <p:spTgt spid="8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89"/>
                                        </p:tgtEl>
                                        <p:attrNameLst>
                                          <p:attrName>style.visibility</p:attrName>
                                        </p:attrNameLst>
                                      </p:cBhvr>
                                      <p:to>
                                        <p:strVal val="visible"/>
                                      </p:to>
                                    </p:set>
                                    <p:animEffect transition="in" filter="fade">
                                      <p:cBhvr>
                                        <p:cTn id="136" dur="750"/>
                                        <p:tgtEl>
                                          <p:spTgt spid="8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90"/>
                                        </p:tgtEl>
                                        <p:attrNameLst>
                                          <p:attrName>style.visibility</p:attrName>
                                        </p:attrNameLst>
                                      </p:cBhvr>
                                      <p:to>
                                        <p:strVal val="visible"/>
                                      </p:to>
                                    </p:set>
                                    <p:animEffect transition="in" filter="fade">
                                      <p:cBhvr>
                                        <p:cTn id="139" dur="750"/>
                                        <p:tgtEl>
                                          <p:spTgt spid="9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91"/>
                                        </p:tgtEl>
                                        <p:attrNameLst>
                                          <p:attrName>style.visibility</p:attrName>
                                        </p:attrNameLst>
                                      </p:cBhvr>
                                      <p:to>
                                        <p:strVal val="visible"/>
                                      </p:to>
                                    </p:set>
                                    <p:animEffect transition="in" filter="fade">
                                      <p:cBhvr>
                                        <p:cTn id="142" dur="750"/>
                                        <p:tgtEl>
                                          <p:spTgt spid="9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92"/>
                                        </p:tgtEl>
                                        <p:attrNameLst>
                                          <p:attrName>style.visibility</p:attrName>
                                        </p:attrNameLst>
                                      </p:cBhvr>
                                      <p:to>
                                        <p:strVal val="visible"/>
                                      </p:to>
                                    </p:set>
                                    <p:animEffect transition="in" filter="fade">
                                      <p:cBhvr>
                                        <p:cTn id="145" dur="750"/>
                                        <p:tgtEl>
                                          <p:spTgt spid="9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93"/>
                                        </p:tgtEl>
                                        <p:attrNameLst>
                                          <p:attrName>style.visibility</p:attrName>
                                        </p:attrNameLst>
                                      </p:cBhvr>
                                      <p:to>
                                        <p:strVal val="visible"/>
                                      </p:to>
                                    </p:set>
                                    <p:animEffect transition="in" filter="fade">
                                      <p:cBhvr>
                                        <p:cTn id="148" dur="750"/>
                                        <p:tgtEl>
                                          <p:spTgt spid="9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94"/>
                                        </p:tgtEl>
                                        <p:attrNameLst>
                                          <p:attrName>style.visibility</p:attrName>
                                        </p:attrNameLst>
                                      </p:cBhvr>
                                      <p:to>
                                        <p:strVal val="visible"/>
                                      </p:to>
                                    </p:set>
                                    <p:animEffect transition="in" filter="fade">
                                      <p:cBhvr>
                                        <p:cTn id="151" dur="750"/>
                                        <p:tgtEl>
                                          <p:spTgt spid="94"/>
                                        </p:tgtEl>
                                      </p:cBhvr>
                                    </p:animEffect>
                                  </p:childTnLst>
                                </p:cTn>
                              </p:par>
                              <p:par>
                                <p:cTn id="152" presetID="10" presetClass="entr" presetSubtype="0" fill="hold" nodeType="withEffect">
                                  <p:stCondLst>
                                    <p:cond delay="0"/>
                                  </p:stCondLst>
                                  <p:childTnLst>
                                    <p:set>
                                      <p:cBhvr>
                                        <p:cTn id="153" dur="1" fill="hold">
                                          <p:stCondLst>
                                            <p:cond delay="0"/>
                                          </p:stCondLst>
                                        </p:cTn>
                                        <p:tgtEl>
                                          <p:spTgt spid="95"/>
                                        </p:tgtEl>
                                        <p:attrNameLst>
                                          <p:attrName>style.visibility</p:attrName>
                                        </p:attrNameLst>
                                      </p:cBhvr>
                                      <p:to>
                                        <p:strVal val="visible"/>
                                      </p:to>
                                    </p:set>
                                    <p:animEffect transition="in" filter="fade">
                                      <p:cBhvr>
                                        <p:cTn id="154" dur="750"/>
                                        <p:tgtEl>
                                          <p:spTgt spid="95"/>
                                        </p:tgtEl>
                                      </p:cBhvr>
                                    </p:animEffect>
                                  </p:childTnLst>
                                </p:cTn>
                              </p:par>
                              <p:par>
                                <p:cTn id="155" presetID="10" presetClass="entr" presetSubtype="0" fill="hold" grpId="0" nodeType="withEffect" nodePh="1">
                                  <p:stCondLst>
                                    <p:cond delay="0"/>
                                  </p:stCondLst>
                                  <p:endCondLst>
                                    <p:cond evt="begin" delay="0">
                                      <p:tn val="155"/>
                                    </p:cond>
                                  </p:endCondLst>
                                  <p:childTnLst>
                                    <p:set>
                                      <p:cBhvr>
                                        <p:cTn id="156" dur="1" fill="hold">
                                          <p:stCondLst>
                                            <p:cond delay="0"/>
                                          </p:stCondLst>
                                        </p:cTn>
                                        <p:tgtEl>
                                          <p:spTgt spid="100"/>
                                        </p:tgtEl>
                                        <p:attrNameLst>
                                          <p:attrName>style.visibility</p:attrName>
                                        </p:attrNameLst>
                                      </p:cBhvr>
                                      <p:to>
                                        <p:strVal val="visible"/>
                                      </p:to>
                                    </p:set>
                                    <p:animEffect transition="in" filter="fade">
                                      <p:cBhvr>
                                        <p:cTn id="157" dur="750"/>
                                        <p:tgtEl>
                                          <p:spTgt spid="100"/>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01"/>
                                        </p:tgtEl>
                                        <p:attrNameLst>
                                          <p:attrName>style.visibility</p:attrName>
                                        </p:attrNameLst>
                                      </p:cBhvr>
                                      <p:to>
                                        <p:strVal val="visible"/>
                                      </p:to>
                                    </p:set>
                                    <p:animEffect transition="in" filter="fade">
                                      <p:cBhvr>
                                        <p:cTn id="160" dur="750"/>
                                        <p:tgtEl>
                                          <p:spTgt spid="101"/>
                                        </p:tgtEl>
                                      </p:cBhvr>
                                    </p:animEffect>
                                  </p:childTnLst>
                                </p:cTn>
                              </p:par>
                              <p:par>
                                <p:cTn id="161" presetID="10" presetClass="entr" presetSubtype="0" fill="hold" nodeType="withEffect">
                                  <p:stCondLst>
                                    <p:cond delay="0"/>
                                  </p:stCondLst>
                                  <p:childTnLst>
                                    <p:set>
                                      <p:cBhvr>
                                        <p:cTn id="162" dur="1" fill="hold">
                                          <p:stCondLst>
                                            <p:cond delay="0"/>
                                          </p:stCondLst>
                                        </p:cTn>
                                        <p:tgtEl>
                                          <p:spTgt spid="102"/>
                                        </p:tgtEl>
                                        <p:attrNameLst>
                                          <p:attrName>style.visibility</p:attrName>
                                        </p:attrNameLst>
                                      </p:cBhvr>
                                      <p:to>
                                        <p:strVal val="visible"/>
                                      </p:to>
                                    </p:set>
                                    <p:animEffect transition="in" filter="fade">
                                      <p:cBhvr>
                                        <p:cTn id="163" dur="750"/>
                                        <p:tgtEl>
                                          <p:spTgt spid="102"/>
                                        </p:tgtEl>
                                      </p:cBhvr>
                                    </p:animEffect>
                                  </p:childTnLst>
                                </p:cTn>
                              </p:par>
                              <p:par>
                                <p:cTn id="164" presetID="10" presetClass="entr" presetSubtype="0" fill="hold" nodeType="withEffect">
                                  <p:stCondLst>
                                    <p:cond delay="0"/>
                                  </p:stCondLst>
                                  <p:childTnLst>
                                    <p:set>
                                      <p:cBhvr>
                                        <p:cTn id="165" dur="1" fill="hold">
                                          <p:stCondLst>
                                            <p:cond delay="0"/>
                                          </p:stCondLst>
                                        </p:cTn>
                                        <p:tgtEl>
                                          <p:spTgt spid="103"/>
                                        </p:tgtEl>
                                        <p:attrNameLst>
                                          <p:attrName>style.visibility</p:attrName>
                                        </p:attrNameLst>
                                      </p:cBhvr>
                                      <p:to>
                                        <p:strVal val="visible"/>
                                      </p:to>
                                    </p:set>
                                    <p:animEffect transition="in" filter="fade">
                                      <p:cBhvr>
                                        <p:cTn id="166" dur="75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4" grpId="0"/>
      <p:bldP spid="85" grpId="0"/>
      <p:bldP spid="86" grpId="0"/>
      <p:bldP spid="87" grpId="0"/>
      <p:bldP spid="88" grpId="0"/>
      <p:bldP spid="89" grpId="0"/>
      <p:bldP spid="90" grpId="0"/>
      <p:bldP spid="91" grpId="0"/>
      <p:bldP spid="92" grpId="0"/>
      <p:bldP spid="93" grpId="0"/>
      <p:bldP spid="94" grpId="0"/>
      <p:bldP spid="100" grpId="0"/>
      <p:bldP spid="10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6470" y="1434394"/>
            <a:ext cx="9546371" cy="5908086"/>
          </a:xfrm>
          <a:custGeom>
            <a:avLst/>
            <a:gdLst/>
            <a:ahLst/>
            <a:cxnLst/>
            <a:rect l="l" t="t" r="r" b="b"/>
            <a:pathLst>
              <a:path w="9546371" h="5908086">
                <a:moveTo>
                  <a:pt x="0" y="0"/>
                </a:moveTo>
                <a:lnTo>
                  <a:pt x="9546371" y="0"/>
                </a:lnTo>
                <a:lnTo>
                  <a:pt x="9546371" y="5908086"/>
                </a:lnTo>
                <a:lnTo>
                  <a:pt x="0" y="5908086"/>
                </a:lnTo>
                <a:lnTo>
                  <a:pt x="0" y="0"/>
                </a:lnTo>
                <a:close/>
              </a:path>
            </a:pathLst>
          </a:custGeom>
          <a:blipFill>
            <a:blip r:embed="rId2"/>
            <a:stretch>
              <a:fillRect r="-29102"/>
            </a:stretch>
          </a:blipFill>
        </p:spPr>
      </p:sp>
      <p:grpSp>
        <p:nvGrpSpPr>
          <p:cNvPr id="3" name="Group 3"/>
          <p:cNvGrpSpPr/>
          <p:nvPr/>
        </p:nvGrpSpPr>
        <p:grpSpPr>
          <a:xfrm>
            <a:off x="466470" y="2170512"/>
            <a:ext cx="1725632" cy="5072893"/>
            <a:chOff x="0" y="0"/>
            <a:chExt cx="454488" cy="1336071"/>
          </a:xfrm>
        </p:grpSpPr>
        <p:sp>
          <p:nvSpPr>
            <p:cNvPr id="4" name="Freeform 4"/>
            <p:cNvSpPr/>
            <p:nvPr/>
          </p:nvSpPr>
          <p:spPr>
            <a:xfrm>
              <a:off x="0" y="0"/>
              <a:ext cx="454488" cy="1336070"/>
            </a:xfrm>
            <a:custGeom>
              <a:avLst/>
              <a:gdLst/>
              <a:ahLst/>
              <a:cxnLst/>
              <a:rect l="l" t="t" r="r" b="b"/>
              <a:pathLst>
                <a:path w="454488" h="1336070">
                  <a:moveTo>
                    <a:pt x="0" y="0"/>
                  </a:moveTo>
                  <a:lnTo>
                    <a:pt x="454488" y="0"/>
                  </a:lnTo>
                  <a:lnTo>
                    <a:pt x="454488" y="1336070"/>
                  </a:lnTo>
                  <a:lnTo>
                    <a:pt x="0" y="1336070"/>
                  </a:lnTo>
                  <a:close/>
                </a:path>
              </a:pathLst>
            </a:custGeom>
            <a:ln w="38100" cap="sq">
              <a:solidFill>
                <a:srgbClr val="1D2159"/>
              </a:solidFill>
              <a:prstDash val="dash"/>
              <a:miter/>
            </a:ln>
          </p:spPr>
        </p:sp>
        <p:sp>
          <p:nvSpPr>
            <p:cNvPr id="5" name="TextBox 5"/>
            <p:cNvSpPr txBox="1"/>
            <p:nvPr/>
          </p:nvSpPr>
          <p:spPr>
            <a:xfrm>
              <a:off x="0" y="-57150"/>
              <a:ext cx="454488" cy="1393221"/>
            </a:xfrm>
            <a:prstGeom prst="rect">
              <a:avLst/>
            </a:prstGeom>
          </p:spPr>
          <p:txBody>
            <a:bodyPr lIns="50800" tIns="50800" rIns="50800" bIns="50800" rtlCol="0" anchor="ctr"/>
            <a:lstStyle/>
            <a:p>
              <a:pPr algn="ctr">
                <a:lnSpc>
                  <a:spcPts val="2380"/>
                </a:lnSpc>
              </a:pPr>
              <a:endParaRPr/>
            </a:p>
          </p:txBody>
        </p:sp>
      </p:grpSp>
      <p:grpSp>
        <p:nvGrpSpPr>
          <p:cNvPr id="6" name="Group 6"/>
          <p:cNvGrpSpPr/>
          <p:nvPr/>
        </p:nvGrpSpPr>
        <p:grpSpPr>
          <a:xfrm>
            <a:off x="2276711" y="2200936"/>
            <a:ext cx="5459189" cy="4318281"/>
            <a:chOff x="0" y="0"/>
            <a:chExt cx="1437811" cy="1137325"/>
          </a:xfrm>
        </p:grpSpPr>
        <p:sp>
          <p:nvSpPr>
            <p:cNvPr id="7" name="Freeform 7"/>
            <p:cNvSpPr/>
            <p:nvPr/>
          </p:nvSpPr>
          <p:spPr>
            <a:xfrm>
              <a:off x="0" y="0"/>
              <a:ext cx="1437811" cy="1137325"/>
            </a:xfrm>
            <a:custGeom>
              <a:avLst/>
              <a:gdLst/>
              <a:ahLst/>
              <a:cxnLst/>
              <a:rect l="l" t="t" r="r" b="b"/>
              <a:pathLst>
                <a:path w="1437811" h="1137325">
                  <a:moveTo>
                    <a:pt x="0" y="0"/>
                  </a:moveTo>
                  <a:lnTo>
                    <a:pt x="1437811" y="0"/>
                  </a:lnTo>
                  <a:lnTo>
                    <a:pt x="1437811" y="1137325"/>
                  </a:lnTo>
                  <a:lnTo>
                    <a:pt x="0" y="1137325"/>
                  </a:lnTo>
                  <a:close/>
                </a:path>
              </a:pathLst>
            </a:custGeom>
            <a:ln w="38100" cap="sq">
              <a:solidFill>
                <a:srgbClr val="CB6CE6"/>
              </a:solidFill>
              <a:prstDash val="dash"/>
              <a:miter/>
            </a:ln>
          </p:spPr>
        </p:sp>
        <p:sp>
          <p:nvSpPr>
            <p:cNvPr id="8" name="TextBox 8"/>
            <p:cNvSpPr txBox="1"/>
            <p:nvPr/>
          </p:nvSpPr>
          <p:spPr>
            <a:xfrm>
              <a:off x="0" y="-57150"/>
              <a:ext cx="1437811" cy="1194475"/>
            </a:xfrm>
            <a:prstGeom prst="rect">
              <a:avLst/>
            </a:prstGeom>
          </p:spPr>
          <p:txBody>
            <a:bodyPr lIns="50800" tIns="50800" rIns="50800" bIns="50800" rtlCol="0" anchor="ctr"/>
            <a:lstStyle/>
            <a:p>
              <a:pPr algn="ctr">
                <a:lnSpc>
                  <a:spcPts val="2380"/>
                </a:lnSpc>
              </a:pPr>
              <a:endParaRPr/>
            </a:p>
          </p:txBody>
        </p:sp>
      </p:grpSp>
      <p:grpSp>
        <p:nvGrpSpPr>
          <p:cNvPr id="9" name="Group 9"/>
          <p:cNvGrpSpPr/>
          <p:nvPr/>
        </p:nvGrpSpPr>
        <p:grpSpPr>
          <a:xfrm>
            <a:off x="2314531" y="6673296"/>
            <a:ext cx="5527855" cy="469617"/>
            <a:chOff x="0" y="0"/>
            <a:chExt cx="1455896" cy="123685"/>
          </a:xfrm>
        </p:grpSpPr>
        <p:sp>
          <p:nvSpPr>
            <p:cNvPr id="10" name="Freeform 10"/>
            <p:cNvSpPr/>
            <p:nvPr/>
          </p:nvSpPr>
          <p:spPr>
            <a:xfrm>
              <a:off x="0" y="0"/>
              <a:ext cx="1455896" cy="123685"/>
            </a:xfrm>
            <a:custGeom>
              <a:avLst/>
              <a:gdLst/>
              <a:ahLst/>
              <a:cxnLst/>
              <a:rect l="l" t="t" r="r" b="b"/>
              <a:pathLst>
                <a:path w="1455896" h="123685">
                  <a:moveTo>
                    <a:pt x="0" y="0"/>
                  </a:moveTo>
                  <a:lnTo>
                    <a:pt x="1455896" y="0"/>
                  </a:lnTo>
                  <a:lnTo>
                    <a:pt x="1455896" y="123685"/>
                  </a:lnTo>
                  <a:lnTo>
                    <a:pt x="0" y="123685"/>
                  </a:lnTo>
                  <a:close/>
                </a:path>
              </a:pathLst>
            </a:custGeom>
            <a:ln w="38100" cap="sq">
              <a:solidFill>
                <a:srgbClr val="D02506"/>
              </a:solidFill>
              <a:prstDash val="dash"/>
              <a:miter/>
            </a:ln>
          </p:spPr>
        </p:sp>
        <p:sp>
          <p:nvSpPr>
            <p:cNvPr id="11" name="TextBox 11"/>
            <p:cNvSpPr txBox="1"/>
            <p:nvPr/>
          </p:nvSpPr>
          <p:spPr>
            <a:xfrm>
              <a:off x="0" y="-57150"/>
              <a:ext cx="1455896" cy="180835"/>
            </a:xfrm>
            <a:prstGeom prst="rect">
              <a:avLst/>
            </a:prstGeom>
          </p:spPr>
          <p:txBody>
            <a:bodyPr lIns="50800" tIns="50800" rIns="50800" bIns="50800" rtlCol="0" anchor="ctr"/>
            <a:lstStyle/>
            <a:p>
              <a:pPr algn="ctr">
                <a:lnSpc>
                  <a:spcPts val="2380"/>
                </a:lnSpc>
              </a:pPr>
              <a:endParaRPr/>
            </a:p>
          </p:txBody>
        </p:sp>
      </p:grpSp>
      <p:grpSp>
        <p:nvGrpSpPr>
          <p:cNvPr id="12" name="Group 12"/>
          <p:cNvGrpSpPr/>
          <p:nvPr/>
        </p:nvGrpSpPr>
        <p:grpSpPr>
          <a:xfrm>
            <a:off x="7842385" y="1632094"/>
            <a:ext cx="2170456" cy="5611310"/>
            <a:chOff x="0" y="0"/>
            <a:chExt cx="571643" cy="1477876"/>
          </a:xfrm>
        </p:grpSpPr>
        <p:sp>
          <p:nvSpPr>
            <p:cNvPr id="13" name="Freeform 13"/>
            <p:cNvSpPr/>
            <p:nvPr/>
          </p:nvSpPr>
          <p:spPr>
            <a:xfrm>
              <a:off x="0" y="0"/>
              <a:ext cx="571643" cy="1477876"/>
            </a:xfrm>
            <a:custGeom>
              <a:avLst/>
              <a:gdLst/>
              <a:ahLst/>
              <a:cxnLst/>
              <a:rect l="l" t="t" r="r" b="b"/>
              <a:pathLst>
                <a:path w="571643" h="1477876">
                  <a:moveTo>
                    <a:pt x="0" y="0"/>
                  </a:moveTo>
                  <a:lnTo>
                    <a:pt x="571643" y="0"/>
                  </a:lnTo>
                  <a:lnTo>
                    <a:pt x="571643" y="1477876"/>
                  </a:lnTo>
                  <a:lnTo>
                    <a:pt x="0" y="1477876"/>
                  </a:lnTo>
                  <a:close/>
                </a:path>
              </a:pathLst>
            </a:custGeom>
            <a:ln w="38100" cap="sq">
              <a:solidFill>
                <a:srgbClr val="00F227"/>
              </a:solidFill>
              <a:prstDash val="dash"/>
              <a:miter/>
            </a:ln>
          </p:spPr>
        </p:sp>
        <p:sp>
          <p:nvSpPr>
            <p:cNvPr id="14" name="TextBox 14"/>
            <p:cNvSpPr txBox="1"/>
            <p:nvPr/>
          </p:nvSpPr>
          <p:spPr>
            <a:xfrm>
              <a:off x="0" y="-57150"/>
              <a:ext cx="571643" cy="1535026"/>
            </a:xfrm>
            <a:prstGeom prst="rect">
              <a:avLst/>
            </a:prstGeom>
          </p:spPr>
          <p:txBody>
            <a:bodyPr lIns="50800" tIns="50800" rIns="50800" bIns="50800" rtlCol="0" anchor="ctr"/>
            <a:lstStyle/>
            <a:p>
              <a:pPr algn="ctr">
                <a:lnSpc>
                  <a:spcPts val="2380"/>
                </a:lnSpc>
              </a:pPr>
              <a:endParaRPr/>
            </a:p>
          </p:txBody>
        </p:sp>
      </p:grpSp>
      <p:sp>
        <p:nvSpPr>
          <p:cNvPr id="15" name="TextBox 15"/>
          <p:cNvSpPr txBox="1"/>
          <p:nvPr/>
        </p:nvSpPr>
        <p:spPr>
          <a:xfrm>
            <a:off x="2874987" y="7829717"/>
            <a:ext cx="1121093" cy="288412"/>
          </a:xfrm>
          <a:prstGeom prst="rect">
            <a:avLst/>
          </a:prstGeom>
        </p:spPr>
        <p:txBody>
          <a:bodyPr lIns="0" tIns="0" rIns="0" bIns="0" rtlCol="0" anchor="t">
            <a:spAutoFit/>
          </a:bodyPr>
          <a:lstStyle/>
          <a:p>
            <a:pPr marL="0" lvl="0" indent="0" algn="ctr">
              <a:lnSpc>
                <a:spcPts val="2380"/>
              </a:lnSpc>
              <a:spcBef>
                <a:spcPct val="0"/>
              </a:spcBef>
            </a:pPr>
            <a:r>
              <a:rPr lang="en-US" sz="1700" b="1" u="none" strike="noStrike">
                <a:solidFill>
                  <a:srgbClr val="CB6CE6"/>
                </a:solidFill>
                <a:ea typeface="Poppins Bold"/>
                <a:cs typeface="Poppins Bold"/>
                <a:sym typeface="Poppins Bold"/>
              </a:rPr>
              <a:t>CHAT BOX</a:t>
            </a:r>
          </a:p>
        </p:txBody>
      </p:sp>
      <p:sp>
        <p:nvSpPr>
          <p:cNvPr id="16" name="TextBox 16"/>
          <p:cNvSpPr txBox="1"/>
          <p:nvPr/>
        </p:nvSpPr>
        <p:spPr>
          <a:xfrm>
            <a:off x="5118001" y="7955765"/>
            <a:ext cx="1634080" cy="288412"/>
          </a:xfrm>
          <a:prstGeom prst="rect">
            <a:avLst/>
          </a:prstGeom>
        </p:spPr>
        <p:txBody>
          <a:bodyPr lIns="0" tIns="0" rIns="0" bIns="0" rtlCol="0" anchor="t">
            <a:spAutoFit/>
          </a:bodyPr>
          <a:lstStyle/>
          <a:p>
            <a:pPr algn="ctr">
              <a:lnSpc>
                <a:spcPts val="2380"/>
              </a:lnSpc>
              <a:spcBef>
                <a:spcPct val="0"/>
              </a:spcBef>
            </a:pPr>
            <a:r>
              <a:rPr lang="en-US" sz="1700" b="1">
                <a:solidFill>
                  <a:srgbClr val="D02506"/>
                </a:solidFill>
                <a:ea typeface="Poppins Bold"/>
                <a:cs typeface="Poppins Bold"/>
                <a:sym typeface="Poppins Bold"/>
              </a:rPr>
              <a:t>UPLOAD FILE</a:t>
            </a:r>
          </a:p>
        </p:txBody>
      </p:sp>
      <p:sp>
        <p:nvSpPr>
          <p:cNvPr id="17" name="TextBox 17"/>
          <p:cNvSpPr txBox="1"/>
          <p:nvPr/>
        </p:nvSpPr>
        <p:spPr>
          <a:xfrm>
            <a:off x="7248926" y="7903213"/>
            <a:ext cx="1678688" cy="288412"/>
          </a:xfrm>
          <a:prstGeom prst="rect">
            <a:avLst/>
          </a:prstGeom>
        </p:spPr>
        <p:txBody>
          <a:bodyPr lIns="0" tIns="0" rIns="0" bIns="0" rtlCol="0" anchor="t">
            <a:spAutoFit/>
          </a:bodyPr>
          <a:lstStyle/>
          <a:p>
            <a:pPr algn="ctr">
              <a:lnSpc>
                <a:spcPts val="2380"/>
              </a:lnSpc>
              <a:spcBef>
                <a:spcPct val="0"/>
              </a:spcBef>
            </a:pPr>
            <a:r>
              <a:rPr lang="en-US" sz="1700" b="1">
                <a:solidFill>
                  <a:srgbClr val="00F227"/>
                </a:solidFill>
                <a:ea typeface="Poppins Bold"/>
                <a:cs typeface="Poppins Bold"/>
                <a:sym typeface="Poppins Bold"/>
              </a:rPr>
              <a:t>PEER DETAIL</a:t>
            </a:r>
          </a:p>
        </p:txBody>
      </p:sp>
      <p:sp>
        <p:nvSpPr>
          <p:cNvPr id="18" name="AutoShape 18"/>
          <p:cNvSpPr/>
          <p:nvPr/>
        </p:nvSpPr>
        <p:spPr>
          <a:xfrm flipV="1">
            <a:off x="807398" y="7039213"/>
            <a:ext cx="0" cy="944645"/>
          </a:xfrm>
          <a:prstGeom prst="line">
            <a:avLst/>
          </a:prstGeom>
          <a:ln w="38100" cap="flat">
            <a:solidFill>
              <a:srgbClr val="000000"/>
            </a:solidFill>
            <a:prstDash val="solid"/>
            <a:headEnd type="none" w="sm" len="sm"/>
            <a:tailEnd type="triangle" w="lg" len="med"/>
          </a:ln>
        </p:spPr>
      </p:sp>
      <p:sp>
        <p:nvSpPr>
          <p:cNvPr id="19" name="AutoShape 19"/>
          <p:cNvSpPr/>
          <p:nvPr/>
        </p:nvSpPr>
        <p:spPr>
          <a:xfrm flipH="1" flipV="1">
            <a:off x="2933309" y="6280994"/>
            <a:ext cx="465673" cy="1605874"/>
          </a:xfrm>
          <a:prstGeom prst="line">
            <a:avLst/>
          </a:prstGeom>
          <a:ln w="38100" cap="flat">
            <a:solidFill>
              <a:srgbClr val="CB6CE6"/>
            </a:solidFill>
            <a:prstDash val="solid"/>
            <a:headEnd type="none" w="sm" len="sm"/>
            <a:tailEnd type="triangle" w="lg" len="med"/>
          </a:ln>
        </p:spPr>
      </p:sp>
      <p:sp>
        <p:nvSpPr>
          <p:cNvPr id="20" name="AutoShape 20"/>
          <p:cNvSpPr/>
          <p:nvPr/>
        </p:nvSpPr>
        <p:spPr>
          <a:xfrm flipH="1" flipV="1">
            <a:off x="5358452" y="6908105"/>
            <a:ext cx="294087" cy="1104810"/>
          </a:xfrm>
          <a:prstGeom prst="line">
            <a:avLst/>
          </a:prstGeom>
          <a:ln w="38100" cap="flat">
            <a:solidFill>
              <a:srgbClr val="D02506"/>
            </a:solidFill>
            <a:prstDash val="solid"/>
            <a:headEnd type="none" w="sm" len="sm"/>
            <a:tailEnd type="triangle" w="lg" len="med"/>
          </a:ln>
        </p:spPr>
      </p:sp>
      <p:sp>
        <p:nvSpPr>
          <p:cNvPr id="21" name="AutoShape 21"/>
          <p:cNvSpPr/>
          <p:nvPr/>
        </p:nvSpPr>
        <p:spPr>
          <a:xfrm flipV="1">
            <a:off x="8178057" y="6908105"/>
            <a:ext cx="749556" cy="1052258"/>
          </a:xfrm>
          <a:prstGeom prst="line">
            <a:avLst/>
          </a:prstGeom>
          <a:ln w="38100" cap="flat">
            <a:solidFill>
              <a:srgbClr val="00F227"/>
            </a:solidFill>
            <a:prstDash val="solid"/>
            <a:headEnd type="none" w="sm" len="sm"/>
            <a:tailEnd type="triangle" w="lg" len="med"/>
          </a:ln>
        </p:spPr>
      </p:sp>
      <p:grpSp>
        <p:nvGrpSpPr>
          <p:cNvPr id="22" name="Group 22"/>
          <p:cNvGrpSpPr/>
          <p:nvPr/>
        </p:nvGrpSpPr>
        <p:grpSpPr>
          <a:xfrm>
            <a:off x="10580097" y="2046678"/>
            <a:ext cx="7707903" cy="4739732"/>
            <a:chOff x="0" y="0"/>
            <a:chExt cx="5078356" cy="1501606"/>
          </a:xfrm>
        </p:grpSpPr>
        <p:sp>
          <p:nvSpPr>
            <p:cNvPr id="23" name="Freeform 23"/>
            <p:cNvSpPr/>
            <p:nvPr/>
          </p:nvSpPr>
          <p:spPr>
            <a:xfrm>
              <a:off x="0" y="0"/>
              <a:ext cx="5078356" cy="1501606"/>
            </a:xfrm>
            <a:custGeom>
              <a:avLst/>
              <a:gdLst/>
              <a:ahLst/>
              <a:cxnLst/>
              <a:rect l="l" t="t" r="r" b="b"/>
              <a:pathLst>
                <a:path w="5078356" h="1501606">
                  <a:moveTo>
                    <a:pt x="12447" y="0"/>
                  </a:moveTo>
                  <a:lnTo>
                    <a:pt x="5065909" y="0"/>
                  </a:lnTo>
                  <a:cubicBezTo>
                    <a:pt x="5072783" y="0"/>
                    <a:pt x="5078356" y="5573"/>
                    <a:pt x="5078356" y="12447"/>
                  </a:cubicBezTo>
                  <a:lnTo>
                    <a:pt x="5078356" y="1489159"/>
                  </a:lnTo>
                  <a:cubicBezTo>
                    <a:pt x="5078356" y="1492461"/>
                    <a:pt x="5077044" y="1495626"/>
                    <a:pt x="5074710" y="1497961"/>
                  </a:cubicBezTo>
                  <a:cubicBezTo>
                    <a:pt x="5072376" y="1500295"/>
                    <a:pt x="5069210" y="1501606"/>
                    <a:pt x="5065909" y="1501606"/>
                  </a:cubicBezTo>
                  <a:lnTo>
                    <a:pt x="12447" y="1501606"/>
                  </a:lnTo>
                  <a:cubicBezTo>
                    <a:pt x="9146" y="1501606"/>
                    <a:pt x="5980" y="1500295"/>
                    <a:pt x="3646" y="1497961"/>
                  </a:cubicBezTo>
                  <a:cubicBezTo>
                    <a:pt x="1311" y="1495626"/>
                    <a:pt x="0" y="1492461"/>
                    <a:pt x="0" y="1489159"/>
                  </a:cubicBezTo>
                  <a:lnTo>
                    <a:pt x="0" y="12447"/>
                  </a:lnTo>
                  <a:cubicBezTo>
                    <a:pt x="0" y="9146"/>
                    <a:pt x="1311" y="5980"/>
                    <a:pt x="3646" y="3646"/>
                  </a:cubicBezTo>
                  <a:cubicBezTo>
                    <a:pt x="5980" y="1311"/>
                    <a:pt x="9146" y="0"/>
                    <a:pt x="12447" y="0"/>
                  </a:cubicBezTo>
                  <a:close/>
                </a:path>
              </a:pathLst>
            </a:custGeom>
            <a:solidFill>
              <a:srgbClr val="D5EDF1"/>
            </a:solidFill>
            <a:ln cap="rnd">
              <a:noFill/>
              <a:prstDash val="solid"/>
              <a:round/>
            </a:ln>
          </p:spPr>
        </p:sp>
        <p:sp>
          <p:nvSpPr>
            <p:cNvPr id="24" name="TextBox 24"/>
            <p:cNvSpPr txBox="1"/>
            <p:nvPr/>
          </p:nvSpPr>
          <p:spPr>
            <a:xfrm>
              <a:off x="0" y="-57150"/>
              <a:ext cx="5078356" cy="1558756"/>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8895938" y="8012915"/>
            <a:ext cx="9202337" cy="2006764"/>
            <a:chOff x="0" y="0"/>
            <a:chExt cx="2423661" cy="528530"/>
          </a:xfrm>
        </p:grpSpPr>
        <p:sp>
          <p:nvSpPr>
            <p:cNvPr id="26" name="Freeform 26"/>
            <p:cNvSpPr/>
            <p:nvPr/>
          </p:nvSpPr>
          <p:spPr>
            <a:xfrm>
              <a:off x="0" y="0"/>
              <a:ext cx="2423661" cy="528530"/>
            </a:xfrm>
            <a:custGeom>
              <a:avLst/>
              <a:gdLst/>
              <a:ahLst/>
              <a:cxnLst/>
              <a:rect l="l" t="t" r="r" b="b"/>
              <a:pathLst>
                <a:path w="2423661" h="528530">
                  <a:moveTo>
                    <a:pt x="42906" y="0"/>
                  </a:moveTo>
                  <a:lnTo>
                    <a:pt x="2380754" y="0"/>
                  </a:lnTo>
                  <a:cubicBezTo>
                    <a:pt x="2404451" y="0"/>
                    <a:pt x="2423661" y="19210"/>
                    <a:pt x="2423661" y="42906"/>
                  </a:cubicBezTo>
                  <a:lnTo>
                    <a:pt x="2423661" y="485624"/>
                  </a:lnTo>
                  <a:cubicBezTo>
                    <a:pt x="2423661" y="497004"/>
                    <a:pt x="2419140" y="507917"/>
                    <a:pt x="2411094" y="515963"/>
                  </a:cubicBezTo>
                  <a:cubicBezTo>
                    <a:pt x="2403047" y="524010"/>
                    <a:pt x="2392134" y="528530"/>
                    <a:pt x="2380754" y="528530"/>
                  </a:cubicBezTo>
                  <a:lnTo>
                    <a:pt x="42906" y="528530"/>
                  </a:lnTo>
                  <a:cubicBezTo>
                    <a:pt x="31527" y="528530"/>
                    <a:pt x="20613" y="524010"/>
                    <a:pt x="12567" y="515963"/>
                  </a:cubicBezTo>
                  <a:cubicBezTo>
                    <a:pt x="4520" y="507917"/>
                    <a:pt x="0" y="497004"/>
                    <a:pt x="0" y="485624"/>
                  </a:cubicBezTo>
                  <a:lnTo>
                    <a:pt x="0" y="42906"/>
                  </a:lnTo>
                  <a:cubicBezTo>
                    <a:pt x="0" y="31527"/>
                    <a:pt x="4520" y="20613"/>
                    <a:pt x="12567" y="12567"/>
                  </a:cubicBezTo>
                  <a:cubicBezTo>
                    <a:pt x="20613" y="4520"/>
                    <a:pt x="31527" y="0"/>
                    <a:pt x="42906" y="0"/>
                  </a:cubicBezTo>
                  <a:close/>
                </a:path>
              </a:pathLst>
            </a:custGeom>
            <a:ln w="38100" cap="rnd">
              <a:solidFill>
                <a:srgbClr val="D5EDF1"/>
              </a:solidFill>
              <a:prstDash val="solid"/>
              <a:round/>
            </a:ln>
          </p:spPr>
        </p:sp>
        <p:sp>
          <p:nvSpPr>
            <p:cNvPr id="27" name="TextBox 27"/>
            <p:cNvSpPr txBox="1"/>
            <p:nvPr/>
          </p:nvSpPr>
          <p:spPr>
            <a:xfrm>
              <a:off x="0" y="-57150"/>
              <a:ext cx="2423661" cy="585680"/>
            </a:xfrm>
            <a:prstGeom prst="rect">
              <a:avLst/>
            </a:prstGeom>
          </p:spPr>
          <p:txBody>
            <a:bodyPr lIns="50800" tIns="50800" rIns="50800" bIns="50800" rtlCol="0" anchor="ctr"/>
            <a:lstStyle/>
            <a:p>
              <a:pPr algn="ctr">
                <a:lnSpc>
                  <a:spcPts val="2380"/>
                </a:lnSpc>
              </a:pPr>
              <a:endParaRPr/>
            </a:p>
          </p:txBody>
        </p:sp>
      </p:grpSp>
      <p:sp>
        <p:nvSpPr>
          <p:cNvPr id="28" name="TextBox 28"/>
          <p:cNvSpPr txBox="1"/>
          <p:nvPr/>
        </p:nvSpPr>
        <p:spPr>
          <a:xfrm>
            <a:off x="11182167" y="9053915"/>
            <a:ext cx="1676535" cy="507365"/>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Poppins"/>
                <a:cs typeface="Poppins"/>
                <a:sym typeface="Poppins"/>
              </a:rPr>
              <a:t>Đưa sự kiện vào hàng đợi</a:t>
            </a:r>
          </a:p>
        </p:txBody>
      </p:sp>
      <p:sp>
        <p:nvSpPr>
          <p:cNvPr id="29" name="AutoShape 29"/>
          <p:cNvSpPr/>
          <p:nvPr/>
        </p:nvSpPr>
        <p:spPr>
          <a:xfrm>
            <a:off x="10508020" y="9331410"/>
            <a:ext cx="674146" cy="0"/>
          </a:xfrm>
          <a:prstGeom prst="line">
            <a:avLst/>
          </a:prstGeom>
          <a:ln w="38100" cap="flat">
            <a:solidFill>
              <a:srgbClr val="000000"/>
            </a:solidFill>
            <a:prstDash val="solid"/>
            <a:headEnd type="none" w="sm" len="sm"/>
            <a:tailEnd type="triangle" w="lg" len="med"/>
          </a:ln>
        </p:spPr>
      </p:sp>
      <p:sp>
        <p:nvSpPr>
          <p:cNvPr id="30" name="AutoShape 30"/>
          <p:cNvSpPr/>
          <p:nvPr/>
        </p:nvSpPr>
        <p:spPr>
          <a:xfrm flipV="1">
            <a:off x="12858702" y="9325706"/>
            <a:ext cx="836147" cy="5703"/>
          </a:xfrm>
          <a:prstGeom prst="line">
            <a:avLst/>
          </a:prstGeom>
          <a:ln w="38100" cap="flat">
            <a:solidFill>
              <a:srgbClr val="000000"/>
            </a:solidFill>
            <a:prstDash val="solid"/>
            <a:headEnd type="none" w="sm" len="sm"/>
            <a:tailEnd type="triangle" w="lg" len="med"/>
          </a:ln>
        </p:spPr>
      </p:sp>
      <p:sp>
        <p:nvSpPr>
          <p:cNvPr id="31" name="AutoShape 31"/>
          <p:cNvSpPr/>
          <p:nvPr/>
        </p:nvSpPr>
        <p:spPr>
          <a:xfrm>
            <a:off x="15223241" y="9331410"/>
            <a:ext cx="676275" cy="0"/>
          </a:xfrm>
          <a:prstGeom prst="line">
            <a:avLst/>
          </a:prstGeom>
          <a:ln w="38100" cap="flat">
            <a:solidFill>
              <a:srgbClr val="000000"/>
            </a:solidFill>
            <a:prstDash val="solid"/>
            <a:headEnd type="none" w="sm" len="sm"/>
            <a:tailEnd type="triangle" w="lg" len="med"/>
          </a:ln>
        </p:spPr>
      </p:sp>
      <p:sp>
        <p:nvSpPr>
          <p:cNvPr id="32" name="Freeform 32"/>
          <p:cNvSpPr/>
          <p:nvPr/>
        </p:nvSpPr>
        <p:spPr>
          <a:xfrm>
            <a:off x="9871412" y="9561279"/>
            <a:ext cx="6422248" cy="288186"/>
          </a:xfrm>
          <a:custGeom>
            <a:avLst/>
            <a:gdLst/>
            <a:ahLst/>
            <a:cxnLst/>
            <a:rect l="l" t="t" r="r" b="b"/>
            <a:pathLst>
              <a:path w="6422248" h="288186">
                <a:moveTo>
                  <a:pt x="0" y="0"/>
                </a:moveTo>
                <a:lnTo>
                  <a:pt x="0" y="144093"/>
                </a:lnTo>
                <a:cubicBezTo>
                  <a:pt x="0" y="223673"/>
                  <a:pt x="64513" y="288186"/>
                  <a:pt x="144093" y="288186"/>
                </a:cubicBezTo>
                <a:lnTo>
                  <a:pt x="6278156" y="288186"/>
                </a:lnTo>
                <a:cubicBezTo>
                  <a:pt x="6357735" y="288186"/>
                  <a:pt x="6422248" y="223673"/>
                  <a:pt x="6422248" y="144093"/>
                </a:cubicBezTo>
                <a:lnTo>
                  <a:pt x="6422248" y="0"/>
                </a:lnTo>
              </a:path>
            </a:pathLst>
          </a:custGeom>
          <a:ln w="38100" cap="flat">
            <a:solidFill>
              <a:srgbClr val="000000"/>
            </a:solidFill>
            <a:prstDash val="sysDash"/>
            <a:headEnd type="arrow" w="med" len="sm"/>
            <a:tailEnd type="arrow" w="med" len="sm"/>
          </a:ln>
        </p:spPr>
      </p:sp>
      <p:grpSp>
        <p:nvGrpSpPr>
          <p:cNvPr id="33" name="Group 33"/>
          <p:cNvGrpSpPr/>
          <p:nvPr/>
        </p:nvGrpSpPr>
        <p:grpSpPr>
          <a:xfrm>
            <a:off x="10512787" y="7461799"/>
            <a:ext cx="6219490" cy="997173"/>
            <a:chOff x="0" y="0"/>
            <a:chExt cx="1638055" cy="262630"/>
          </a:xfrm>
        </p:grpSpPr>
        <p:sp>
          <p:nvSpPr>
            <p:cNvPr id="34" name="Freeform 34"/>
            <p:cNvSpPr/>
            <p:nvPr/>
          </p:nvSpPr>
          <p:spPr>
            <a:xfrm>
              <a:off x="0" y="0"/>
              <a:ext cx="1638055" cy="262630"/>
            </a:xfrm>
            <a:custGeom>
              <a:avLst/>
              <a:gdLst/>
              <a:ahLst/>
              <a:cxnLst/>
              <a:rect l="l" t="t" r="r" b="b"/>
              <a:pathLst>
                <a:path w="1638055" h="262630">
                  <a:moveTo>
                    <a:pt x="63484" y="0"/>
                  </a:moveTo>
                  <a:lnTo>
                    <a:pt x="1574571" y="0"/>
                  </a:lnTo>
                  <a:cubicBezTo>
                    <a:pt x="1591408" y="0"/>
                    <a:pt x="1607555" y="6688"/>
                    <a:pt x="1619461" y="18594"/>
                  </a:cubicBezTo>
                  <a:cubicBezTo>
                    <a:pt x="1631367" y="30500"/>
                    <a:pt x="1638055" y="46647"/>
                    <a:pt x="1638055" y="63484"/>
                  </a:cubicBezTo>
                  <a:lnTo>
                    <a:pt x="1638055" y="199146"/>
                  </a:lnTo>
                  <a:cubicBezTo>
                    <a:pt x="1638055" y="215983"/>
                    <a:pt x="1631367" y="232130"/>
                    <a:pt x="1619461" y="244036"/>
                  </a:cubicBezTo>
                  <a:cubicBezTo>
                    <a:pt x="1607555" y="255942"/>
                    <a:pt x="1591408" y="262630"/>
                    <a:pt x="1574571" y="262630"/>
                  </a:cubicBezTo>
                  <a:lnTo>
                    <a:pt x="63484" y="262630"/>
                  </a:lnTo>
                  <a:cubicBezTo>
                    <a:pt x="46647" y="262630"/>
                    <a:pt x="30500" y="255942"/>
                    <a:pt x="18594" y="244036"/>
                  </a:cubicBezTo>
                  <a:cubicBezTo>
                    <a:pt x="6688" y="232130"/>
                    <a:pt x="0" y="215983"/>
                    <a:pt x="0" y="199146"/>
                  </a:cubicBezTo>
                  <a:lnTo>
                    <a:pt x="0" y="63484"/>
                  </a:lnTo>
                  <a:cubicBezTo>
                    <a:pt x="0" y="46647"/>
                    <a:pt x="6688" y="30500"/>
                    <a:pt x="18594" y="18594"/>
                  </a:cubicBezTo>
                  <a:cubicBezTo>
                    <a:pt x="30500" y="6688"/>
                    <a:pt x="46647" y="0"/>
                    <a:pt x="63484" y="0"/>
                  </a:cubicBezTo>
                  <a:close/>
                </a:path>
              </a:pathLst>
            </a:custGeom>
            <a:solidFill>
              <a:srgbClr val="1D2159"/>
            </a:solidFill>
          </p:spPr>
        </p:sp>
        <p:sp>
          <p:nvSpPr>
            <p:cNvPr id="35" name="TextBox 35"/>
            <p:cNvSpPr txBox="1"/>
            <p:nvPr/>
          </p:nvSpPr>
          <p:spPr>
            <a:xfrm>
              <a:off x="0" y="-57150"/>
              <a:ext cx="1638055" cy="319780"/>
            </a:xfrm>
            <a:prstGeom prst="rect">
              <a:avLst/>
            </a:prstGeom>
          </p:spPr>
          <p:txBody>
            <a:bodyPr lIns="50800" tIns="50800" rIns="50800" bIns="50800" rtlCol="0" anchor="ctr"/>
            <a:lstStyle/>
            <a:p>
              <a:pPr algn="ctr">
                <a:lnSpc>
                  <a:spcPts val="2380"/>
                </a:lnSpc>
              </a:pPr>
              <a:endParaRPr/>
            </a:p>
          </p:txBody>
        </p:sp>
      </p:grpSp>
      <p:sp>
        <p:nvSpPr>
          <p:cNvPr id="36" name="TextBox 36"/>
          <p:cNvSpPr txBox="1"/>
          <p:nvPr/>
        </p:nvSpPr>
        <p:spPr>
          <a:xfrm>
            <a:off x="2874987" y="-66675"/>
            <a:ext cx="12538025" cy="1011046"/>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ea typeface="Poppins Bold"/>
                <a:cs typeface="Poppins Bold"/>
                <a:sym typeface="Poppins Bold"/>
              </a:rPr>
              <a:t>THIẾT KẾ GIAO DIỆN NGƯỜI DÙNG</a:t>
            </a:r>
          </a:p>
        </p:txBody>
      </p:sp>
      <p:sp>
        <p:nvSpPr>
          <p:cNvPr id="37" name="TextBox 37"/>
          <p:cNvSpPr txBox="1"/>
          <p:nvPr/>
        </p:nvSpPr>
        <p:spPr>
          <a:xfrm>
            <a:off x="404847" y="7936233"/>
            <a:ext cx="805101" cy="252762"/>
          </a:xfrm>
          <a:prstGeom prst="rect">
            <a:avLst/>
          </a:prstGeom>
        </p:spPr>
        <p:txBody>
          <a:bodyPr lIns="0" tIns="0" rIns="0" bIns="0" rtlCol="0" anchor="t">
            <a:spAutoFit/>
          </a:bodyPr>
          <a:lstStyle/>
          <a:p>
            <a:pPr algn="ctr">
              <a:lnSpc>
                <a:spcPts val="2100"/>
              </a:lnSpc>
              <a:spcBef>
                <a:spcPct val="0"/>
              </a:spcBef>
            </a:pPr>
            <a:r>
              <a:rPr lang="en-US" sz="1500" b="1">
                <a:solidFill>
                  <a:srgbClr val="000000"/>
                </a:solidFill>
                <a:ea typeface="Poppins Bold"/>
                <a:cs typeface="Poppins Bold"/>
                <a:sym typeface="Poppins Bold"/>
              </a:rPr>
              <a:t>SIDEBAR</a:t>
            </a:r>
          </a:p>
        </p:txBody>
      </p:sp>
      <p:sp>
        <p:nvSpPr>
          <p:cNvPr id="38" name="TextBox 38"/>
          <p:cNvSpPr txBox="1"/>
          <p:nvPr/>
        </p:nvSpPr>
        <p:spPr>
          <a:xfrm>
            <a:off x="11003082" y="2442229"/>
            <a:ext cx="7051533" cy="604520"/>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-RESPONSIVE: Chia bố cục bằng Frame, tự co giãn theo kích thước cửa sổ, dễ dàng mở rộng giao diện.</a:t>
            </a:r>
          </a:p>
        </p:txBody>
      </p:sp>
      <p:sp>
        <p:nvSpPr>
          <p:cNvPr id="39" name="TextBox 39"/>
          <p:cNvSpPr txBox="1"/>
          <p:nvPr/>
        </p:nvSpPr>
        <p:spPr>
          <a:xfrm>
            <a:off x="11003082" y="3684841"/>
            <a:ext cx="6156289" cy="604520"/>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-EVENT QUEUE: Nhận sự kiện từ luồng mạng, đưa vào hàng đợi, không cập nhật GUI trực tiếp.</a:t>
            </a:r>
          </a:p>
        </p:txBody>
      </p:sp>
      <p:sp>
        <p:nvSpPr>
          <p:cNvPr id="40" name="TextBox 40"/>
          <p:cNvSpPr txBox="1"/>
          <p:nvPr/>
        </p:nvSpPr>
        <p:spPr>
          <a:xfrm>
            <a:off x="11003082" y="4812665"/>
            <a:ext cx="6591488" cy="604520"/>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-AFTER(): Main Thread đọc Queue định kỳ, cập nhật giao diện an toàn, tránh hiện tượng “Not Responding”.</a:t>
            </a:r>
          </a:p>
        </p:txBody>
      </p:sp>
      <p:sp>
        <p:nvSpPr>
          <p:cNvPr id="41" name="TextBox 41"/>
          <p:cNvSpPr txBox="1"/>
          <p:nvPr/>
        </p:nvSpPr>
        <p:spPr>
          <a:xfrm>
            <a:off x="11003082" y="5914697"/>
            <a:ext cx="7424689" cy="604520"/>
          </a:xfrm>
          <a:prstGeom prst="rect">
            <a:avLst/>
          </a:prstGeom>
        </p:spPr>
        <p:txBody>
          <a:bodyPr lIns="0" tIns="0" rIns="0" bIns="0" rtlCol="0" anchor="t">
            <a:spAutoFit/>
          </a:bodyPr>
          <a:lstStyle/>
          <a:p>
            <a:pPr algn="l">
              <a:lnSpc>
                <a:spcPts val="2380"/>
              </a:lnSpc>
              <a:spcBef>
                <a:spcPct val="0"/>
              </a:spcBef>
            </a:pPr>
            <a:r>
              <a:rPr lang="en-US" sz="1700" b="1">
                <a:solidFill>
                  <a:srgbClr val="000000"/>
                </a:solidFill>
                <a:ea typeface="Poppins Bold"/>
                <a:cs typeface="Poppins Bold"/>
                <a:sym typeface="Poppins Bold"/>
              </a:rPr>
              <a:t>-UI STATE: Duy trì một nguồn dữ liệu duy nhất, đồng bộ trạng thái giữa Network và GUI, tránh xung đột và sai lệch hiển thị.</a:t>
            </a:r>
          </a:p>
        </p:txBody>
      </p:sp>
      <p:sp>
        <p:nvSpPr>
          <p:cNvPr id="42" name="TextBox 42"/>
          <p:cNvSpPr txBox="1"/>
          <p:nvPr/>
        </p:nvSpPr>
        <p:spPr>
          <a:xfrm>
            <a:off x="9234804" y="8716148"/>
            <a:ext cx="1454825" cy="239746"/>
          </a:xfrm>
          <a:prstGeom prst="rect">
            <a:avLst/>
          </a:prstGeom>
        </p:spPr>
        <p:txBody>
          <a:bodyPr lIns="0" tIns="0" rIns="0" bIns="0" rtlCol="0" anchor="t">
            <a:spAutoFit/>
          </a:bodyPr>
          <a:lstStyle/>
          <a:p>
            <a:pPr algn="ctr">
              <a:lnSpc>
                <a:spcPts val="1960"/>
              </a:lnSpc>
              <a:spcBef>
                <a:spcPct val="0"/>
              </a:spcBef>
            </a:pPr>
            <a:r>
              <a:rPr lang="en-US" sz="1400" b="1">
                <a:solidFill>
                  <a:srgbClr val="000000"/>
                </a:solidFill>
                <a:ea typeface="Poppins Bold"/>
                <a:cs typeface="Poppins Bold"/>
                <a:sym typeface="Poppins Bold"/>
              </a:rPr>
              <a:t>SOCKET THREAD</a:t>
            </a:r>
          </a:p>
        </p:txBody>
      </p:sp>
      <p:sp>
        <p:nvSpPr>
          <p:cNvPr id="43" name="TextBox 43"/>
          <p:cNvSpPr txBox="1"/>
          <p:nvPr/>
        </p:nvSpPr>
        <p:spPr>
          <a:xfrm>
            <a:off x="9234804" y="9053915"/>
            <a:ext cx="1273216" cy="507365"/>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Poppins"/>
                <a:cs typeface="Poppins"/>
                <a:sym typeface="Poppins"/>
              </a:rPr>
              <a:t>Nhận dữ liệu từ mạng</a:t>
            </a:r>
          </a:p>
        </p:txBody>
      </p:sp>
      <p:sp>
        <p:nvSpPr>
          <p:cNvPr id="44" name="TextBox 44"/>
          <p:cNvSpPr txBox="1"/>
          <p:nvPr/>
        </p:nvSpPr>
        <p:spPr>
          <a:xfrm>
            <a:off x="11429587" y="8716148"/>
            <a:ext cx="1181695" cy="239746"/>
          </a:xfrm>
          <a:prstGeom prst="rect">
            <a:avLst/>
          </a:prstGeom>
        </p:spPr>
        <p:txBody>
          <a:bodyPr lIns="0" tIns="0" rIns="0" bIns="0" rtlCol="0" anchor="t">
            <a:spAutoFit/>
          </a:bodyPr>
          <a:lstStyle/>
          <a:p>
            <a:pPr algn="ctr">
              <a:lnSpc>
                <a:spcPts val="1960"/>
              </a:lnSpc>
              <a:spcBef>
                <a:spcPct val="0"/>
              </a:spcBef>
            </a:pPr>
            <a:r>
              <a:rPr lang="en-US" sz="1400" b="1">
                <a:solidFill>
                  <a:srgbClr val="000000"/>
                </a:solidFill>
                <a:ea typeface="Poppins Bold"/>
                <a:cs typeface="Poppins Bold"/>
                <a:sym typeface="Poppins Bold"/>
              </a:rPr>
              <a:t>EVENT QUEUE</a:t>
            </a:r>
          </a:p>
        </p:txBody>
      </p:sp>
      <p:sp>
        <p:nvSpPr>
          <p:cNvPr id="45" name="TextBox 45"/>
          <p:cNvSpPr txBox="1"/>
          <p:nvPr/>
        </p:nvSpPr>
        <p:spPr>
          <a:xfrm>
            <a:off x="13674179" y="8751837"/>
            <a:ext cx="1485067" cy="239746"/>
          </a:xfrm>
          <a:prstGeom prst="rect">
            <a:avLst/>
          </a:prstGeom>
        </p:spPr>
        <p:txBody>
          <a:bodyPr lIns="0" tIns="0" rIns="0" bIns="0" rtlCol="0" anchor="t">
            <a:spAutoFit/>
          </a:bodyPr>
          <a:lstStyle/>
          <a:p>
            <a:pPr algn="ctr">
              <a:lnSpc>
                <a:spcPts val="1960"/>
              </a:lnSpc>
              <a:spcBef>
                <a:spcPct val="0"/>
              </a:spcBef>
            </a:pPr>
            <a:r>
              <a:rPr lang="en-US" sz="1400" b="1">
                <a:solidFill>
                  <a:srgbClr val="000000"/>
                </a:solidFill>
                <a:ea typeface="Poppins Bold"/>
                <a:cs typeface="Poppins Bold"/>
                <a:sym typeface="Poppins Bold"/>
              </a:rPr>
              <a:t>TKINTER AFTER()</a:t>
            </a:r>
          </a:p>
        </p:txBody>
      </p:sp>
      <p:sp>
        <p:nvSpPr>
          <p:cNvPr id="46" name="TextBox 46"/>
          <p:cNvSpPr txBox="1"/>
          <p:nvPr/>
        </p:nvSpPr>
        <p:spPr>
          <a:xfrm>
            <a:off x="13694849" y="9072024"/>
            <a:ext cx="1409772" cy="507365"/>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Poppins"/>
                <a:cs typeface="Poppins"/>
                <a:sym typeface="Poppins"/>
              </a:rPr>
              <a:t>Đọc Queue theo chu kỳ</a:t>
            </a:r>
          </a:p>
        </p:txBody>
      </p:sp>
      <p:sp>
        <p:nvSpPr>
          <p:cNvPr id="47" name="TextBox 47"/>
          <p:cNvSpPr txBox="1"/>
          <p:nvPr/>
        </p:nvSpPr>
        <p:spPr>
          <a:xfrm>
            <a:off x="16222144" y="8716148"/>
            <a:ext cx="1567696" cy="239746"/>
          </a:xfrm>
          <a:prstGeom prst="rect">
            <a:avLst/>
          </a:prstGeom>
        </p:spPr>
        <p:txBody>
          <a:bodyPr lIns="0" tIns="0" rIns="0" bIns="0" rtlCol="0" anchor="t">
            <a:spAutoFit/>
          </a:bodyPr>
          <a:lstStyle/>
          <a:p>
            <a:pPr algn="ctr">
              <a:lnSpc>
                <a:spcPts val="1960"/>
              </a:lnSpc>
              <a:spcBef>
                <a:spcPct val="0"/>
              </a:spcBef>
            </a:pPr>
            <a:r>
              <a:rPr lang="en-US" sz="1400" b="1">
                <a:solidFill>
                  <a:srgbClr val="000000"/>
                </a:solidFill>
                <a:ea typeface="Poppins Bold"/>
                <a:cs typeface="Poppins Bold"/>
                <a:sym typeface="Poppins Bold"/>
              </a:rPr>
              <a:t>UPDATE INTERFCE</a:t>
            </a:r>
          </a:p>
        </p:txBody>
      </p:sp>
      <p:sp>
        <p:nvSpPr>
          <p:cNvPr id="48" name="TextBox 48"/>
          <p:cNvSpPr txBox="1"/>
          <p:nvPr/>
        </p:nvSpPr>
        <p:spPr>
          <a:xfrm>
            <a:off x="15899516" y="8982536"/>
            <a:ext cx="1803916" cy="507365"/>
          </a:xfrm>
          <a:prstGeom prst="rect">
            <a:avLst/>
          </a:prstGeom>
        </p:spPr>
        <p:txBody>
          <a:bodyPr lIns="0" tIns="0" rIns="0" bIns="0" rtlCol="0" anchor="t">
            <a:spAutoFit/>
          </a:bodyPr>
          <a:lstStyle/>
          <a:p>
            <a:pPr algn="ctr">
              <a:lnSpc>
                <a:spcPts val="1960"/>
              </a:lnSpc>
              <a:spcBef>
                <a:spcPct val="0"/>
              </a:spcBef>
            </a:pPr>
            <a:r>
              <a:rPr lang="en-US" sz="1400">
                <a:solidFill>
                  <a:srgbClr val="000000"/>
                </a:solidFill>
                <a:ea typeface="Poppins"/>
                <a:cs typeface="Poppins"/>
                <a:sym typeface="Poppins"/>
              </a:rPr>
              <a:t>Cập nhật giao diện (Main Thread)</a:t>
            </a:r>
          </a:p>
        </p:txBody>
      </p:sp>
      <p:sp>
        <p:nvSpPr>
          <p:cNvPr id="49" name="TextBox 49"/>
          <p:cNvSpPr txBox="1"/>
          <p:nvPr/>
        </p:nvSpPr>
        <p:spPr>
          <a:xfrm>
            <a:off x="10867179" y="7813207"/>
            <a:ext cx="5622012" cy="301365"/>
          </a:xfrm>
          <a:prstGeom prst="rect">
            <a:avLst/>
          </a:prstGeom>
        </p:spPr>
        <p:txBody>
          <a:bodyPr lIns="0" tIns="0" rIns="0" bIns="0" rtlCol="0" anchor="t">
            <a:spAutoFit/>
          </a:bodyPr>
          <a:lstStyle/>
          <a:p>
            <a:pPr algn="ctr">
              <a:lnSpc>
                <a:spcPts val="2520"/>
              </a:lnSpc>
              <a:spcBef>
                <a:spcPct val="0"/>
              </a:spcBef>
            </a:pPr>
            <a:r>
              <a:rPr lang="en-US" sz="1800" b="1">
                <a:solidFill>
                  <a:srgbClr val="FFFFFF"/>
                </a:solidFill>
                <a:ea typeface="Poppins Bold"/>
                <a:cs typeface="Poppins Bold"/>
                <a:sym typeface="Poppins Bold"/>
              </a:rPr>
              <a:t>CƠ CHẾ CẬP NHẬT GIAO DIỆN (GUI UPDATE FLOW)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
                                        <p:tgtEl>
                                          <p:spTgt spid="2"/>
                                        </p:tgtEl>
                                      </p:cBhvr>
                                    </p:animEffect>
                                  </p:childTnLst>
                                </p:cTn>
                              </p:par>
                            </p:childTnLst>
                          </p:cTn>
                        </p:par>
                        <p:par>
                          <p:cTn id="8" fill="hold">
                            <p:stCondLst>
                              <p:cond delay="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
                                        <p:tgtEl>
                                          <p:spTgt spid="3"/>
                                        </p:tgtEl>
                                      </p:cBhvr>
                                    </p:animEffect>
                                  </p:childTnLst>
                                </p:cTn>
                              </p:par>
                            </p:childTnLst>
                          </p:cTn>
                        </p:par>
                        <p:par>
                          <p:cTn id="12" fill="hold">
                            <p:stCondLst>
                              <p:cond delay="1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
                                        <p:tgtEl>
                                          <p:spTgt spid="6"/>
                                        </p:tgtEl>
                                      </p:cBhvr>
                                    </p:animEffect>
                                  </p:childTnLst>
                                </p:cTn>
                              </p:par>
                            </p:childTnLst>
                          </p:cTn>
                        </p:par>
                        <p:par>
                          <p:cTn id="16" fill="hold">
                            <p:stCondLst>
                              <p:cond delay="15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
                                        <p:tgtEl>
                                          <p:spTgt spid="9"/>
                                        </p:tgtEl>
                                      </p:cBhvr>
                                    </p:animEffect>
                                  </p:childTnLst>
                                </p:cTn>
                              </p:par>
                            </p:childTnLst>
                          </p:cTn>
                        </p:par>
                        <p:par>
                          <p:cTn id="20" fill="hold">
                            <p:stCondLst>
                              <p:cond delay="2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
                                        <p:tgtEl>
                                          <p:spTgt spid="12"/>
                                        </p:tgtEl>
                                      </p:cBhvr>
                                    </p:animEffect>
                                  </p:childTnLst>
                                </p:cTn>
                              </p:par>
                            </p:childTnLst>
                          </p:cTn>
                        </p:par>
                        <p:par>
                          <p:cTn id="24" fill="hold">
                            <p:stCondLst>
                              <p:cond delay="25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
                                        <p:tgtEl>
                                          <p:spTgt spid="15"/>
                                        </p:tgtEl>
                                      </p:cBhvr>
                                    </p:animEffect>
                                  </p:childTnLst>
                                </p:cTn>
                              </p:par>
                            </p:childTnLst>
                          </p:cTn>
                        </p:par>
                        <p:par>
                          <p:cTn id="28" fill="hold">
                            <p:stCondLst>
                              <p:cond delay="300"/>
                            </p:stCondLst>
                            <p:childTnLst>
                              <p:par>
                                <p:cTn id="29" presetID="10"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
                                        <p:tgtEl>
                                          <p:spTgt spid="16"/>
                                        </p:tgtEl>
                                      </p:cBhvr>
                                    </p:animEffect>
                                  </p:childTnLst>
                                </p:cTn>
                              </p:par>
                            </p:childTnLst>
                          </p:cTn>
                        </p:par>
                        <p:par>
                          <p:cTn id="32" fill="hold">
                            <p:stCondLst>
                              <p:cond delay="350"/>
                            </p:stCondLst>
                            <p:childTnLst>
                              <p:par>
                                <p:cTn id="33" presetID="10"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
                                        <p:tgtEl>
                                          <p:spTgt spid="17"/>
                                        </p:tgtEl>
                                      </p:cBhvr>
                                    </p:animEffect>
                                  </p:childTnLst>
                                </p:cTn>
                              </p:par>
                            </p:childTnLst>
                          </p:cTn>
                        </p:par>
                        <p:par>
                          <p:cTn id="36" fill="hold">
                            <p:stCondLst>
                              <p:cond delay="400"/>
                            </p:stCondLst>
                            <p:childTnLst>
                              <p:par>
                                <p:cTn id="37" presetID="10" presetClass="entr" presetSubtype="0"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
                                        <p:tgtEl>
                                          <p:spTgt spid="18"/>
                                        </p:tgtEl>
                                      </p:cBhvr>
                                    </p:animEffect>
                                  </p:childTnLst>
                                </p:cTn>
                              </p:par>
                            </p:childTnLst>
                          </p:cTn>
                        </p:par>
                        <p:par>
                          <p:cTn id="40" fill="hold">
                            <p:stCondLst>
                              <p:cond delay="450"/>
                            </p:stCondLst>
                            <p:childTnLst>
                              <p:par>
                                <p:cTn id="41" presetID="10" presetClass="entr" presetSubtype="0"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
                                        <p:tgtEl>
                                          <p:spTgt spid="19"/>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
                                        <p:tgtEl>
                                          <p:spTgt spid="20"/>
                                        </p:tgtEl>
                                      </p:cBhvr>
                                    </p:animEffect>
                                  </p:childTnLst>
                                </p:cTn>
                              </p:par>
                            </p:childTnLst>
                          </p:cTn>
                        </p:par>
                        <p:par>
                          <p:cTn id="48" fill="hold">
                            <p:stCondLst>
                              <p:cond delay="550"/>
                            </p:stCondLst>
                            <p:childTnLst>
                              <p:par>
                                <p:cTn id="49" presetID="10" presetClass="entr" presetSubtype="0"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
                                        <p:tgtEl>
                                          <p:spTgt spid="21"/>
                                        </p:tgtEl>
                                      </p:cBhvr>
                                    </p:animEffect>
                                  </p:childTnLst>
                                </p:cTn>
                              </p:par>
                            </p:childTnLst>
                          </p:cTn>
                        </p:par>
                        <p:par>
                          <p:cTn id="52" fill="hold">
                            <p:stCondLst>
                              <p:cond delay="600"/>
                            </p:stCondLst>
                            <p:childTnLst>
                              <p:par>
                                <p:cTn id="53" presetID="10" presetClass="entr" presetSubtype="0" fill="hold"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
                                        <p:tgtEl>
                                          <p:spTgt spid="22"/>
                                        </p:tgtEl>
                                      </p:cBhvr>
                                    </p:animEffect>
                                  </p:childTnLst>
                                </p:cTn>
                              </p:par>
                            </p:childTnLst>
                          </p:cTn>
                        </p:par>
                        <p:par>
                          <p:cTn id="56" fill="hold">
                            <p:stCondLst>
                              <p:cond delay="650"/>
                            </p:stCondLst>
                            <p:childTnLst>
                              <p:par>
                                <p:cTn id="57" presetID="10" presetClass="entr" presetSubtype="0" fill="hold"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
                                        <p:tgtEl>
                                          <p:spTgt spid="25"/>
                                        </p:tgtEl>
                                      </p:cBhvr>
                                    </p:animEffect>
                                  </p:childTnLst>
                                </p:cTn>
                              </p:par>
                            </p:childTnLst>
                          </p:cTn>
                        </p:par>
                        <p:par>
                          <p:cTn id="60" fill="hold">
                            <p:stCondLst>
                              <p:cond delay="700"/>
                            </p:stCondLst>
                            <p:childTnLst>
                              <p:par>
                                <p:cTn id="61" presetID="10" presetClass="entr" presetSubtype="0" fill="hold" grpId="0"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
                                        <p:tgtEl>
                                          <p:spTgt spid="28"/>
                                        </p:tgtEl>
                                      </p:cBhvr>
                                    </p:animEffect>
                                  </p:childTnLst>
                                </p:cTn>
                              </p:par>
                            </p:childTnLst>
                          </p:cTn>
                        </p:par>
                        <p:par>
                          <p:cTn id="64" fill="hold">
                            <p:stCondLst>
                              <p:cond delay="750"/>
                            </p:stCondLst>
                            <p:childTnLst>
                              <p:par>
                                <p:cTn id="65" presetID="10" presetClass="entr" presetSubtype="0" fill="hold"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
                                        <p:tgtEl>
                                          <p:spTgt spid="29"/>
                                        </p:tgtEl>
                                      </p:cBhvr>
                                    </p:animEffect>
                                  </p:childTnLst>
                                </p:cTn>
                              </p:par>
                            </p:childTnLst>
                          </p:cTn>
                        </p:par>
                        <p:par>
                          <p:cTn id="68" fill="hold">
                            <p:stCondLst>
                              <p:cond delay="800"/>
                            </p:stCondLst>
                            <p:childTnLst>
                              <p:par>
                                <p:cTn id="69" presetID="10" presetClass="entr" presetSubtype="0" fill="hold" nodeType="after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
                                        <p:tgtEl>
                                          <p:spTgt spid="30"/>
                                        </p:tgtEl>
                                      </p:cBhvr>
                                    </p:animEffect>
                                  </p:childTnLst>
                                </p:cTn>
                              </p:par>
                            </p:childTnLst>
                          </p:cTn>
                        </p:par>
                        <p:par>
                          <p:cTn id="72" fill="hold">
                            <p:stCondLst>
                              <p:cond delay="850"/>
                            </p:stCondLst>
                            <p:childTnLst>
                              <p:par>
                                <p:cTn id="73" presetID="10" presetClass="entr" presetSubtype="0" fill="hold"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
                                        <p:tgtEl>
                                          <p:spTgt spid="31"/>
                                        </p:tgtEl>
                                      </p:cBhvr>
                                    </p:animEffect>
                                  </p:childTnLst>
                                </p:cTn>
                              </p:par>
                            </p:childTnLst>
                          </p:cTn>
                        </p:par>
                        <p:par>
                          <p:cTn id="76" fill="hold">
                            <p:stCondLst>
                              <p:cond delay="900"/>
                            </p:stCondLst>
                            <p:childTnLst>
                              <p:par>
                                <p:cTn id="77" presetID="10" presetClass="entr" presetSubtype="0" fill="hold" nodeType="after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
                                        <p:tgtEl>
                                          <p:spTgt spid="32"/>
                                        </p:tgtEl>
                                      </p:cBhvr>
                                    </p:animEffect>
                                  </p:childTnLst>
                                </p:cTn>
                              </p:par>
                            </p:childTnLst>
                          </p:cTn>
                        </p:par>
                        <p:par>
                          <p:cTn id="80" fill="hold">
                            <p:stCondLst>
                              <p:cond delay="950"/>
                            </p:stCondLst>
                            <p:childTnLst>
                              <p:par>
                                <p:cTn id="81" presetID="10" presetClass="entr" presetSubtype="0" fill="hold"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
                                        <p:tgtEl>
                                          <p:spTgt spid="33"/>
                                        </p:tgtEl>
                                      </p:cBhvr>
                                    </p:animEffect>
                                  </p:childTnLst>
                                </p:cTn>
                              </p:par>
                            </p:childTnLst>
                          </p:cTn>
                        </p:par>
                        <p:par>
                          <p:cTn id="84" fill="hold">
                            <p:stCondLst>
                              <p:cond delay="1000"/>
                            </p:stCondLst>
                            <p:childTnLst>
                              <p:par>
                                <p:cTn id="85" presetID="10" presetClass="entr" presetSubtype="0" fill="hold" grpId="0" nodeType="after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
                                        <p:tgtEl>
                                          <p:spTgt spid="36"/>
                                        </p:tgtEl>
                                      </p:cBhvr>
                                    </p:animEffect>
                                  </p:childTnLst>
                                </p:cTn>
                              </p:par>
                            </p:childTnLst>
                          </p:cTn>
                        </p:par>
                        <p:par>
                          <p:cTn id="88" fill="hold">
                            <p:stCondLst>
                              <p:cond delay="1050"/>
                            </p:stCondLst>
                            <p:childTnLst>
                              <p:par>
                                <p:cTn id="89" presetID="10" presetClass="entr" presetSubtype="0" fill="hold" grpId="0" nodeType="after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
                                        <p:tgtEl>
                                          <p:spTgt spid="37"/>
                                        </p:tgtEl>
                                      </p:cBhvr>
                                    </p:animEffect>
                                  </p:childTnLst>
                                </p:cTn>
                              </p:par>
                            </p:childTnLst>
                          </p:cTn>
                        </p:par>
                        <p:par>
                          <p:cTn id="92" fill="hold">
                            <p:stCondLst>
                              <p:cond delay="1100"/>
                            </p:stCondLst>
                            <p:childTnLst>
                              <p:par>
                                <p:cTn id="93" presetID="10" presetClass="entr" presetSubtype="0" fill="hold" grpId="0" nodeType="after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50"/>
                                        <p:tgtEl>
                                          <p:spTgt spid="38"/>
                                        </p:tgtEl>
                                      </p:cBhvr>
                                    </p:animEffect>
                                  </p:childTnLst>
                                </p:cTn>
                              </p:par>
                            </p:childTnLst>
                          </p:cTn>
                        </p:par>
                        <p:par>
                          <p:cTn id="96" fill="hold">
                            <p:stCondLst>
                              <p:cond delay="1150"/>
                            </p:stCondLst>
                            <p:childTnLst>
                              <p:par>
                                <p:cTn id="97" presetID="10" presetClass="entr" presetSubtype="0" fill="hold" grpId="0" nodeType="after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50"/>
                                        <p:tgtEl>
                                          <p:spTgt spid="39"/>
                                        </p:tgtEl>
                                      </p:cBhvr>
                                    </p:animEffect>
                                  </p:childTnLst>
                                </p:cTn>
                              </p:par>
                            </p:childTnLst>
                          </p:cTn>
                        </p:par>
                        <p:par>
                          <p:cTn id="100" fill="hold">
                            <p:stCondLst>
                              <p:cond delay="1200"/>
                            </p:stCondLst>
                            <p:childTnLst>
                              <p:par>
                                <p:cTn id="101" presetID="10" presetClass="entr" presetSubtype="0" fill="hold" grpId="0" nodeType="after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
                                        <p:tgtEl>
                                          <p:spTgt spid="40"/>
                                        </p:tgtEl>
                                      </p:cBhvr>
                                    </p:animEffect>
                                  </p:childTnLst>
                                </p:cTn>
                              </p:par>
                            </p:childTnLst>
                          </p:cTn>
                        </p:par>
                        <p:par>
                          <p:cTn id="104" fill="hold">
                            <p:stCondLst>
                              <p:cond delay="1250"/>
                            </p:stCondLst>
                            <p:childTnLst>
                              <p:par>
                                <p:cTn id="105" presetID="10" presetClass="entr" presetSubtype="0" fill="hold" grpId="0" nodeType="after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50"/>
                                        <p:tgtEl>
                                          <p:spTgt spid="41"/>
                                        </p:tgtEl>
                                      </p:cBhvr>
                                    </p:animEffect>
                                  </p:childTnLst>
                                </p:cTn>
                              </p:par>
                            </p:childTnLst>
                          </p:cTn>
                        </p:par>
                        <p:par>
                          <p:cTn id="108" fill="hold">
                            <p:stCondLst>
                              <p:cond delay="1300"/>
                            </p:stCondLst>
                            <p:childTnLst>
                              <p:par>
                                <p:cTn id="109" presetID="10" presetClass="entr" presetSubtype="0" fill="hold" grpId="0" nodeType="after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50"/>
                                        <p:tgtEl>
                                          <p:spTgt spid="42"/>
                                        </p:tgtEl>
                                      </p:cBhvr>
                                    </p:animEffect>
                                  </p:childTnLst>
                                </p:cTn>
                              </p:par>
                            </p:childTnLst>
                          </p:cTn>
                        </p:par>
                        <p:par>
                          <p:cTn id="112" fill="hold">
                            <p:stCondLst>
                              <p:cond delay="1350"/>
                            </p:stCondLst>
                            <p:childTnLst>
                              <p:par>
                                <p:cTn id="113" presetID="10" presetClass="entr" presetSubtype="0" fill="hold" grpId="0" nodeType="afterEffect">
                                  <p:stCondLst>
                                    <p:cond delay="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5" dur="50"/>
                                        <p:tgtEl>
                                          <p:spTgt spid="43"/>
                                        </p:tgtEl>
                                      </p:cBhvr>
                                    </p:animEffect>
                                  </p:childTnLst>
                                </p:cTn>
                              </p:par>
                            </p:childTnLst>
                          </p:cTn>
                        </p:par>
                        <p:par>
                          <p:cTn id="116" fill="hold">
                            <p:stCondLst>
                              <p:cond delay="1400"/>
                            </p:stCondLst>
                            <p:childTnLst>
                              <p:par>
                                <p:cTn id="117" presetID="10" presetClass="entr" presetSubtype="0" fill="hold" grpId="0" nodeType="after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50"/>
                                        <p:tgtEl>
                                          <p:spTgt spid="44"/>
                                        </p:tgtEl>
                                      </p:cBhvr>
                                    </p:animEffect>
                                  </p:childTnLst>
                                </p:cTn>
                              </p:par>
                            </p:childTnLst>
                          </p:cTn>
                        </p:par>
                        <p:par>
                          <p:cTn id="120" fill="hold">
                            <p:stCondLst>
                              <p:cond delay="1450"/>
                            </p:stCondLst>
                            <p:childTnLst>
                              <p:par>
                                <p:cTn id="121" presetID="10" presetClass="entr" presetSubtype="0" fill="hold" grpId="0" nodeType="after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
                                        <p:tgtEl>
                                          <p:spTgt spid="45"/>
                                        </p:tgtEl>
                                      </p:cBhvr>
                                    </p:animEffect>
                                  </p:childTnLst>
                                </p:cTn>
                              </p:par>
                            </p:childTnLst>
                          </p:cTn>
                        </p:par>
                        <p:par>
                          <p:cTn id="124" fill="hold">
                            <p:stCondLst>
                              <p:cond delay="1500"/>
                            </p:stCondLst>
                            <p:childTnLst>
                              <p:par>
                                <p:cTn id="125" presetID="10" presetClass="entr" presetSubtype="0" fill="hold" grpId="0" nodeType="after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
                                        <p:tgtEl>
                                          <p:spTgt spid="46"/>
                                        </p:tgtEl>
                                      </p:cBhvr>
                                    </p:animEffect>
                                  </p:childTnLst>
                                </p:cTn>
                              </p:par>
                            </p:childTnLst>
                          </p:cTn>
                        </p:par>
                        <p:par>
                          <p:cTn id="128" fill="hold">
                            <p:stCondLst>
                              <p:cond delay="1550"/>
                            </p:stCondLst>
                            <p:childTnLst>
                              <p:par>
                                <p:cTn id="129" presetID="10" presetClass="entr" presetSubtype="0" fill="hold" grpId="0" nodeType="after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50"/>
                                        <p:tgtEl>
                                          <p:spTgt spid="47"/>
                                        </p:tgtEl>
                                      </p:cBhvr>
                                    </p:animEffect>
                                  </p:childTnLst>
                                </p:cTn>
                              </p:par>
                            </p:childTnLst>
                          </p:cTn>
                        </p:par>
                        <p:par>
                          <p:cTn id="132" fill="hold">
                            <p:stCondLst>
                              <p:cond delay="1600"/>
                            </p:stCondLst>
                            <p:childTnLst>
                              <p:par>
                                <p:cTn id="133" presetID="10" presetClass="entr" presetSubtype="0" fill="hold" grpId="0" nodeType="after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50"/>
                                        <p:tgtEl>
                                          <p:spTgt spid="48"/>
                                        </p:tgtEl>
                                      </p:cBhvr>
                                    </p:animEffect>
                                  </p:childTnLst>
                                </p:cTn>
                              </p:par>
                            </p:childTnLst>
                          </p:cTn>
                        </p:par>
                        <p:par>
                          <p:cTn id="136" fill="hold">
                            <p:stCondLst>
                              <p:cond delay="1650"/>
                            </p:stCondLst>
                            <p:childTnLst>
                              <p:par>
                                <p:cTn id="137" presetID="10" presetClass="entr" presetSubtype="0" fill="hold" grpId="0" nodeType="after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8"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7593" y="1028700"/>
            <a:ext cx="5677321" cy="6447469"/>
            <a:chOff x="0" y="0"/>
            <a:chExt cx="1495261" cy="1698099"/>
          </a:xfrm>
        </p:grpSpPr>
        <p:sp>
          <p:nvSpPr>
            <p:cNvPr id="3" name="Freeform 3"/>
            <p:cNvSpPr/>
            <p:nvPr/>
          </p:nvSpPr>
          <p:spPr>
            <a:xfrm>
              <a:off x="0" y="0"/>
              <a:ext cx="1495261" cy="1698099"/>
            </a:xfrm>
            <a:custGeom>
              <a:avLst/>
              <a:gdLst/>
              <a:ahLst/>
              <a:cxnLst/>
              <a:rect l="l" t="t" r="r" b="b"/>
              <a:pathLst>
                <a:path w="1495261" h="1698099">
                  <a:moveTo>
                    <a:pt x="69547" y="0"/>
                  </a:moveTo>
                  <a:lnTo>
                    <a:pt x="1425715" y="0"/>
                  </a:lnTo>
                  <a:cubicBezTo>
                    <a:pt x="1464124" y="0"/>
                    <a:pt x="1495261" y="31137"/>
                    <a:pt x="1495261" y="69547"/>
                  </a:cubicBezTo>
                  <a:lnTo>
                    <a:pt x="1495261" y="1628552"/>
                  </a:lnTo>
                  <a:cubicBezTo>
                    <a:pt x="1495261" y="1646997"/>
                    <a:pt x="1487934" y="1664687"/>
                    <a:pt x="1474892" y="1677729"/>
                  </a:cubicBezTo>
                  <a:cubicBezTo>
                    <a:pt x="1461849" y="1690772"/>
                    <a:pt x="1444160" y="1698099"/>
                    <a:pt x="1425715" y="1698099"/>
                  </a:cubicBezTo>
                  <a:lnTo>
                    <a:pt x="69547" y="1698099"/>
                  </a:lnTo>
                  <a:cubicBezTo>
                    <a:pt x="31137" y="1698099"/>
                    <a:pt x="0" y="1666962"/>
                    <a:pt x="0" y="1628552"/>
                  </a:cubicBezTo>
                  <a:lnTo>
                    <a:pt x="0" y="69547"/>
                  </a:lnTo>
                  <a:cubicBezTo>
                    <a:pt x="0" y="31137"/>
                    <a:pt x="31137" y="0"/>
                    <a:pt x="69547" y="0"/>
                  </a:cubicBezTo>
                  <a:close/>
                </a:path>
              </a:pathLst>
            </a:custGeom>
            <a:ln w="38100" cap="rnd">
              <a:solidFill>
                <a:srgbClr val="000000"/>
              </a:solidFill>
              <a:prstDash val="solid"/>
              <a:round/>
            </a:ln>
          </p:spPr>
        </p:sp>
        <p:sp>
          <p:nvSpPr>
            <p:cNvPr id="4" name="TextBox 4"/>
            <p:cNvSpPr txBox="1"/>
            <p:nvPr/>
          </p:nvSpPr>
          <p:spPr>
            <a:xfrm>
              <a:off x="0" y="-57150"/>
              <a:ext cx="1495261" cy="1755249"/>
            </a:xfrm>
            <a:prstGeom prst="rect">
              <a:avLst/>
            </a:prstGeom>
          </p:spPr>
          <p:txBody>
            <a:bodyPr lIns="50800" tIns="50800" rIns="50800" bIns="50800" rtlCol="0" anchor="ctr"/>
            <a:lstStyle/>
            <a:p>
              <a:pPr algn="ctr">
                <a:lnSpc>
                  <a:spcPts val="2380"/>
                </a:lnSpc>
              </a:pPr>
              <a:endParaRPr/>
            </a:p>
          </p:txBody>
        </p:sp>
      </p:grpSp>
      <p:sp>
        <p:nvSpPr>
          <p:cNvPr id="5" name="TextBox 5"/>
          <p:cNvSpPr txBox="1"/>
          <p:nvPr/>
        </p:nvSpPr>
        <p:spPr>
          <a:xfrm>
            <a:off x="5217765" y="-66675"/>
            <a:ext cx="7852470" cy="1011046"/>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ea typeface="Poppins Bold"/>
                <a:cs typeface="Poppins Bold"/>
                <a:sym typeface="Poppins Bold"/>
              </a:rPr>
              <a:t>ĐÁNH GIÁ HỆ THỐNG</a:t>
            </a:r>
          </a:p>
        </p:txBody>
      </p:sp>
      <p:grpSp>
        <p:nvGrpSpPr>
          <p:cNvPr id="6" name="Group 6"/>
          <p:cNvGrpSpPr/>
          <p:nvPr/>
        </p:nvGrpSpPr>
        <p:grpSpPr>
          <a:xfrm>
            <a:off x="6534014" y="1028700"/>
            <a:ext cx="5442911" cy="6447469"/>
            <a:chOff x="0" y="0"/>
            <a:chExt cx="1433524" cy="1698099"/>
          </a:xfrm>
        </p:grpSpPr>
        <p:sp>
          <p:nvSpPr>
            <p:cNvPr id="7" name="Freeform 7"/>
            <p:cNvSpPr/>
            <p:nvPr/>
          </p:nvSpPr>
          <p:spPr>
            <a:xfrm>
              <a:off x="0" y="0"/>
              <a:ext cx="1433524" cy="1698099"/>
            </a:xfrm>
            <a:custGeom>
              <a:avLst/>
              <a:gdLst/>
              <a:ahLst/>
              <a:cxnLst/>
              <a:rect l="l" t="t" r="r" b="b"/>
              <a:pathLst>
                <a:path w="1433524" h="1698099">
                  <a:moveTo>
                    <a:pt x="72542" y="0"/>
                  </a:moveTo>
                  <a:lnTo>
                    <a:pt x="1360982" y="0"/>
                  </a:lnTo>
                  <a:cubicBezTo>
                    <a:pt x="1401046" y="0"/>
                    <a:pt x="1433524" y="32478"/>
                    <a:pt x="1433524" y="72542"/>
                  </a:cubicBezTo>
                  <a:lnTo>
                    <a:pt x="1433524" y="1625557"/>
                  </a:lnTo>
                  <a:cubicBezTo>
                    <a:pt x="1433524" y="1665621"/>
                    <a:pt x="1401046" y="1698099"/>
                    <a:pt x="1360982" y="1698099"/>
                  </a:cubicBezTo>
                  <a:lnTo>
                    <a:pt x="72542" y="1698099"/>
                  </a:lnTo>
                  <a:cubicBezTo>
                    <a:pt x="32478" y="1698099"/>
                    <a:pt x="0" y="1665621"/>
                    <a:pt x="0" y="1625557"/>
                  </a:cubicBezTo>
                  <a:lnTo>
                    <a:pt x="0" y="72542"/>
                  </a:lnTo>
                  <a:cubicBezTo>
                    <a:pt x="0" y="32478"/>
                    <a:pt x="32478" y="0"/>
                    <a:pt x="72542" y="0"/>
                  </a:cubicBezTo>
                  <a:close/>
                </a:path>
              </a:pathLst>
            </a:custGeom>
            <a:ln w="38100" cap="rnd">
              <a:solidFill>
                <a:srgbClr val="000000"/>
              </a:solidFill>
              <a:prstDash val="solid"/>
              <a:round/>
            </a:ln>
          </p:spPr>
        </p:sp>
        <p:sp>
          <p:nvSpPr>
            <p:cNvPr id="8" name="TextBox 8"/>
            <p:cNvSpPr txBox="1"/>
            <p:nvPr/>
          </p:nvSpPr>
          <p:spPr>
            <a:xfrm>
              <a:off x="0" y="-57150"/>
              <a:ext cx="1433524" cy="1755249"/>
            </a:xfrm>
            <a:prstGeom prst="rect">
              <a:avLst/>
            </a:prstGeom>
          </p:spPr>
          <p:txBody>
            <a:bodyPr lIns="50800" tIns="50800" rIns="50800" bIns="50800" rtlCol="0" anchor="ctr"/>
            <a:lstStyle/>
            <a:p>
              <a:pPr algn="ctr">
                <a:lnSpc>
                  <a:spcPts val="2380"/>
                </a:lnSpc>
              </a:pPr>
              <a:endParaRPr/>
            </a:p>
          </p:txBody>
        </p:sp>
      </p:grpSp>
      <p:grpSp>
        <p:nvGrpSpPr>
          <p:cNvPr id="9" name="Group 9"/>
          <p:cNvGrpSpPr/>
          <p:nvPr/>
        </p:nvGrpSpPr>
        <p:grpSpPr>
          <a:xfrm>
            <a:off x="12398856" y="1028700"/>
            <a:ext cx="5405382" cy="6447469"/>
            <a:chOff x="0" y="0"/>
            <a:chExt cx="1423640" cy="1698099"/>
          </a:xfrm>
        </p:grpSpPr>
        <p:sp>
          <p:nvSpPr>
            <p:cNvPr id="10" name="Freeform 10"/>
            <p:cNvSpPr/>
            <p:nvPr/>
          </p:nvSpPr>
          <p:spPr>
            <a:xfrm>
              <a:off x="0" y="0"/>
              <a:ext cx="1423640" cy="1698099"/>
            </a:xfrm>
            <a:custGeom>
              <a:avLst/>
              <a:gdLst/>
              <a:ahLst/>
              <a:cxnLst/>
              <a:rect l="l" t="t" r="r" b="b"/>
              <a:pathLst>
                <a:path w="1423640" h="1698099">
                  <a:moveTo>
                    <a:pt x="73045" y="0"/>
                  </a:moveTo>
                  <a:lnTo>
                    <a:pt x="1350594" y="0"/>
                  </a:lnTo>
                  <a:cubicBezTo>
                    <a:pt x="1390936" y="0"/>
                    <a:pt x="1423640" y="32704"/>
                    <a:pt x="1423640" y="73045"/>
                  </a:cubicBezTo>
                  <a:lnTo>
                    <a:pt x="1423640" y="1625054"/>
                  </a:lnTo>
                  <a:cubicBezTo>
                    <a:pt x="1423640" y="1644426"/>
                    <a:pt x="1415944" y="1663006"/>
                    <a:pt x="1402245" y="1676704"/>
                  </a:cubicBezTo>
                  <a:cubicBezTo>
                    <a:pt x="1388547" y="1690403"/>
                    <a:pt x="1369967" y="1698099"/>
                    <a:pt x="1350594" y="1698099"/>
                  </a:cubicBezTo>
                  <a:lnTo>
                    <a:pt x="73045" y="1698099"/>
                  </a:lnTo>
                  <a:cubicBezTo>
                    <a:pt x="32704" y="1698099"/>
                    <a:pt x="0" y="1665395"/>
                    <a:pt x="0" y="1625054"/>
                  </a:cubicBezTo>
                  <a:lnTo>
                    <a:pt x="0" y="73045"/>
                  </a:lnTo>
                  <a:cubicBezTo>
                    <a:pt x="0" y="53673"/>
                    <a:pt x="7696" y="35093"/>
                    <a:pt x="21394" y="21394"/>
                  </a:cubicBezTo>
                  <a:cubicBezTo>
                    <a:pt x="35093" y="7696"/>
                    <a:pt x="53673" y="0"/>
                    <a:pt x="73045" y="0"/>
                  </a:cubicBezTo>
                  <a:close/>
                </a:path>
              </a:pathLst>
            </a:custGeom>
            <a:ln w="38100" cap="rnd">
              <a:solidFill>
                <a:srgbClr val="000000"/>
              </a:solidFill>
              <a:prstDash val="solid"/>
              <a:round/>
            </a:ln>
          </p:spPr>
        </p:sp>
        <p:sp>
          <p:nvSpPr>
            <p:cNvPr id="11" name="TextBox 11"/>
            <p:cNvSpPr txBox="1"/>
            <p:nvPr/>
          </p:nvSpPr>
          <p:spPr>
            <a:xfrm>
              <a:off x="0" y="-57150"/>
              <a:ext cx="1423640" cy="1755249"/>
            </a:xfrm>
            <a:prstGeom prst="rect">
              <a:avLst/>
            </a:prstGeom>
          </p:spPr>
          <p:txBody>
            <a:bodyPr lIns="50800" tIns="50800" rIns="50800" bIns="50800" rtlCol="0" anchor="ctr"/>
            <a:lstStyle/>
            <a:p>
              <a:pPr algn="ctr">
                <a:lnSpc>
                  <a:spcPts val="2380"/>
                </a:lnSpc>
              </a:pPr>
              <a:endParaRPr/>
            </a:p>
          </p:txBody>
        </p:sp>
      </p:grpSp>
      <p:sp>
        <p:nvSpPr>
          <p:cNvPr id="12" name="Freeform 12"/>
          <p:cNvSpPr/>
          <p:nvPr/>
        </p:nvSpPr>
        <p:spPr>
          <a:xfrm>
            <a:off x="654165" y="1256243"/>
            <a:ext cx="990491" cy="990491"/>
          </a:xfrm>
          <a:custGeom>
            <a:avLst/>
            <a:gdLst/>
            <a:ahLst/>
            <a:cxnLst/>
            <a:rect l="l" t="t" r="r" b="b"/>
            <a:pathLst>
              <a:path w="990491" h="990491">
                <a:moveTo>
                  <a:pt x="0" y="0"/>
                </a:moveTo>
                <a:lnTo>
                  <a:pt x="990491" y="0"/>
                </a:lnTo>
                <a:lnTo>
                  <a:pt x="990491" y="990491"/>
                </a:lnTo>
                <a:lnTo>
                  <a:pt x="0" y="9904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028700" y="2571112"/>
            <a:ext cx="457029" cy="457029"/>
          </a:xfrm>
          <a:custGeom>
            <a:avLst/>
            <a:gdLst/>
            <a:ahLst/>
            <a:cxnLst/>
            <a:rect l="l" t="t" r="r" b="b"/>
            <a:pathLst>
              <a:path w="457029" h="457029">
                <a:moveTo>
                  <a:pt x="0" y="0"/>
                </a:moveTo>
                <a:lnTo>
                  <a:pt x="457029" y="0"/>
                </a:lnTo>
                <a:lnTo>
                  <a:pt x="457029" y="457029"/>
                </a:lnTo>
                <a:lnTo>
                  <a:pt x="0" y="4570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028700" y="3351991"/>
            <a:ext cx="457029" cy="457029"/>
          </a:xfrm>
          <a:custGeom>
            <a:avLst/>
            <a:gdLst/>
            <a:ahLst/>
            <a:cxnLst/>
            <a:rect l="l" t="t" r="r" b="b"/>
            <a:pathLst>
              <a:path w="457029" h="457029">
                <a:moveTo>
                  <a:pt x="0" y="0"/>
                </a:moveTo>
                <a:lnTo>
                  <a:pt x="457029" y="0"/>
                </a:lnTo>
                <a:lnTo>
                  <a:pt x="457029" y="457029"/>
                </a:lnTo>
                <a:lnTo>
                  <a:pt x="0" y="4570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028700" y="4133488"/>
            <a:ext cx="457029" cy="457029"/>
          </a:xfrm>
          <a:custGeom>
            <a:avLst/>
            <a:gdLst/>
            <a:ahLst/>
            <a:cxnLst/>
            <a:rect l="l" t="t" r="r" b="b"/>
            <a:pathLst>
              <a:path w="457029" h="457029">
                <a:moveTo>
                  <a:pt x="0" y="0"/>
                </a:moveTo>
                <a:lnTo>
                  <a:pt x="457029" y="0"/>
                </a:lnTo>
                <a:lnTo>
                  <a:pt x="457029" y="457029"/>
                </a:lnTo>
                <a:lnTo>
                  <a:pt x="0" y="4570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a:off x="1028700" y="4914986"/>
            <a:ext cx="457029" cy="457029"/>
          </a:xfrm>
          <a:custGeom>
            <a:avLst/>
            <a:gdLst/>
            <a:ahLst/>
            <a:cxnLst/>
            <a:rect l="l" t="t" r="r" b="b"/>
            <a:pathLst>
              <a:path w="457029" h="457029">
                <a:moveTo>
                  <a:pt x="0" y="0"/>
                </a:moveTo>
                <a:lnTo>
                  <a:pt x="457029" y="0"/>
                </a:lnTo>
                <a:lnTo>
                  <a:pt x="457029" y="457028"/>
                </a:lnTo>
                <a:lnTo>
                  <a:pt x="0" y="4570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1028700" y="5695864"/>
            <a:ext cx="457029" cy="457029"/>
          </a:xfrm>
          <a:custGeom>
            <a:avLst/>
            <a:gdLst/>
            <a:ahLst/>
            <a:cxnLst/>
            <a:rect l="l" t="t" r="r" b="b"/>
            <a:pathLst>
              <a:path w="457029" h="457029">
                <a:moveTo>
                  <a:pt x="0" y="0"/>
                </a:moveTo>
                <a:lnTo>
                  <a:pt x="457029" y="0"/>
                </a:lnTo>
                <a:lnTo>
                  <a:pt x="457029" y="457029"/>
                </a:lnTo>
                <a:lnTo>
                  <a:pt x="0" y="4570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a:off x="1028700" y="6476743"/>
            <a:ext cx="457029" cy="457029"/>
          </a:xfrm>
          <a:custGeom>
            <a:avLst/>
            <a:gdLst/>
            <a:ahLst/>
            <a:cxnLst/>
            <a:rect l="l" t="t" r="r" b="b"/>
            <a:pathLst>
              <a:path w="457029" h="457029">
                <a:moveTo>
                  <a:pt x="0" y="0"/>
                </a:moveTo>
                <a:lnTo>
                  <a:pt x="457029" y="0"/>
                </a:lnTo>
                <a:lnTo>
                  <a:pt x="457029" y="457029"/>
                </a:lnTo>
                <a:lnTo>
                  <a:pt x="0" y="4570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a:off x="6746530" y="1256243"/>
            <a:ext cx="1100546" cy="990491"/>
          </a:xfrm>
          <a:custGeom>
            <a:avLst/>
            <a:gdLst/>
            <a:ahLst/>
            <a:cxnLst/>
            <a:rect l="l" t="t" r="r" b="b"/>
            <a:pathLst>
              <a:path w="1100546" h="990491">
                <a:moveTo>
                  <a:pt x="0" y="0"/>
                </a:moveTo>
                <a:lnTo>
                  <a:pt x="1100546" y="0"/>
                </a:lnTo>
                <a:lnTo>
                  <a:pt x="1100546" y="990491"/>
                </a:lnTo>
                <a:lnTo>
                  <a:pt x="0" y="9904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10225116" y="6075192"/>
            <a:ext cx="1393347" cy="1246412"/>
          </a:xfrm>
          <a:custGeom>
            <a:avLst/>
            <a:gdLst/>
            <a:ahLst/>
            <a:cxnLst/>
            <a:rect l="l" t="t" r="r" b="b"/>
            <a:pathLst>
              <a:path w="1393347" h="1246412">
                <a:moveTo>
                  <a:pt x="0" y="0"/>
                </a:moveTo>
                <a:lnTo>
                  <a:pt x="1393346" y="0"/>
                </a:lnTo>
                <a:lnTo>
                  <a:pt x="1393346" y="1246411"/>
                </a:lnTo>
                <a:lnTo>
                  <a:pt x="0" y="12464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Freeform 21"/>
          <p:cNvSpPr/>
          <p:nvPr/>
        </p:nvSpPr>
        <p:spPr>
          <a:xfrm>
            <a:off x="12712885" y="1251480"/>
            <a:ext cx="954473" cy="990491"/>
          </a:xfrm>
          <a:custGeom>
            <a:avLst/>
            <a:gdLst/>
            <a:ahLst/>
            <a:cxnLst/>
            <a:rect l="l" t="t" r="r" b="b"/>
            <a:pathLst>
              <a:path w="954473" h="990491">
                <a:moveTo>
                  <a:pt x="0" y="0"/>
                </a:moveTo>
                <a:lnTo>
                  <a:pt x="954473" y="0"/>
                </a:lnTo>
                <a:lnTo>
                  <a:pt x="954473" y="990492"/>
                </a:lnTo>
                <a:lnTo>
                  <a:pt x="0" y="9904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22" name="Group 22"/>
          <p:cNvGrpSpPr/>
          <p:nvPr/>
        </p:nvGrpSpPr>
        <p:grpSpPr>
          <a:xfrm>
            <a:off x="12853225" y="2571112"/>
            <a:ext cx="396125" cy="379327"/>
            <a:chOff x="0" y="0"/>
            <a:chExt cx="812800" cy="778333"/>
          </a:xfrm>
        </p:grpSpPr>
        <p:sp>
          <p:nvSpPr>
            <p:cNvPr id="23" name="Freeform 23"/>
            <p:cNvSpPr/>
            <p:nvPr/>
          </p:nvSpPr>
          <p:spPr>
            <a:xfrm>
              <a:off x="0" y="0"/>
              <a:ext cx="812800" cy="778333"/>
            </a:xfrm>
            <a:custGeom>
              <a:avLst/>
              <a:gdLst/>
              <a:ahLst/>
              <a:cxnLst/>
              <a:rect l="l" t="t" r="r" b="b"/>
              <a:pathLst>
                <a:path w="812800" h="778333">
                  <a:moveTo>
                    <a:pt x="406400" y="0"/>
                  </a:moveTo>
                  <a:lnTo>
                    <a:pt x="535715" y="265335"/>
                  </a:lnTo>
                  <a:lnTo>
                    <a:pt x="812800" y="389166"/>
                  </a:lnTo>
                  <a:lnTo>
                    <a:pt x="535715" y="512998"/>
                  </a:lnTo>
                  <a:lnTo>
                    <a:pt x="406400" y="778333"/>
                  </a:lnTo>
                  <a:lnTo>
                    <a:pt x="277085" y="512998"/>
                  </a:lnTo>
                  <a:lnTo>
                    <a:pt x="0" y="389166"/>
                  </a:lnTo>
                  <a:lnTo>
                    <a:pt x="277085" y="265335"/>
                  </a:lnTo>
                  <a:lnTo>
                    <a:pt x="406400" y="0"/>
                  </a:lnTo>
                  <a:close/>
                </a:path>
              </a:pathLst>
            </a:custGeom>
            <a:solidFill>
              <a:srgbClr val="FFDE59"/>
            </a:solidFill>
          </p:spPr>
        </p:sp>
        <p:sp>
          <p:nvSpPr>
            <p:cNvPr id="24" name="TextBox 24"/>
            <p:cNvSpPr txBox="1"/>
            <p:nvPr/>
          </p:nvSpPr>
          <p:spPr>
            <a:xfrm>
              <a:off x="190500" y="125272"/>
              <a:ext cx="431800" cy="470639"/>
            </a:xfrm>
            <a:prstGeom prst="rect">
              <a:avLst/>
            </a:prstGeom>
          </p:spPr>
          <p:txBody>
            <a:bodyPr lIns="50800" tIns="50800" rIns="50800" bIns="50800" rtlCol="0" anchor="ctr"/>
            <a:lstStyle/>
            <a:p>
              <a:pPr algn="ctr">
                <a:lnSpc>
                  <a:spcPts val="2380"/>
                </a:lnSpc>
              </a:pPr>
              <a:endParaRPr/>
            </a:p>
          </p:txBody>
        </p:sp>
      </p:grpSp>
      <p:grpSp>
        <p:nvGrpSpPr>
          <p:cNvPr id="25" name="Group 25"/>
          <p:cNvGrpSpPr/>
          <p:nvPr/>
        </p:nvGrpSpPr>
        <p:grpSpPr>
          <a:xfrm>
            <a:off x="12853225" y="3201179"/>
            <a:ext cx="396125" cy="379327"/>
            <a:chOff x="0" y="0"/>
            <a:chExt cx="812800" cy="778333"/>
          </a:xfrm>
        </p:grpSpPr>
        <p:sp>
          <p:nvSpPr>
            <p:cNvPr id="26" name="Freeform 26"/>
            <p:cNvSpPr/>
            <p:nvPr/>
          </p:nvSpPr>
          <p:spPr>
            <a:xfrm>
              <a:off x="0" y="0"/>
              <a:ext cx="812800" cy="778333"/>
            </a:xfrm>
            <a:custGeom>
              <a:avLst/>
              <a:gdLst/>
              <a:ahLst/>
              <a:cxnLst/>
              <a:rect l="l" t="t" r="r" b="b"/>
              <a:pathLst>
                <a:path w="812800" h="778333">
                  <a:moveTo>
                    <a:pt x="406400" y="0"/>
                  </a:moveTo>
                  <a:lnTo>
                    <a:pt x="535715" y="265335"/>
                  </a:lnTo>
                  <a:lnTo>
                    <a:pt x="812800" y="389166"/>
                  </a:lnTo>
                  <a:lnTo>
                    <a:pt x="535715" y="512998"/>
                  </a:lnTo>
                  <a:lnTo>
                    <a:pt x="406400" y="778333"/>
                  </a:lnTo>
                  <a:lnTo>
                    <a:pt x="277085" y="512998"/>
                  </a:lnTo>
                  <a:lnTo>
                    <a:pt x="0" y="389166"/>
                  </a:lnTo>
                  <a:lnTo>
                    <a:pt x="277085" y="265335"/>
                  </a:lnTo>
                  <a:lnTo>
                    <a:pt x="406400" y="0"/>
                  </a:lnTo>
                  <a:close/>
                </a:path>
              </a:pathLst>
            </a:custGeom>
            <a:solidFill>
              <a:srgbClr val="FFDE59"/>
            </a:solidFill>
          </p:spPr>
        </p:sp>
        <p:sp>
          <p:nvSpPr>
            <p:cNvPr id="27" name="TextBox 27"/>
            <p:cNvSpPr txBox="1"/>
            <p:nvPr/>
          </p:nvSpPr>
          <p:spPr>
            <a:xfrm>
              <a:off x="190500" y="125272"/>
              <a:ext cx="431800" cy="470639"/>
            </a:xfrm>
            <a:prstGeom prst="rect">
              <a:avLst/>
            </a:prstGeom>
          </p:spPr>
          <p:txBody>
            <a:bodyPr lIns="50800" tIns="50800" rIns="50800" bIns="50800" rtlCol="0" anchor="ctr"/>
            <a:lstStyle/>
            <a:p>
              <a:pPr algn="ctr">
                <a:lnSpc>
                  <a:spcPts val="2380"/>
                </a:lnSpc>
              </a:pPr>
              <a:endParaRPr/>
            </a:p>
          </p:txBody>
        </p:sp>
      </p:grpSp>
      <p:grpSp>
        <p:nvGrpSpPr>
          <p:cNvPr id="28" name="Group 28"/>
          <p:cNvGrpSpPr/>
          <p:nvPr/>
        </p:nvGrpSpPr>
        <p:grpSpPr>
          <a:xfrm>
            <a:off x="12872172" y="3873107"/>
            <a:ext cx="396125" cy="379327"/>
            <a:chOff x="0" y="0"/>
            <a:chExt cx="812800" cy="778333"/>
          </a:xfrm>
        </p:grpSpPr>
        <p:sp>
          <p:nvSpPr>
            <p:cNvPr id="29" name="Freeform 29"/>
            <p:cNvSpPr/>
            <p:nvPr/>
          </p:nvSpPr>
          <p:spPr>
            <a:xfrm>
              <a:off x="0" y="0"/>
              <a:ext cx="812800" cy="778333"/>
            </a:xfrm>
            <a:custGeom>
              <a:avLst/>
              <a:gdLst/>
              <a:ahLst/>
              <a:cxnLst/>
              <a:rect l="l" t="t" r="r" b="b"/>
              <a:pathLst>
                <a:path w="812800" h="778333">
                  <a:moveTo>
                    <a:pt x="406400" y="0"/>
                  </a:moveTo>
                  <a:lnTo>
                    <a:pt x="535715" y="265335"/>
                  </a:lnTo>
                  <a:lnTo>
                    <a:pt x="812800" y="389166"/>
                  </a:lnTo>
                  <a:lnTo>
                    <a:pt x="535715" y="512998"/>
                  </a:lnTo>
                  <a:lnTo>
                    <a:pt x="406400" y="778333"/>
                  </a:lnTo>
                  <a:lnTo>
                    <a:pt x="277085" y="512998"/>
                  </a:lnTo>
                  <a:lnTo>
                    <a:pt x="0" y="389166"/>
                  </a:lnTo>
                  <a:lnTo>
                    <a:pt x="277085" y="265335"/>
                  </a:lnTo>
                  <a:lnTo>
                    <a:pt x="406400" y="0"/>
                  </a:lnTo>
                  <a:close/>
                </a:path>
              </a:pathLst>
            </a:custGeom>
            <a:solidFill>
              <a:srgbClr val="FFDE59"/>
            </a:solidFill>
          </p:spPr>
        </p:sp>
        <p:sp>
          <p:nvSpPr>
            <p:cNvPr id="30" name="TextBox 30"/>
            <p:cNvSpPr txBox="1"/>
            <p:nvPr/>
          </p:nvSpPr>
          <p:spPr>
            <a:xfrm>
              <a:off x="190500" y="125272"/>
              <a:ext cx="431800" cy="470639"/>
            </a:xfrm>
            <a:prstGeom prst="rect">
              <a:avLst/>
            </a:prstGeom>
          </p:spPr>
          <p:txBody>
            <a:bodyPr lIns="50800" tIns="50800" rIns="50800" bIns="50800" rtlCol="0" anchor="ctr"/>
            <a:lstStyle/>
            <a:p>
              <a:pPr algn="ctr">
                <a:lnSpc>
                  <a:spcPts val="2380"/>
                </a:lnSpc>
              </a:pPr>
              <a:endParaRPr/>
            </a:p>
          </p:txBody>
        </p:sp>
      </p:grpSp>
      <p:grpSp>
        <p:nvGrpSpPr>
          <p:cNvPr id="31" name="Group 31"/>
          <p:cNvGrpSpPr/>
          <p:nvPr/>
        </p:nvGrpSpPr>
        <p:grpSpPr>
          <a:xfrm>
            <a:off x="12872172" y="4609120"/>
            <a:ext cx="396125" cy="379327"/>
            <a:chOff x="0" y="0"/>
            <a:chExt cx="812800" cy="778333"/>
          </a:xfrm>
        </p:grpSpPr>
        <p:sp>
          <p:nvSpPr>
            <p:cNvPr id="32" name="Freeform 32"/>
            <p:cNvSpPr/>
            <p:nvPr/>
          </p:nvSpPr>
          <p:spPr>
            <a:xfrm>
              <a:off x="0" y="0"/>
              <a:ext cx="812800" cy="778333"/>
            </a:xfrm>
            <a:custGeom>
              <a:avLst/>
              <a:gdLst/>
              <a:ahLst/>
              <a:cxnLst/>
              <a:rect l="l" t="t" r="r" b="b"/>
              <a:pathLst>
                <a:path w="812800" h="778333">
                  <a:moveTo>
                    <a:pt x="406400" y="0"/>
                  </a:moveTo>
                  <a:lnTo>
                    <a:pt x="535715" y="265335"/>
                  </a:lnTo>
                  <a:lnTo>
                    <a:pt x="812800" y="389166"/>
                  </a:lnTo>
                  <a:lnTo>
                    <a:pt x="535715" y="512998"/>
                  </a:lnTo>
                  <a:lnTo>
                    <a:pt x="406400" y="778333"/>
                  </a:lnTo>
                  <a:lnTo>
                    <a:pt x="277085" y="512998"/>
                  </a:lnTo>
                  <a:lnTo>
                    <a:pt x="0" y="389166"/>
                  </a:lnTo>
                  <a:lnTo>
                    <a:pt x="277085" y="265335"/>
                  </a:lnTo>
                  <a:lnTo>
                    <a:pt x="406400" y="0"/>
                  </a:lnTo>
                  <a:close/>
                </a:path>
              </a:pathLst>
            </a:custGeom>
            <a:solidFill>
              <a:srgbClr val="FFDE59"/>
            </a:solidFill>
          </p:spPr>
        </p:sp>
        <p:sp>
          <p:nvSpPr>
            <p:cNvPr id="33" name="TextBox 33"/>
            <p:cNvSpPr txBox="1"/>
            <p:nvPr/>
          </p:nvSpPr>
          <p:spPr>
            <a:xfrm>
              <a:off x="190500" y="125272"/>
              <a:ext cx="431800" cy="470639"/>
            </a:xfrm>
            <a:prstGeom prst="rect">
              <a:avLst/>
            </a:prstGeom>
          </p:spPr>
          <p:txBody>
            <a:bodyPr lIns="50800" tIns="50800" rIns="50800" bIns="50800" rtlCol="0" anchor="ctr"/>
            <a:lstStyle/>
            <a:p>
              <a:pPr algn="ctr">
                <a:lnSpc>
                  <a:spcPts val="2380"/>
                </a:lnSpc>
              </a:pPr>
              <a:endParaRPr/>
            </a:p>
          </p:txBody>
        </p:sp>
      </p:grpSp>
      <p:sp>
        <p:nvSpPr>
          <p:cNvPr id="34" name="Freeform 34"/>
          <p:cNvSpPr/>
          <p:nvPr/>
        </p:nvSpPr>
        <p:spPr>
          <a:xfrm>
            <a:off x="16212991" y="5797367"/>
            <a:ext cx="1417660" cy="1508149"/>
          </a:xfrm>
          <a:custGeom>
            <a:avLst/>
            <a:gdLst/>
            <a:ahLst/>
            <a:cxnLst/>
            <a:rect l="l" t="t" r="r" b="b"/>
            <a:pathLst>
              <a:path w="1417660" h="1508149">
                <a:moveTo>
                  <a:pt x="0" y="0"/>
                </a:moveTo>
                <a:lnTo>
                  <a:pt x="1417660" y="0"/>
                </a:lnTo>
                <a:lnTo>
                  <a:pt x="1417660" y="1508149"/>
                </a:lnTo>
                <a:lnTo>
                  <a:pt x="0" y="150814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35" name="Group 35"/>
          <p:cNvGrpSpPr/>
          <p:nvPr/>
        </p:nvGrpSpPr>
        <p:grpSpPr>
          <a:xfrm>
            <a:off x="654165" y="7647619"/>
            <a:ext cx="16976487" cy="1171661"/>
            <a:chOff x="0" y="0"/>
            <a:chExt cx="4471173" cy="308585"/>
          </a:xfrm>
        </p:grpSpPr>
        <p:sp>
          <p:nvSpPr>
            <p:cNvPr id="36" name="Freeform 36"/>
            <p:cNvSpPr/>
            <p:nvPr/>
          </p:nvSpPr>
          <p:spPr>
            <a:xfrm>
              <a:off x="0" y="0"/>
              <a:ext cx="4471174" cy="308586"/>
            </a:xfrm>
            <a:custGeom>
              <a:avLst/>
              <a:gdLst/>
              <a:ahLst/>
              <a:cxnLst/>
              <a:rect l="l" t="t" r="r" b="b"/>
              <a:pathLst>
                <a:path w="4471174" h="308586">
                  <a:moveTo>
                    <a:pt x="23258" y="0"/>
                  </a:moveTo>
                  <a:lnTo>
                    <a:pt x="4447916" y="0"/>
                  </a:lnTo>
                  <a:cubicBezTo>
                    <a:pt x="4460761" y="0"/>
                    <a:pt x="4471174" y="10413"/>
                    <a:pt x="4471174" y="23258"/>
                  </a:cubicBezTo>
                  <a:lnTo>
                    <a:pt x="4471174" y="285328"/>
                  </a:lnTo>
                  <a:cubicBezTo>
                    <a:pt x="4471174" y="298173"/>
                    <a:pt x="4460761" y="308586"/>
                    <a:pt x="4447916" y="308586"/>
                  </a:cubicBezTo>
                  <a:lnTo>
                    <a:pt x="23258" y="308586"/>
                  </a:lnTo>
                  <a:cubicBezTo>
                    <a:pt x="10413" y="308586"/>
                    <a:pt x="0" y="298173"/>
                    <a:pt x="0" y="285328"/>
                  </a:cubicBezTo>
                  <a:lnTo>
                    <a:pt x="0" y="23258"/>
                  </a:lnTo>
                  <a:cubicBezTo>
                    <a:pt x="0" y="10413"/>
                    <a:pt x="10413" y="0"/>
                    <a:pt x="23258" y="0"/>
                  </a:cubicBezTo>
                  <a:close/>
                </a:path>
              </a:pathLst>
            </a:custGeom>
            <a:ln w="38100" cap="rnd">
              <a:solidFill>
                <a:srgbClr val="000000"/>
              </a:solidFill>
              <a:prstDash val="solid"/>
              <a:round/>
            </a:ln>
          </p:spPr>
        </p:sp>
        <p:sp>
          <p:nvSpPr>
            <p:cNvPr id="37" name="TextBox 37"/>
            <p:cNvSpPr txBox="1"/>
            <p:nvPr/>
          </p:nvSpPr>
          <p:spPr>
            <a:xfrm>
              <a:off x="0" y="-57150"/>
              <a:ext cx="4471173" cy="365735"/>
            </a:xfrm>
            <a:prstGeom prst="rect">
              <a:avLst/>
            </a:prstGeom>
          </p:spPr>
          <p:txBody>
            <a:bodyPr lIns="50800" tIns="50800" rIns="50800" bIns="50800" rtlCol="0" anchor="ctr"/>
            <a:lstStyle/>
            <a:p>
              <a:pPr algn="ctr">
                <a:lnSpc>
                  <a:spcPts val="2380"/>
                </a:lnSpc>
              </a:pPr>
              <a:endParaRPr/>
            </a:p>
          </p:txBody>
        </p:sp>
      </p:grpSp>
      <p:sp>
        <p:nvSpPr>
          <p:cNvPr id="38" name="Freeform 38"/>
          <p:cNvSpPr/>
          <p:nvPr/>
        </p:nvSpPr>
        <p:spPr>
          <a:xfrm>
            <a:off x="1077777" y="7800019"/>
            <a:ext cx="815905" cy="846693"/>
          </a:xfrm>
          <a:custGeom>
            <a:avLst/>
            <a:gdLst/>
            <a:ahLst/>
            <a:cxnLst/>
            <a:rect l="l" t="t" r="r" b="b"/>
            <a:pathLst>
              <a:path w="815905" h="846693">
                <a:moveTo>
                  <a:pt x="0" y="0"/>
                </a:moveTo>
                <a:lnTo>
                  <a:pt x="815904" y="0"/>
                </a:lnTo>
                <a:lnTo>
                  <a:pt x="815904" y="846694"/>
                </a:lnTo>
                <a:lnTo>
                  <a:pt x="0" y="84669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9" name="TextBox 39"/>
          <p:cNvSpPr txBox="1"/>
          <p:nvPr/>
        </p:nvSpPr>
        <p:spPr>
          <a:xfrm>
            <a:off x="6819079" y="2199109"/>
            <a:ext cx="4872782" cy="3877409"/>
          </a:xfrm>
          <a:prstGeom prst="rect">
            <a:avLst/>
          </a:prstGeom>
        </p:spPr>
        <p:txBody>
          <a:bodyPr lIns="0" tIns="0" rIns="0" bIns="0" rtlCol="0" anchor="t">
            <a:spAutoFit/>
          </a:bodyPr>
          <a:lstStyle/>
          <a:p>
            <a:pPr marL="447447" lvl="1" indent="-223724" algn="l">
              <a:lnSpc>
                <a:spcPts val="5181"/>
              </a:lnSpc>
              <a:buFont typeface="Arial"/>
              <a:buChar char="•"/>
            </a:pPr>
            <a:r>
              <a:rPr lang="en-US" sz="2072">
                <a:solidFill>
                  <a:srgbClr val="000000"/>
                </a:solidFill>
                <a:ea typeface="Poppins"/>
                <a:cs typeface="Poppins"/>
                <a:sym typeface="Poppins"/>
              </a:rPr>
              <a:t>Chỉ hoạt động tốt trong mạng LAN</a:t>
            </a:r>
          </a:p>
          <a:p>
            <a:pPr marL="447447" lvl="1" indent="-223724" algn="l">
              <a:lnSpc>
                <a:spcPts val="5181"/>
              </a:lnSpc>
              <a:buFont typeface="Arial"/>
              <a:buChar char="•"/>
            </a:pPr>
            <a:r>
              <a:rPr lang="en-US" sz="2072">
                <a:solidFill>
                  <a:srgbClr val="000000"/>
                </a:solidFill>
                <a:ea typeface="Poppins"/>
                <a:cs typeface="Poppins"/>
                <a:sym typeface="Poppins"/>
              </a:rPr>
              <a:t>Lưu trữ bằng JSON, khó mở rộng</a:t>
            </a:r>
          </a:p>
          <a:p>
            <a:pPr marL="447447" lvl="1" indent="-223724" algn="l">
              <a:lnSpc>
                <a:spcPts val="5181"/>
              </a:lnSpc>
              <a:buFont typeface="Arial"/>
              <a:buChar char="•"/>
            </a:pPr>
            <a:r>
              <a:rPr lang="en-US" sz="2072">
                <a:solidFill>
                  <a:srgbClr val="000000"/>
                </a:solidFill>
                <a:ea typeface="Poppins"/>
                <a:cs typeface="Poppins"/>
                <a:sym typeface="Poppins"/>
              </a:rPr>
              <a:t>Mỗi Peer sử dụng một Thread,</a:t>
            </a:r>
          </a:p>
          <a:p>
            <a:pPr algn="l">
              <a:lnSpc>
                <a:spcPts val="5181"/>
              </a:lnSpc>
            </a:pPr>
            <a:r>
              <a:rPr lang="en-US" sz="2072">
                <a:solidFill>
                  <a:srgbClr val="000000"/>
                </a:solidFill>
                <a:ea typeface="Poppins"/>
                <a:cs typeface="Poppins"/>
                <a:sym typeface="Poppins"/>
              </a:rPr>
              <a:t>chưa tối ưu khi nhiều kết nối</a:t>
            </a:r>
          </a:p>
          <a:p>
            <a:pPr marL="447447" lvl="1" indent="-223724" algn="l">
              <a:lnSpc>
                <a:spcPts val="5181"/>
              </a:lnSpc>
              <a:buFont typeface="Arial"/>
              <a:buChar char="•"/>
            </a:pPr>
            <a:r>
              <a:rPr lang="en-US" sz="2072">
                <a:solidFill>
                  <a:srgbClr val="000000"/>
                </a:solidFill>
                <a:ea typeface="Poppins"/>
                <a:cs typeface="Poppins"/>
                <a:sym typeface="Poppins"/>
              </a:rPr>
              <a:t>Chưa hỗ trợ Group Chat</a:t>
            </a:r>
          </a:p>
          <a:p>
            <a:pPr marL="447447" lvl="1" indent="-223724" algn="l">
              <a:lnSpc>
                <a:spcPts val="5181"/>
              </a:lnSpc>
              <a:buFont typeface="Arial"/>
              <a:buChar char="•"/>
            </a:pPr>
            <a:r>
              <a:rPr lang="en-US" sz="2072">
                <a:solidFill>
                  <a:srgbClr val="000000"/>
                </a:solidFill>
                <a:ea typeface="Poppins"/>
                <a:cs typeface="Poppins"/>
                <a:sym typeface="Poppins"/>
              </a:rPr>
              <a:t>Chưa hỗ trợ Mobile / đa nền tảng</a:t>
            </a:r>
          </a:p>
        </p:txBody>
      </p:sp>
      <p:sp>
        <p:nvSpPr>
          <p:cNvPr id="40" name="TextBox 40"/>
          <p:cNvSpPr txBox="1"/>
          <p:nvPr/>
        </p:nvSpPr>
        <p:spPr>
          <a:xfrm>
            <a:off x="1832264" y="1451450"/>
            <a:ext cx="3761184" cy="523876"/>
          </a:xfrm>
          <a:prstGeom prst="rect">
            <a:avLst/>
          </a:prstGeom>
        </p:spPr>
        <p:txBody>
          <a:bodyPr lIns="0" tIns="0" rIns="0" bIns="0" rtlCol="0" anchor="t">
            <a:spAutoFit/>
          </a:bodyPr>
          <a:lstStyle/>
          <a:p>
            <a:pPr algn="ctr">
              <a:lnSpc>
                <a:spcPts val="4199"/>
              </a:lnSpc>
              <a:spcBef>
                <a:spcPct val="0"/>
              </a:spcBef>
            </a:pPr>
            <a:r>
              <a:rPr lang="en-US" sz="2999" b="1">
                <a:solidFill>
                  <a:srgbClr val="00BF15"/>
                </a:solidFill>
                <a:ea typeface="Poppins Bold"/>
                <a:cs typeface="Poppins Bold"/>
                <a:sym typeface="Poppins Bold"/>
              </a:rPr>
              <a:t>KẾT QUẢ ĐẠT ĐƯỢC</a:t>
            </a:r>
          </a:p>
        </p:txBody>
      </p:sp>
      <p:sp>
        <p:nvSpPr>
          <p:cNvPr id="41" name="TextBox 41"/>
          <p:cNvSpPr txBox="1"/>
          <p:nvPr/>
        </p:nvSpPr>
        <p:spPr>
          <a:xfrm>
            <a:off x="1680858" y="2591664"/>
            <a:ext cx="3976287" cy="33701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ea typeface="Poppins"/>
                <a:cs typeface="Poppins"/>
                <a:sym typeface="Poppins"/>
              </a:rPr>
              <a:t>Kiến trúc P2P hoạt động ổn định</a:t>
            </a:r>
          </a:p>
        </p:txBody>
      </p:sp>
      <p:sp>
        <p:nvSpPr>
          <p:cNvPr id="42" name="TextBox 42"/>
          <p:cNvSpPr txBox="1"/>
          <p:nvPr/>
        </p:nvSpPr>
        <p:spPr>
          <a:xfrm>
            <a:off x="1680858" y="3372543"/>
            <a:ext cx="3557439" cy="33701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ea typeface="Poppins"/>
                <a:cs typeface="Poppins"/>
                <a:sym typeface="Poppins"/>
              </a:rPr>
              <a:t>Chat trực tiếp giữa các Peer</a:t>
            </a:r>
          </a:p>
        </p:txBody>
      </p:sp>
      <p:sp>
        <p:nvSpPr>
          <p:cNvPr id="43" name="TextBox 43"/>
          <p:cNvSpPr txBox="1"/>
          <p:nvPr/>
        </p:nvSpPr>
        <p:spPr>
          <a:xfrm>
            <a:off x="1644656" y="4153422"/>
            <a:ext cx="2815233" cy="33701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ea typeface="Poppins"/>
                <a:cs typeface="Poppins"/>
                <a:sym typeface="Poppins"/>
              </a:rPr>
              <a:t>Truyền file thành công</a:t>
            </a:r>
          </a:p>
        </p:txBody>
      </p:sp>
      <p:sp>
        <p:nvSpPr>
          <p:cNvPr id="44" name="TextBox 44"/>
          <p:cNvSpPr txBox="1"/>
          <p:nvPr/>
        </p:nvSpPr>
        <p:spPr>
          <a:xfrm>
            <a:off x="1680858" y="4931297"/>
            <a:ext cx="2670710" cy="33701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ea typeface="Poppins"/>
                <a:cs typeface="Poppins"/>
                <a:sym typeface="Poppins"/>
              </a:rPr>
              <a:t>Mã hóa RSA + Fernet</a:t>
            </a:r>
          </a:p>
        </p:txBody>
      </p:sp>
      <p:sp>
        <p:nvSpPr>
          <p:cNvPr id="45" name="TextBox 45"/>
          <p:cNvSpPr txBox="1"/>
          <p:nvPr/>
        </p:nvSpPr>
        <p:spPr>
          <a:xfrm>
            <a:off x="1680858" y="5716416"/>
            <a:ext cx="2213670" cy="33701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ea typeface="Poppins"/>
                <a:cs typeface="Poppins"/>
                <a:sym typeface="Poppins"/>
              </a:rPr>
              <a:t>TOFU chống MITM</a:t>
            </a:r>
          </a:p>
        </p:txBody>
      </p:sp>
      <p:sp>
        <p:nvSpPr>
          <p:cNvPr id="46" name="TextBox 46"/>
          <p:cNvSpPr txBox="1"/>
          <p:nvPr/>
        </p:nvSpPr>
        <p:spPr>
          <a:xfrm>
            <a:off x="1644656" y="6494292"/>
            <a:ext cx="4098875" cy="33701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ea typeface="Poppins"/>
                <a:cs typeface="Poppins"/>
                <a:sym typeface="Poppins"/>
              </a:rPr>
              <a:t>Giao diện (GUI) phản hồi ổn định</a:t>
            </a:r>
          </a:p>
        </p:txBody>
      </p:sp>
      <p:sp>
        <p:nvSpPr>
          <p:cNvPr id="47" name="TextBox 47"/>
          <p:cNvSpPr txBox="1"/>
          <p:nvPr/>
        </p:nvSpPr>
        <p:spPr>
          <a:xfrm>
            <a:off x="8037576" y="1432401"/>
            <a:ext cx="1690985" cy="505523"/>
          </a:xfrm>
          <a:prstGeom prst="rect">
            <a:avLst/>
          </a:prstGeom>
        </p:spPr>
        <p:txBody>
          <a:bodyPr lIns="0" tIns="0" rIns="0" bIns="0" rtlCol="0" anchor="t">
            <a:spAutoFit/>
          </a:bodyPr>
          <a:lstStyle/>
          <a:p>
            <a:pPr algn="ctr">
              <a:lnSpc>
                <a:spcPts val="4200"/>
              </a:lnSpc>
              <a:spcBef>
                <a:spcPct val="0"/>
              </a:spcBef>
            </a:pPr>
            <a:r>
              <a:rPr lang="en-US" sz="3000" b="1">
                <a:solidFill>
                  <a:srgbClr val="E61E28"/>
                </a:solidFill>
                <a:ea typeface="Poppins Bold"/>
                <a:cs typeface="Poppins Bold"/>
                <a:sym typeface="Poppins Bold"/>
              </a:rPr>
              <a:t>HẠN CHẾ</a:t>
            </a:r>
          </a:p>
        </p:txBody>
      </p:sp>
      <p:sp>
        <p:nvSpPr>
          <p:cNvPr id="48" name="TextBox 48"/>
          <p:cNvSpPr txBox="1"/>
          <p:nvPr/>
        </p:nvSpPr>
        <p:spPr>
          <a:xfrm>
            <a:off x="13857858" y="1432401"/>
            <a:ext cx="3772793" cy="505523"/>
          </a:xfrm>
          <a:prstGeom prst="rect">
            <a:avLst/>
          </a:prstGeom>
        </p:spPr>
        <p:txBody>
          <a:bodyPr lIns="0" tIns="0" rIns="0" bIns="0" rtlCol="0" anchor="t">
            <a:spAutoFit/>
          </a:bodyPr>
          <a:lstStyle/>
          <a:p>
            <a:pPr algn="ctr">
              <a:lnSpc>
                <a:spcPts val="4200"/>
              </a:lnSpc>
              <a:spcBef>
                <a:spcPct val="0"/>
              </a:spcBef>
            </a:pPr>
            <a:r>
              <a:rPr lang="en-US" sz="3000" b="1">
                <a:solidFill>
                  <a:srgbClr val="0000B5"/>
                </a:solidFill>
                <a:ea typeface="Poppins Bold"/>
                <a:cs typeface="Poppins Bold"/>
                <a:sym typeface="Poppins Bold"/>
              </a:rPr>
              <a:t>HƯỚNG PHÁT TRIỂN</a:t>
            </a:r>
          </a:p>
        </p:txBody>
      </p:sp>
      <p:sp>
        <p:nvSpPr>
          <p:cNvPr id="49" name="TextBox 49"/>
          <p:cNvSpPr txBox="1"/>
          <p:nvPr/>
        </p:nvSpPr>
        <p:spPr>
          <a:xfrm>
            <a:off x="13352661" y="2543288"/>
            <a:ext cx="3855541" cy="33701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ea typeface="Poppins"/>
                <a:cs typeface="Poppins"/>
                <a:sym typeface="Poppins"/>
              </a:rPr>
              <a:t>Chuyển sang SQLite để lưu trữ </a:t>
            </a:r>
          </a:p>
        </p:txBody>
      </p:sp>
      <p:sp>
        <p:nvSpPr>
          <p:cNvPr id="50" name="TextBox 50"/>
          <p:cNvSpPr txBox="1"/>
          <p:nvPr/>
        </p:nvSpPr>
        <p:spPr>
          <a:xfrm>
            <a:off x="13352661" y="3216388"/>
            <a:ext cx="4125367" cy="33701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ea typeface="Poppins"/>
                <a:cs typeface="Poppins"/>
                <a:sym typeface="Poppins"/>
              </a:rPr>
              <a:t>Ứng dụng Traversal(STUN/TURN)</a:t>
            </a:r>
          </a:p>
        </p:txBody>
      </p:sp>
      <p:sp>
        <p:nvSpPr>
          <p:cNvPr id="51" name="TextBox 51"/>
          <p:cNvSpPr txBox="1"/>
          <p:nvPr/>
        </p:nvSpPr>
        <p:spPr>
          <a:xfrm>
            <a:off x="13249350" y="3803763"/>
            <a:ext cx="4277990" cy="33701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ea typeface="Poppins"/>
                <a:cs typeface="Poppins"/>
                <a:sym typeface="Poppins"/>
              </a:rPr>
              <a:t>Bổ sung Group Chay và quản lý nhóm</a:t>
            </a:r>
          </a:p>
        </p:txBody>
      </p:sp>
      <p:sp>
        <p:nvSpPr>
          <p:cNvPr id="52" name="TextBox 52"/>
          <p:cNvSpPr txBox="1"/>
          <p:nvPr/>
        </p:nvSpPr>
        <p:spPr>
          <a:xfrm>
            <a:off x="13190122" y="4595351"/>
            <a:ext cx="4508227" cy="671402"/>
          </a:xfrm>
          <a:prstGeom prst="rect">
            <a:avLst/>
          </a:prstGeom>
        </p:spPr>
        <p:txBody>
          <a:bodyPr lIns="0" tIns="0" rIns="0" bIns="0" rtlCol="0" anchor="t">
            <a:spAutoFit/>
          </a:bodyPr>
          <a:lstStyle/>
          <a:p>
            <a:pPr algn="ctr">
              <a:lnSpc>
                <a:spcPts val="2708"/>
              </a:lnSpc>
            </a:pPr>
            <a:r>
              <a:rPr lang="en-US" sz="1934">
                <a:solidFill>
                  <a:srgbClr val="000000"/>
                </a:solidFill>
                <a:ea typeface="Poppins"/>
                <a:cs typeface="Poppins"/>
                <a:sym typeface="Poppins"/>
              </a:rPr>
              <a:t>Hoàn thiện giao diện, hỗ trợ đa nền tảng </a:t>
            </a:r>
          </a:p>
          <a:p>
            <a:pPr algn="ctr">
              <a:lnSpc>
                <a:spcPts val="2708"/>
              </a:lnSpc>
              <a:spcBef>
                <a:spcPct val="0"/>
              </a:spcBef>
            </a:pPr>
            <a:r>
              <a:rPr lang="en-US" sz="1934">
                <a:solidFill>
                  <a:srgbClr val="000000"/>
                </a:solidFill>
                <a:ea typeface="Poppins"/>
                <a:cs typeface="Poppins"/>
                <a:sym typeface="Poppins"/>
              </a:rPr>
              <a:t>(Windows, macOS, Linux, Mobile)</a:t>
            </a:r>
          </a:p>
        </p:txBody>
      </p:sp>
      <p:sp>
        <p:nvSpPr>
          <p:cNvPr id="53" name="TextBox 53"/>
          <p:cNvSpPr txBox="1"/>
          <p:nvPr/>
        </p:nvSpPr>
        <p:spPr>
          <a:xfrm>
            <a:off x="2034883" y="7685719"/>
            <a:ext cx="14886938" cy="1030865"/>
          </a:xfrm>
          <a:prstGeom prst="rect">
            <a:avLst/>
          </a:prstGeom>
        </p:spPr>
        <p:txBody>
          <a:bodyPr lIns="0" tIns="0" rIns="0" bIns="0" rtlCol="0" anchor="t">
            <a:spAutoFit/>
          </a:bodyPr>
          <a:lstStyle/>
          <a:p>
            <a:pPr algn="ctr">
              <a:lnSpc>
                <a:spcPts val="4080"/>
              </a:lnSpc>
              <a:spcBef>
                <a:spcPct val="0"/>
              </a:spcBef>
            </a:pPr>
            <a:r>
              <a:rPr lang="en-US" sz="2914" b="1">
                <a:solidFill>
                  <a:srgbClr val="000000"/>
                </a:solidFill>
                <a:ea typeface="Poppins Bold"/>
                <a:cs typeface="Poppins Bold"/>
                <a:sym typeface="Poppins Bold"/>
              </a:rPr>
              <a:t>Hệ thống đã hoàn thành đầy đủ các chức năng cốt lõi, đảm bảo bảo mật và sẵn sàng mở rộng trong tương lai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
                                        <p:tgtEl>
                                          <p:spTgt spid="2"/>
                                        </p:tgtEl>
                                      </p:cBhvr>
                                    </p:animEffect>
                                  </p:childTnLst>
                                </p:cTn>
                              </p:par>
                            </p:childTnLst>
                          </p:cTn>
                        </p:par>
                        <p:par>
                          <p:cTn id="8" fill="hold">
                            <p:stCondLst>
                              <p:cond delay="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
                                        <p:tgtEl>
                                          <p:spTgt spid="5"/>
                                        </p:tgtEl>
                                      </p:cBhvr>
                                    </p:animEffect>
                                  </p:childTnLst>
                                </p:cTn>
                              </p:par>
                            </p:childTnLst>
                          </p:cTn>
                        </p:par>
                        <p:par>
                          <p:cTn id="12" fill="hold">
                            <p:stCondLst>
                              <p:cond delay="1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
                                        <p:tgtEl>
                                          <p:spTgt spid="6"/>
                                        </p:tgtEl>
                                      </p:cBhvr>
                                    </p:animEffect>
                                  </p:childTnLst>
                                </p:cTn>
                              </p:par>
                            </p:childTnLst>
                          </p:cTn>
                        </p:par>
                        <p:par>
                          <p:cTn id="16" fill="hold">
                            <p:stCondLst>
                              <p:cond delay="15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
                                        <p:tgtEl>
                                          <p:spTgt spid="9"/>
                                        </p:tgtEl>
                                      </p:cBhvr>
                                    </p:animEffect>
                                  </p:childTnLst>
                                </p:cTn>
                              </p:par>
                            </p:childTnLst>
                          </p:cTn>
                        </p:par>
                        <p:par>
                          <p:cTn id="20" fill="hold">
                            <p:stCondLst>
                              <p:cond delay="2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
                                        <p:tgtEl>
                                          <p:spTgt spid="12"/>
                                        </p:tgtEl>
                                      </p:cBhvr>
                                    </p:animEffect>
                                  </p:childTnLst>
                                </p:cTn>
                              </p:par>
                            </p:childTnLst>
                          </p:cTn>
                        </p:par>
                        <p:par>
                          <p:cTn id="24" fill="hold">
                            <p:stCondLst>
                              <p:cond delay="250"/>
                            </p:stCondLst>
                            <p:childTnLst>
                              <p:par>
                                <p:cTn id="25" presetID="10"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
                                        <p:tgtEl>
                                          <p:spTgt spid="13"/>
                                        </p:tgtEl>
                                      </p:cBhvr>
                                    </p:animEffect>
                                  </p:childTnLst>
                                </p:cTn>
                              </p:par>
                            </p:childTnLst>
                          </p:cTn>
                        </p:par>
                        <p:par>
                          <p:cTn id="28" fill="hold">
                            <p:stCondLst>
                              <p:cond delay="300"/>
                            </p:stCondLst>
                            <p:childTnLst>
                              <p:par>
                                <p:cTn id="29" presetID="10"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
                                        <p:tgtEl>
                                          <p:spTgt spid="14"/>
                                        </p:tgtEl>
                                      </p:cBhvr>
                                    </p:animEffect>
                                  </p:childTnLst>
                                </p:cTn>
                              </p:par>
                            </p:childTnLst>
                          </p:cTn>
                        </p:par>
                        <p:par>
                          <p:cTn id="32" fill="hold">
                            <p:stCondLst>
                              <p:cond delay="35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
                                        <p:tgtEl>
                                          <p:spTgt spid="15"/>
                                        </p:tgtEl>
                                      </p:cBhvr>
                                    </p:animEffect>
                                  </p:childTnLst>
                                </p:cTn>
                              </p:par>
                            </p:childTnLst>
                          </p:cTn>
                        </p:par>
                        <p:par>
                          <p:cTn id="36" fill="hold">
                            <p:stCondLst>
                              <p:cond delay="400"/>
                            </p:stCondLst>
                            <p:childTnLst>
                              <p:par>
                                <p:cTn id="37" presetID="10"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
                                        <p:tgtEl>
                                          <p:spTgt spid="16"/>
                                        </p:tgtEl>
                                      </p:cBhvr>
                                    </p:animEffect>
                                  </p:childTnLst>
                                </p:cTn>
                              </p:par>
                            </p:childTnLst>
                          </p:cTn>
                        </p:par>
                        <p:par>
                          <p:cTn id="40" fill="hold">
                            <p:stCondLst>
                              <p:cond delay="450"/>
                            </p:stCondLst>
                            <p:childTnLst>
                              <p:par>
                                <p:cTn id="41" presetID="10" presetClass="entr" presetSubtype="0"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
                                        <p:tgtEl>
                                          <p:spTgt spid="17"/>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
                                        <p:tgtEl>
                                          <p:spTgt spid="18"/>
                                        </p:tgtEl>
                                      </p:cBhvr>
                                    </p:animEffect>
                                  </p:childTnLst>
                                </p:cTn>
                              </p:par>
                            </p:childTnLst>
                          </p:cTn>
                        </p:par>
                        <p:par>
                          <p:cTn id="48" fill="hold">
                            <p:stCondLst>
                              <p:cond delay="55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
                                        <p:tgtEl>
                                          <p:spTgt spid="19"/>
                                        </p:tgtEl>
                                      </p:cBhvr>
                                    </p:animEffect>
                                  </p:childTnLst>
                                </p:cTn>
                              </p:par>
                            </p:childTnLst>
                          </p:cTn>
                        </p:par>
                        <p:par>
                          <p:cTn id="52" fill="hold">
                            <p:stCondLst>
                              <p:cond delay="600"/>
                            </p:stCondLst>
                            <p:childTnLst>
                              <p:par>
                                <p:cTn id="53" presetID="10"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
                                        <p:tgtEl>
                                          <p:spTgt spid="20"/>
                                        </p:tgtEl>
                                      </p:cBhvr>
                                    </p:animEffect>
                                  </p:childTnLst>
                                </p:cTn>
                              </p:par>
                            </p:childTnLst>
                          </p:cTn>
                        </p:par>
                        <p:par>
                          <p:cTn id="56" fill="hold">
                            <p:stCondLst>
                              <p:cond delay="650"/>
                            </p:stCondLst>
                            <p:childTnLst>
                              <p:par>
                                <p:cTn id="57" presetID="10"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
                                        <p:tgtEl>
                                          <p:spTgt spid="21"/>
                                        </p:tgtEl>
                                      </p:cBhvr>
                                    </p:animEffect>
                                  </p:childTnLst>
                                </p:cTn>
                              </p:par>
                            </p:childTnLst>
                          </p:cTn>
                        </p:par>
                        <p:par>
                          <p:cTn id="60" fill="hold">
                            <p:stCondLst>
                              <p:cond delay="700"/>
                            </p:stCondLst>
                            <p:childTnLst>
                              <p:par>
                                <p:cTn id="61" presetID="10" presetClass="entr" presetSubtype="0"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
                                        <p:tgtEl>
                                          <p:spTgt spid="22"/>
                                        </p:tgtEl>
                                      </p:cBhvr>
                                    </p:animEffect>
                                  </p:childTnLst>
                                </p:cTn>
                              </p:par>
                            </p:childTnLst>
                          </p:cTn>
                        </p:par>
                        <p:par>
                          <p:cTn id="64" fill="hold">
                            <p:stCondLst>
                              <p:cond delay="750"/>
                            </p:stCondLst>
                            <p:childTnLst>
                              <p:par>
                                <p:cTn id="65" presetID="10" presetClass="entr" presetSubtype="0" fill="hold"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
                                        <p:tgtEl>
                                          <p:spTgt spid="25"/>
                                        </p:tgtEl>
                                      </p:cBhvr>
                                    </p:animEffect>
                                  </p:childTnLst>
                                </p:cTn>
                              </p:par>
                            </p:childTnLst>
                          </p:cTn>
                        </p:par>
                        <p:par>
                          <p:cTn id="68" fill="hold">
                            <p:stCondLst>
                              <p:cond delay="800"/>
                            </p:stCondLst>
                            <p:childTnLst>
                              <p:par>
                                <p:cTn id="69" presetID="10" presetClass="entr" presetSubtype="0"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
                                        <p:tgtEl>
                                          <p:spTgt spid="28"/>
                                        </p:tgtEl>
                                      </p:cBhvr>
                                    </p:animEffect>
                                  </p:childTnLst>
                                </p:cTn>
                              </p:par>
                            </p:childTnLst>
                          </p:cTn>
                        </p:par>
                        <p:par>
                          <p:cTn id="72" fill="hold">
                            <p:stCondLst>
                              <p:cond delay="850"/>
                            </p:stCondLst>
                            <p:childTnLst>
                              <p:par>
                                <p:cTn id="73" presetID="10" presetClass="entr" presetSubtype="0" fill="hold"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
                                        <p:tgtEl>
                                          <p:spTgt spid="31"/>
                                        </p:tgtEl>
                                      </p:cBhvr>
                                    </p:animEffect>
                                  </p:childTnLst>
                                </p:cTn>
                              </p:par>
                            </p:childTnLst>
                          </p:cTn>
                        </p:par>
                        <p:par>
                          <p:cTn id="76" fill="hold">
                            <p:stCondLst>
                              <p:cond delay="900"/>
                            </p:stCondLst>
                            <p:childTnLst>
                              <p:par>
                                <p:cTn id="77" presetID="10" presetClass="entr" presetSubtype="0"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50"/>
                                        <p:tgtEl>
                                          <p:spTgt spid="34"/>
                                        </p:tgtEl>
                                      </p:cBhvr>
                                    </p:animEffect>
                                  </p:childTnLst>
                                </p:cTn>
                              </p:par>
                            </p:childTnLst>
                          </p:cTn>
                        </p:par>
                        <p:par>
                          <p:cTn id="80" fill="hold">
                            <p:stCondLst>
                              <p:cond delay="950"/>
                            </p:stCondLst>
                            <p:childTnLst>
                              <p:par>
                                <p:cTn id="81" presetID="10" presetClass="entr" presetSubtype="0" fill="hold"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
                                        <p:tgtEl>
                                          <p:spTgt spid="35"/>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
                                        <p:tgtEl>
                                          <p:spTgt spid="38"/>
                                        </p:tgtEl>
                                      </p:cBhvr>
                                    </p:animEffect>
                                  </p:childTnLst>
                                </p:cTn>
                              </p:par>
                            </p:childTnLst>
                          </p:cTn>
                        </p:par>
                        <p:par>
                          <p:cTn id="88" fill="hold">
                            <p:stCondLst>
                              <p:cond delay="1050"/>
                            </p:stCondLst>
                            <p:childTnLst>
                              <p:par>
                                <p:cTn id="89" presetID="10" presetClass="entr" presetSubtype="0" fill="hold" grpId="0" nodeType="after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50"/>
                                        <p:tgtEl>
                                          <p:spTgt spid="39"/>
                                        </p:tgtEl>
                                      </p:cBhvr>
                                    </p:animEffect>
                                  </p:childTnLst>
                                </p:cTn>
                              </p:par>
                            </p:childTnLst>
                          </p:cTn>
                        </p:par>
                        <p:par>
                          <p:cTn id="92" fill="hold">
                            <p:stCondLst>
                              <p:cond delay="1100"/>
                            </p:stCondLst>
                            <p:childTnLst>
                              <p:par>
                                <p:cTn id="93" presetID="10" presetClass="entr" presetSubtype="0" fill="hold" grpId="0" nodeType="after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50"/>
                                        <p:tgtEl>
                                          <p:spTgt spid="40"/>
                                        </p:tgtEl>
                                      </p:cBhvr>
                                    </p:animEffect>
                                  </p:childTnLst>
                                </p:cTn>
                              </p:par>
                            </p:childTnLst>
                          </p:cTn>
                        </p:par>
                        <p:par>
                          <p:cTn id="96" fill="hold">
                            <p:stCondLst>
                              <p:cond delay="1150"/>
                            </p:stCondLst>
                            <p:childTnLst>
                              <p:par>
                                <p:cTn id="97" presetID="10" presetClass="entr" presetSubtype="0" fill="hold" grpId="0" nodeType="after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50"/>
                                        <p:tgtEl>
                                          <p:spTgt spid="41"/>
                                        </p:tgtEl>
                                      </p:cBhvr>
                                    </p:animEffect>
                                  </p:childTnLst>
                                </p:cTn>
                              </p:par>
                            </p:childTnLst>
                          </p:cTn>
                        </p:par>
                        <p:par>
                          <p:cTn id="100" fill="hold">
                            <p:stCondLst>
                              <p:cond delay="1200"/>
                            </p:stCondLst>
                            <p:childTnLst>
                              <p:par>
                                <p:cTn id="101" presetID="10" presetClass="entr" presetSubtype="0" fill="hold" grpId="0" nodeType="after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50"/>
                                        <p:tgtEl>
                                          <p:spTgt spid="42"/>
                                        </p:tgtEl>
                                      </p:cBhvr>
                                    </p:animEffect>
                                  </p:childTnLst>
                                </p:cTn>
                              </p:par>
                            </p:childTnLst>
                          </p:cTn>
                        </p:par>
                        <p:par>
                          <p:cTn id="104" fill="hold">
                            <p:stCondLst>
                              <p:cond delay="1250"/>
                            </p:stCondLst>
                            <p:childTnLst>
                              <p:par>
                                <p:cTn id="105" presetID="10" presetClass="entr" presetSubtype="0" fill="hold" grpId="0" nodeType="after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50"/>
                                        <p:tgtEl>
                                          <p:spTgt spid="43"/>
                                        </p:tgtEl>
                                      </p:cBhvr>
                                    </p:animEffect>
                                  </p:childTnLst>
                                </p:cTn>
                              </p:par>
                            </p:childTnLst>
                          </p:cTn>
                        </p:par>
                        <p:par>
                          <p:cTn id="108" fill="hold">
                            <p:stCondLst>
                              <p:cond delay="1300"/>
                            </p:stCondLst>
                            <p:childTnLst>
                              <p:par>
                                <p:cTn id="109" presetID="10" presetClass="entr" presetSubtype="0" fill="hold" grpId="0" nodeType="after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50"/>
                                        <p:tgtEl>
                                          <p:spTgt spid="44"/>
                                        </p:tgtEl>
                                      </p:cBhvr>
                                    </p:animEffect>
                                  </p:childTnLst>
                                </p:cTn>
                              </p:par>
                            </p:childTnLst>
                          </p:cTn>
                        </p:par>
                        <p:par>
                          <p:cTn id="112" fill="hold">
                            <p:stCondLst>
                              <p:cond delay="1350"/>
                            </p:stCondLst>
                            <p:childTnLst>
                              <p:par>
                                <p:cTn id="113" presetID="10" presetClass="entr" presetSubtype="0" fill="hold" grpId="0" nodeType="afterEffect">
                                  <p:stCondLst>
                                    <p:cond delay="0"/>
                                  </p:stCondLst>
                                  <p:childTnLst>
                                    <p:set>
                                      <p:cBhvr>
                                        <p:cTn id="114" dur="1" fill="hold">
                                          <p:stCondLst>
                                            <p:cond delay="0"/>
                                          </p:stCondLst>
                                        </p:cTn>
                                        <p:tgtEl>
                                          <p:spTgt spid="45"/>
                                        </p:tgtEl>
                                        <p:attrNameLst>
                                          <p:attrName>style.visibility</p:attrName>
                                        </p:attrNameLst>
                                      </p:cBhvr>
                                      <p:to>
                                        <p:strVal val="visible"/>
                                      </p:to>
                                    </p:set>
                                    <p:animEffect transition="in" filter="fade">
                                      <p:cBhvr>
                                        <p:cTn id="115" dur="50"/>
                                        <p:tgtEl>
                                          <p:spTgt spid="45"/>
                                        </p:tgtEl>
                                      </p:cBhvr>
                                    </p:animEffect>
                                  </p:childTnLst>
                                </p:cTn>
                              </p:par>
                            </p:childTnLst>
                          </p:cTn>
                        </p:par>
                        <p:par>
                          <p:cTn id="116" fill="hold">
                            <p:stCondLst>
                              <p:cond delay="1400"/>
                            </p:stCondLst>
                            <p:childTnLst>
                              <p:par>
                                <p:cTn id="117" presetID="10" presetClass="entr" presetSubtype="0" fill="hold" grpId="0" nodeType="after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50"/>
                                        <p:tgtEl>
                                          <p:spTgt spid="46"/>
                                        </p:tgtEl>
                                      </p:cBhvr>
                                    </p:animEffect>
                                  </p:childTnLst>
                                </p:cTn>
                              </p:par>
                            </p:childTnLst>
                          </p:cTn>
                        </p:par>
                        <p:par>
                          <p:cTn id="120" fill="hold">
                            <p:stCondLst>
                              <p:cond delay="1450"/>
                            </p:stCondLst>
                            <p:childTnLst>
                              <p:par>
                                <p:cTn id="121" presetID="10" presetClass="entr" presetSubtype="0" fill="hold" grpId="0" nodeType="afterEffect">
                                  <p:stCondLst>
                                    <p:cond delay="0"/>
                                  </p:stCondLst>
                                  <p:childTnLst>
                                    <p:set>
                                      <p:cBhvr>
                                        <p:cTn id="122" dur="1" fill="hold">
                                          <p:stCondLst>
                                            <p:cond delay="0"/>
                                          </p:stCondLst>
                                        </p:cTn>
                                        <p:tgtEl>
                                          <p:spTgt spid="47"/>
                                        </p:tgtEl>
                                        <p:attrNameLst>
                                          <p:attrName>style.visibility</p:attrName>
                                        </p:attrNameLst>
                                      </p:cBhvr>
                                      <p:to>
                                        <p:strVal val="visible"/>
                                      </p:to>
                                    </p:set>
                                    <p:animEffect transition="in" filter="fade">
                                      <p:cBhvr>
                                        <p:cTn id="123" dur="50"/>
                                        <p:tgtEl>
                                          <p:spTgt spid="47"/>
                                        </p:tgtEl>
                                      </p:cBhvr>
                                    </p:animEffect>
                                  </p:childTnLst>
                                </p:cTn>
                              </p:par>
                            </p:childTnLst>
                          </p:cTn>
                        </p:par>
                        <p:par>
                          <p:cTn id="124" fill="hold">
                            <p:stCondLst>
                              <p:cond delay="1500"/>
                            </p:stCondLst>
                            <p:childTnLst>
                              <p:par>
                                <p:cTn id="125" presetID="10" presetClass="entr" presetSubtype="0" fill="hold" grpId="0" nodeType="after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7" dur="50"/>
                                        <p:tgtEl>
                                          <p:spTgt spid="48"/>
                                        </p:tgtEl>
                                      </p:cBhvr>
                                    </p:animEffect>
                                  </p:childTnLst>
                                </p:cTn>
                              </p:par>
                            </p:childTnLst>
                          </p:cTn>
                        </p:par>
                        <p:par>
                          <p:cTn id="128" fill="hold">
                            <p:stCondLst>
                              <p:cond delay="1550"/>
                            </p:stCondLst>
                            <p:childTnLst>
                              <p:par>
                                <p:cTn id="129" presetID="10" presetClass="entr" presetSubtype="0" fill="hold" grpId="0" nodeType="afterEffect">
                                  <p:stCondLst>
                                    <p:cond delay="0"/>
                                  </p:stCondLst>
                                  <p:childTnLst>
                                    <p:set>
                                      <p:cBhvr>
                                        <p:cTn id="130" dur="1" fill="hold">
                                          <p:stCondLst>
                                            <p:cond delay="0"/>
                                          </p:stCondLst>
                                        </p:cTn>
                                        <p:tgtEl>
                                          <p:spTgt spid="49"/>
                                        </p:tgtEl>
                                        <p:attrNameLst>
                                          <p:attrName>style.visibility</p:attrName>
                                        </p:attrNameLst>
                                      </p:cBhvr>
                                      <p:to>
                                        <p:strVal val="visible"/>
                                      </p:to>
                                    </p:set>
                                    <p:animEffect transition="in" filter="fade">
                                      <p:cBhvr>
                                        <p:cTn id="131" dur="50"/>
                                        <p:tgtEl>
                                          <p:spTgt spid="49"/>
                                        </p:tgtEl>
                                      </p:cBhvr>
                                    </p:animEffect>
                                  </p:childTnLst>
                                </p:cTn>
                              </p:par>
                            </p:childTnLst>
                          </p:cTn>
                        </p:par>
                        <p:par>
                          <p:cTn id="132" fill="hold">
                            <p:stCondLst>
                              <p:cond delay="1600"/>
                            </p:stCondLst>
                            <p:childTnLst>
                              <p:par>
                                <p:cTn id="133" presetID="10" presetClass="entr" presetSubtype="0" fill="hold" grpId="0" nodeType="afterEffect">
                                  <p:stCondLst>
                                    <p:cond delay="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50"/>
                                        <p:tgtEl>
                                          <p:spTgt spid="50"/>
                                        </p:tgtEl>
                                      </p:cBhvr>
                                    </p:animEffect>
                                  </p:childTnLst>
                                </p:cTn>
                              </p:par>
                            </p:childTnLst>
                          </p:cTn>
                        </p:par>
                        <p:par>
                          <p:cTn id="136" fill="hold">
                            <p:stCondLst>
                              <p:cond delay="1650"/>
                            </p:stCondLst>
                            <p:childTnLst>
                              <p:par>
                                <p:cTn id="137" presetID="10" presetClass="entr" presetSubtype="0" fill="hold" grpId="0" nodeType="after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fade">
                                      <p:cBhvr>
                                        <p:cTn id="139" dur="50"/>
                                        <p:tgtEl>
                                          <p:spTgt spid="51"/>
                                        </p:tgtEl>
                                      </p:cBhvr>
                                    </p:animEffect>
                                  </p:childTnLst>
                                </p:cTn>
                              </p:par>
                            </p:childTnLst>
                          </p:cTn>
                        </p:par>
                        <p:par>
                          <p:cTn id="140" fill="hold">
                            <p:stCondLst>
                              <p:cond delay="1700"/>
                            </p:stCondLst>
                            <p:childTnLst>
                              <p:par>
                                <p:cTn id="141" presetID="10" presetClass="entr" presetSubtype="0" fill="hold" grpId="0" nodeType="after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
                                        <p:tgtEl>
                                          <p:spTgt spid="52"/>
                                        </p:tgtEl>
                                      </p:cBhvr>
                                    </p:animEffect>
                                  </p:childTnLst>
                                </p:cTn>
                              </p:par>
                            </p:childTnLst>
                          </p:cTn>
                        </p:par>
                        <p:par>
                          <p:cTn id="144" fill="hold">
                            <p:stCondLst>
                              <p:cond delay="1750"/>
                            </p:stCondLst>
                            <p:childTnLst>
                              <p:par>
                                <p:cTn id="145" presetID="10" presetClass="entr" presetSubtype="0" fill="hold" grpId="0" nodeType="afterEffect">
                                  <p:stCondLst>
                                    <p:cond delay="0"/>
                                  </p:stCondLst>
                                  <p:childTnLst>
                                    <p:set>
                                      <p:cBhvr>
                                        <p:cTn id="146" dur="1" fill="hold">
                                          <p:stCondLst>
                                            <p:cond delay="0"/>
                                          </p:stCondLst>
                                        </p:cTn>
                                        <p:tgtEl>
                                          <p:spTgt spid="53"/>
                                        </p:tgtEl>
                                        <p:attrNameLst>
                                          <p:attrName>style.visibility</p:attrName>
                                        </p:attrNameLst>
                                      </p:cBhvr>
                                      <p:to>
                                        <p:strVal val="visible"/>
                                      </p:to>
                                    </p:set>
                                    <p:animEffect transition="in" filter="fade">
                                      <p:cBhvr>
                                        <p:cTn id="147" dur="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8053" y="2070156"/>
            <a:ext cx="7480792" cy="7166885"/>
            <a:chOff x="0" y="0"/>
            <a:chExt cx="1970250" cy="1887575"/>
          </a:xfrm>
        </p:grpSpPr>
        <p:sp>
          <p:nvSpPr>
            <p:cNvPr id="3" name="Freeform 3"/>
            <p:cNvSpPr/>
            <p:nvPr/>
          </p:nvSpPr>
          <p:spPr>
            <a:xfrm>
              <a:off x="0" y="0"/>
              <a:ext cx="1970250" cy="1887575"/>
            </a:xfrm>
            <a:custGeom>
              <a:avLst/>
              <a:gdLst/>
              <a:ahLst/>
              <a:cxnLst/>
              <a:rect l="l" t="t" r="r" b="b"/>
              <a:pathLst>
                <a:path w="1970250" h="1887575">
                  <a:moveTo>
                    <a:pt x="52780" y="0"/>
                  </a:moveTo>
                  <a:lnTo>
                    <a:pt x="1917469" y="0"/>
                  </a:lnTo>
                  <a:cubicBezTo>
                    <a:pt x="1931468" y="0"/>
                    <a:pt x="1944893" y="5561"/>
                    <a:pt x="1954791" y="15459"/>
                  </a:cubicBezTo>
                  <a:cubicBezTo>
                    <a:pt x="1964689" y="25357"/>
                    <a:pt x="1970250" y="38782"/>
                    <a:pt x="1970250" y="52780"/>
                  </a:cubicBezTo>
                  <a:lnTo>
                    <a:pt x="1970250" y="1834794"/>
                  </a:lnTo>
                  <a:cubicBezTo>
                    <a:pt x="1970250" y="1863944"/>
                    <a:pt x="1946619" y="1887575"/>
                    <a:pt x="1917469" y="1887575"/>
                  </a:cubicBezTo>
                  <a:lnTo>
                    <a:pt x="52780" y="1887575"/>
                  </a:lnTo>
                  <a:cubicBezTo>
                    <a:pt x="23631" y="1887575"/>
                    <a:pt x="0" y="1863944"/>
                    <a:pt x="0" y="1834794"/>
                  </a:cubicBezTo>
                  <a:lnTo>
                    <a:pt x="0" y="52780"/>
                  </a:lnTo>
                  <a:cubicBezTo>
                    <a:pt x="0" y="23631"/>
                    <a:pt x="23631" y="0"/>
                    <a:pt x="52780" y="0"/>
                  </a:cubicBezTo>
                  <a:close/>
                </a:path>
              </a:pathLst>
            </a:custGeom>
            <a:solidFill>
              <a:srgbClr val="F0FDFF"/>
            </a:solidFill>
            <a:ln w="38100" cap="rnd">
              <a:solidFill>
                <a:srgbClr val="979CE3"/>
              </a:solidFill>
              <a:prstDash val="solid"/>
              <a:round/>
            </a:ln>
          </p:spPr>
        </p:sp>
        <p:sp>
          <p:nvSpPr>
            <p:cNvPr id="4" name="TextBox 4"/>
            <p:cNvSpPr txBox="1"/>
            <p:nvPr/>
          </p:nvSpPr>
          <p:spPr>
            <a:xfrm>
              <a:off x="0" y="-57150"/>
              <a:ext cx="1970250" cy="1944725"/>
            </a:xfrm>
            <a:prstGeom prst="rect">
              <a:avLst/>
            </a:prstGeom>
          </p:spPr>
          <p:txBody>
            <a:bodyPr lIns="50800" tIns="50800" rIns="50800" bIns="50800" rtlCol="0" anchor="ctr"/>
            <a:lstStyle/>
            <a:p>
              <a:pPr algn="ctr">
                <a:lnSpc>
                  <a:spcPts val="2380"/>
                </a:lnSpc>
              </a:pPr>
              <a:endParaRPr/>
            </a:p>
          </p:txBody>
        </p:sp>
      </p:grpSp>
      <p:grpSp>
        <p:nvGrpSpPr>
          <p:cNvPr id="5" name="Group 5"/>
          <p:cNvGrpSpPr/>
          <p:nvPr/>
        </p:nvGrpSpPr>
        <p:grpSpPr>
          <a:xfrm>
            <a:off x="9327436" y="2048896"/>
            <a:ext cx="8383273" cy="6483379"/>
            <a:chOff x="0" y="0"/>
            <a:chExt cx="2207940" cy="1707557"/>
          </a:xfrm>
        </p:grpSpPr>
        <p:sp>
          <p:nvSpPr>
            <p:cNvPr id="6" name="Freeform 6"/>
            <p:cNvSpPr/>
            <p:nvPr/>
          </p:nvSpPr>
          <p:spPr>
            <a:xfrm>
              <a:off x="0" y="0"/>
              <a:ext cx="2207940" cy="1707557"/>
            </a:xfrm>
            <a:custGeom>
              <a:avLst/>
              <a:gdLst/>
              <a:ahLst/>
              <a:cxnLst/>
              <a:rect l="l" t="t" r="r" b="b"/>
              <a:pathLst>
                <a:path w="2207940" h="1707557">
                  <a:moveTo>
                    <a:pt x="47098" y="0"/>
                  </a:moveTo>
                  <a:lnTo>
                    <a:pt x="2160842" y="0"/>
                  </a:lnTo>
                  <a:cubicBezTo>
                    <a:pt x="2186854" y="0"/>
                    <a:pt x="2207940" y="21087"/>
                    <a:pt x="2207940" y="47098"/>
                  </a:cubicBezTo>
                  <a:lnTo>
                    <a:pt x="2207940" y="1660458"/>
                  </a:lnTo>
                  <a:cubicBezTo>
                    <a:pt x="2207940" y="1686470"/>
                    <a:pt x="2186854" y="1707557"/>
                    <a:pt x="2160842" y="1707557"/>
                  </a:cubicBezTo>
                  <a:lnTo>
                    <a:pt x="47098" y="1707557"/>
                  </a:lnTo>
                  <a:cubicBezTo>
                    <a:pt x="21087" y="1707557"/>
                    <a:pt x="0" y="1686470"/>
                    <a:pt x="0" y="1660458"/>
                  </a:cubicBezTo>
                  <a:lnTo>
                    <a:pt x="0" y="47098"/>
                  </a:lnTo>
                  <a:cubicBezTo>
                    <a:pt x="0" y="21087"/>
                    <a:pt x="21087" y="0"/>
                    <a:pt x="47098" y="0"/>
                  </a:cubicBezTo>
                  <a:close/>
                </a:path>
              </a:pathLst>
            </a:custGeom>
            <a:solidFill>
              <a:srgbClr val="F0E5F9"/>
            </a:solidFill>
            <a:ln w="38100" cap="rnd">
              <a:solidFill>
                <a:srgbClr val="979CE3"/>
              </a:solidFill>
              <a:prstDash val="solid"/>
              <a:round/>
            </a:ln>
          </p:spPr>
        </p:sp>
        <p:sp>
          <p:nvSpPr>
            <p:cNvPr id="7" name="TextBox 7"/>
            <p:cNvSpPr txBox="1"/>
            <p:nvPr/>
          </p:nvSpPr>
          <p:spPr>
            <a:xfrm>
              <a:off x="0" y="-57150"/>
              <a:ext cx="2207940" cy="1764707"/>
            </a:xfrm>
            <a:prstGeom prst="rect">
              <a:avLst/>
            </a:prstGeom>
          </p:spPr>
          <p:txBody>
            <a:bodyPr lIns="50800" tIns="50800" rIns="50800" bIns="50800" rtlCol="0" anchor="ctr"/>
            <a:lstStyle/>
            <a:p>
              <a:pPr algn="ctr">
                <a:lnSpc>
                  <a:spcPts val="2380"/>
                </a:lnSpc>
              </a:pPr>
              <a:endParaRPr/>
            </a:p>
          </p:txBody>
        </p:sp>
      </p:grpSp>
      <p:sp>
        <p:nvSpPr>
          <p:cNvPr id="8" name="AutoShape 8"/>
          <p:cNvSpPr/>
          <p:nvPr/>
        </p:nvSpPr>
        <p:spPr>
          <a:xfrm>
            <a:off x="10272953" y="4381963"/>
            <a:ext cx="6492240" cy="0"/>
          </a:xfrm>
          <a:prstGeom prst="line">
            <a:avLst/>
          </a:prstGeom>
          <a:ln w="9525" cap="flat">
            <a:solidFill>
              <a:srgbClr val="000000"/>
            </a:solidFill>
            <a:prstDash val="solid"/>
            <a:headEnd type="none" w="sm" len="sm"/>
            <a:tailEnd type="none" w="sm" len="sm"/>
          </a:ln>
        </p:spPr>
      </p:sp>
      <p:sp>
        <p:nvSpPr>
          <p:cNvPr id="9" name="AutoShape 9"/>
          <p:cNvSpPr/>
          <p:nvPr/>
        </p:nvSpPr>
        <p:spPr>
          <a:xfrm>
            <a:off x="10272953" y="5295348"/>
            <a:ext cx="6492240" cy="0"/>
          </a:xfrm>
          <a:prstGeom prst="line">
            <a:avLst/>
          </a:prstGeom>
          <a:ln w="9525" cap="flat">
            <a:solidFill>
              <a:srgbClr val="000000"/>
            </a:solidFill>
            <a:prstDash val="solid"/>
            <a:headEnd type="none" w="sm" len="sm"/>
            <a:tailEnd type="none" w="sm" len="sm"/>
          </a:ln>
        </p:spPr>
      </p:sp>
      <p:sp>
        <p:nvSpPr>
          <p:cNvPr id="10" name="AutoShape 10"/>
          <p:cNvSpPr/>
          <p:nvPr/>
        </p:nvSpPr>
        <p:spPr>
          <a:xfrm>
            <a:off x="10272953" y="6353651"/>
            <a:ext cx="6492240" cy="0"/>
          </a:xfrm>
          <a:prstGeom prst="line">
            <a:avLst/>
          </a:prstGeom>
          <a:ln w="9525" cap="flat">
            <a:solidFill>
              <a:srgbClr val="000000"/>
            </a:solidFill>
            <a:prstDash val="solid"/>
            <a:headEnd type="none" w="sm" len="sm"/>
            <a:tailEnd type="none" w="sm" len="sm"/>
          </a:ln>
        </p:spPr>
      </p:sp>
      <p:sp>
        <p:nvSpPr>
          <p:cNvPr id="11" name="AutoShape 11"/>
          <p:cNvSpPr/>
          <p:nvPr/>
        </p:nvSpPr>
        <p:spPr>
          <a:xfrm>
            <a:off x="10272953" y="7351522"/>
            <a:ext cx="6492240" cy="0"/>
          </a:xfrm>
          <a:prstGeom prst="line">
            <a:avLst/>
          </a:prstGeom>
          <a:ln w="9525" cap="flat">
            <a:solidFill>
              <a:srgbClr val="000000"/>
            </a:solidFill>
            <a:prstDash val="solid"/>
            <a:headEnd type="none" w="sm" len="sm"/>
            <a:tailEnd type="none" w="sm" len="sm"/>
          </a:ln>
        </p:spPr>
      </p:sp>
      <p:sp>
        <p:nvSpPr>
          <p:cNvPr id="12" name="Freeform 12"/>
          <p:cNvSpPr/>
          <p:nvPr/>
        </p:nvSpPr>
        <p:spPr>
          <a:xfrm>
            <a:off x="10238833" y="2342955"/>
            <a:ext cx="1121235" cy="803212"/>
          </a:xfrm>
          <a:custGeom>
            <a:avLst/>
            <a:gdLst/>
            <a:ahLst/>
            <a:cxnLst/>
            <a:rect l="l" t="t" r="r" b="b"/>
            <a:pathLst>
              <a:path w="1121235" h="803212">
                <a:moveTo>
                  <a:pt x="0" y="0"/>
                </a:moveTo>
                <a:lnTo>
                  <a:pt x="1121234" y="0"/>
                </a:lnTo>
                <a:lnTo>
                  <a:pt x="1121234" y="803211"/>
                </a:lnTo>
                <a:lnTo>
                  <a:pt x="0" y="8032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616361" y="2261978"/>
            <a:ext cx="734546" cy="884189"/>
          </a:xfrm>
          <a:custGeom>
            <a:avLst/>
            <a:gdLst/>
            <a:ahLst/>
            <a:cxnLst/>
            <a:rect l="l" t="t" r="r" b="b"/>
            <a:pathLst>
              <a:path w="734546" h="884189">
                <a:moveTo>
                  <a:pt x="0" y="0"/>
                </a:moveTo>
                <a:lnTo>
                  <a:pt x="734546" y="0"/>
                </a:lnTo>
                <a:lnTo>
                  <a:pt x="734546" y="884188"/>
                </a:lnTo>
                <a:lnTo>
                  <a:pt x="0" y="8841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5321379" y="390525"/>
            <a:ext cx="7645241" cy="1011046"/>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ea typeface="Poppins Bold"/>
                <a:cs typeface="Poppins Bold"/>
                <a:sym typeface="Poppins Bold"/>
              </a:rPr>
              <a:t>KẾT LUẬN &amp; HỎI ĐÁP</a:t>
            </a:r>
          </a:p>
        </p:txBody>
      </p:sp>
      <p:sp>
        <p:nvSpPr>
          <p:cNvPr id="15" name="TextBox 15"/>
          <p:cNvSpPr txBox="1"/>
          <p:nvPr/>
        </p:nvSpPr>
        <p:spPr>
          <a:xfrm>
            <a:off x="2661901" y="2332473"/>
            <a:ext cx="2205157" cy="589713"/>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ea typeface="Poppins Bold"/>
                <a:cs typeface="Poppins Bold"/>
                <a:sym typeface="Poppins Bold"/>
              </a:rPr>
              <a:t>TỔNG KẾT</a:t>
            </a:r>
          </a:p>
        </p:txBody>
      </p:sp>
      <p:sp>
        <p:nvSpPr>
          <p:cNvPr id="16" name="TextBox 16"/>
          <p:cNvSpPr txBox="1"/>
          <p:nvPr/>
        </p:nvSpPr>
        <p:spPr>
          <a:xfrm>
            <a:off x="1205104" y="3245380"/>
            <a:ext cx="6161074" cy="843915"/>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ea typeface="Poppins Bold"/>
                <a:cs typeface="Poppins Bold"/>
                <a:sym typeface="Poppins Bold"/>
              </a:rPr>
              <a:t>-Hệ thống P2P Chat được xây dựng thành công với các chức năng cốt lõi.</a:t>
            </a:r>
          </a:p>
        </p:txBody>
      </p:sp>
      <p:sp>
        <p:nvSpPr>
          <p:cNvPr id="17" name="TextBox 17"/>
          <p:cNvSpPr txBox="1"/>
          <p:nvPr/>
        </p:nvSpPr>
        <p:spPr>
          <a:xfrm>
            <a:off x="1205104" y="4774123"/>
            <a:ext cx="7091112" cy="879475"/>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ea typeface="Poppins Bold"/>
                <a:cs typeface="Poppins Bold"/>
                <a:sym typeface="Poppins Bold"/>
              </a:rPr>
              <a:t>-Áp dụng kiến thức về Socket, Security, Threading, GUI và quản lý dữ liệu.</a:t>
            </a:r>
          </a:p>
        </p:txBody>
      </p:sp>
      <p:sp>
        <p:nvSpPr>
          <p:cNvPr id="18" name="TextBox 18"/>
          <p:cNvSpPr txBox="1"/>
          <p:nvPr/>
        </p:nvSpPr>
        <p:spPr>
          <a:xfrm>
            <a:off x="1205104" y="6019800"/>
            <a:ext cx="6546247" cy="879475"/>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ea typeface="Poppins Bold"/>
                <a:cs typeface="Poppins Bold"/>
                <a:sym typeface="Poppins Bold"/>
              </a:rPr>
              <a:t>-Đảm bảo tính bảo mật, ổn định và khả năng mở rộng.</a:t>
            </a:r>
          </a:p>
        </p:txBody>
      </p:sp>
      <p:sp>
        <p:nvSpPr>
          <p:cNvPr id="19" name="TextBox 19"/>
          <p:cNvSpPr txBox="1"/>
          <p:nvPr/>
        </p:nvSpPr>
        <p:spPr>
          <a:xfrm>
            <a:off x="1134814" y="7618983"/>
            <a:ext cx="6522698" cy="421206"/>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ea typeface="Poppins Bold"/>
                <a:cs typeface="Poppins Bold"/>
                <a:sym typeface="Poppins Bold"/>
              </a:rPr>
              <a:t>-Giao diện thân thiện, phản hồi nhanh và ổn định</a:t>
            </a:r>
          </a:p>
        </p:txBody>
      </p:sp>
      <p:sp>
        <p:nvSpPr>
          <p:cNvPr id="20" name="TextBox 20"/>
          <p:cNvSpPr txBox="1"/>
          <p:nvPr/>
        </p:nvSpPr>
        <p:spPr>
          <a:xfrm>
            <a:off x="11597774" y="2280754"/>
            <a:ext cx="5014675" cy="589713"/>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ea typeface="Poppins Bold"/>
                <a:cs typeface="Poppins Bold"/>
                <a:sym typeface="Poppins Bold"/>
              </a:rPr>
              <a:t>ĐÓNG GÓP CỦA NHÓM</a:t>
            </a:r>
          </a:p>
        </p:txBody>
      </p:sp>
      <p:sp>
        <p:nvSpPr>
          <p:cNvPr id="21" name="TextBox 21"/>
          <p:cNvSpPr txBox="1"/>
          <p:nvPr/>
        </p:nvSpPr>
        <p:spPr>
          <a:xfrm>
            <a:off x="10487265" y="3809020"/>
            <a:ext cx="1791295" cy="337015"/>
          </a:xfrm>
          <a:prstGeom prst="rect">
            <a:avLst/>
          </a:prstGeom>
        </p:spPr>
        <p:txBody>
          <a:bodyPr lIns="0" tIns="0" rIns="0" bIns="0" rtlCol="0" anchor="t">
            <a:spAutoFit/>
          </a:bodyPr>
          <a:lstStyle/>
          <a:p>
            <a:pPr algn="l">
              <a:lnSpc>
                <a:spcPts val="2799"/>
              </a:lnSpc>
              <a:spcBef>
                <a:spcPct val="0"/>
              </a:spcBef>
            </a:pPr>
            <a:r>
              <a:rPr lang="en-US" sz="1999" b="1">
                <a:solidFill>
                  <a:srgbClr val="000000"/>
                </a:solidFill>
                <a:ea typeface="Poppins Bold"/>
                <a:cs typeface="Poppins Bold"/>
                <a:sym typeface="Poppins Bold"/>
              </a:rPr>
              <a:t>TRẦN HỮU TÀI</a:t>
            </a:r>
          </a:p>
        </p:txBody>
      </p:sp>
      <p:sp>
        <p:nvSpPr>
          <p:cNvPr id="22" name="TextBox 22"/>
          <p:cNvSpPr txBox="1"/>
          <p:nvPr/>
        </p:nvSpPr>
        <p:spPr>
          <a:xfrm>
            <a:off x="10047058" y="5648835"/>
            <a:ext cx="3031808" cy="337015"/>
          </a:xfrm>
          <a:prstGeom prst="rect">
            <a:avLst/>
          </a:prstGeom>
        </p:spPr>
        <p:txBody>
          <a:bodyPr lIns="0" tIns="0" rIns="0" bIns="0" rtlCol="0" anchor="t">
            <a:spAutoFit/>
          </a:bodyPr>
          <a:lstStyle/>
          <a:p>
            <a:pPr algn="l">
              <a:lnSpc>
                <a:spcPts val="2799"/>
              </a:lnSpc>
              <a:spcBef>
                <a:spcPct val="0"/>
              </a:spcBef>
            </a:pPr>
            <a:r>
              <a:rPr lang="en-US" sz="1999" b="1">
                <a:solidFill>
                  <a:srgbClr val="000000"/>
                </a:solidFill>
                <a:ea typeface="Poppins Bold"/>
                <a:cs typeface="Poppins Bold"/>
                <a:sym typeface="Poppins Bold"/>
              </a:rPr>
              <a:t>NGUYỄN PHAN HOÀI BIN</a:t>
            </a:r>
          </a:p>
        </p:txBody>
      </p:sp>
      <p:sp>
        <p:nvSpPr>
          <p:cNvPr id="23" name="TextBox 23"/>
          <p:cNvSpPr txBox="1"/>
          <p:nvPr/>
        </p:nvSpPr>
        <p:spPr>
          <a:xfrm>
            <a:off x="10487265" y="4661852"/>
            <a:ext cx="3031808" cy="337015"/>
          </a:xfrm>
          <a:prstGeom prst="rect">
            <a:avLst/>
          </a:prstGeom>
        </p:spPr>
        <p:txBody>
          <a:bodyPr lIns="0" tIns="0" rIns="0" bIns="0" rtlCol="0" anchor="t">
            <a:spAutoFit/>
          </a:bodyPr>
          <a:lstStyle/>
          <a:p>
            <a:pPr algn="l">
              <a:lnSpc>
                <a:spcPts val="2799"/>
              </a:lnSpc>
              <a:spcBef>
                <a:spcPct val="0"/>
              </a:spcBef>
            </a:pPr>
            <a:r>
              <a:rPr lang="en-US" sz="1999" b="1">
                <a:solidFill>
                  <a:srgbClr val="000000"/>
                </a:solidFill>
                <a:ea typeface="Poppins Bold"/>
                <a:cs typeface="Poppins Bold"/>
                <a:sym typeface="Poppins Bold"/>
              </a:rPr>
              <a:t>NGUYỄN VĂN TÀI</a:t>
            </a:r>
          </a:p>
        </p:txBody>
      </p:sp>
      <p:sp>
        <p:nvSpPr>
          <p:cNvPr id="24" name="TextBox 24"/>
          <p:cNvSpPr txBox="1"/>
          <p:nvPr/>
        </p:nvSpPr>
        <p:spPr>
          <a:xfrm>
            <a:off x="10520602" y="6684079"/>
            <a:ext cx="3031808" cy="337015"/>
          </a:xfrm>
          <a:prstGeom prst="rect">
            <a:avLst/>
          </a:prstGeom>
        </p:spPr>
        <p:txBody>
          <a:bodyPr lIns="0" tIns="0" rIns="0" bIns="0" rtlCol="0" anchor="t">
            <a:spAutoFit/>
          </a:bodyPr>
          <a:lstStyle/>
          <a:p>
            <a:pPr algn="l">
              <a:lnSpc>
                <a:spcPts val="2799"/>
              </a:lnSpc>
              <a:spcBef>
                <a:spcPct val="0"/>
              </a:spcBef>
            </a:pPr>
            <a:r>
              <a:rPr lang="en-US" sz="1999" b="1">
                <a:solidFill>
                  <a:srgbClr val="000000"/>
                </a:solidFill>
                <a:ea typeface="Poppins Bold"/>
                <a:cs typeface="Poppins Bold"/>
                <a:sym typeface="Poppins Bold"/>
              </a:rPr>
              <a:t>LÊ QUỐC THỊNH</a:t>
            </a:r>
          </a:p>
        </p:txBody>
      </p:sp>
      <p:sp>
        <p:nvSpPr>
          <p:cNvPr id="25" name="TextBox 25"/>
          <p:cNvSpPr txBox="1"/>
          <p:nvPr/>
        </p:nvSpPr>
        <p:spPr>
          <a:xfrm>
            <a:off x="10272953" y="7565834"/>
            <a:ext cx="3031808" cy="337015"/>
          </a:xfrm>
          <a:prstGeom prst="rect">
            <a:avLst/>
          </a:prstGeom>
        </p:spPr>
        <p:txBody>
          <a:bodyPr lIns="0" tIns="0" rIns="0" bIns="0" rtlCol="0" anchor="t">
            <a:spAutoFit/>
          </a:bodyPr>
          <a:lstStyle/>
          <a:p>
            <a:pPr algn="l">
              <a:lnSpc>
                <a:spcPts val="2799"/>
              </a:lnSpc>
              <a:spcBef>
                <a:spcPct val="0"/>
              </a:spcBef>
            </a:pPr>
            <a:r>
              <a:rPr lang="en-US" sz="1999" b="1">
                <a:solidFill>
                  <a:srgbClr val="000000"/>
                </a:solidFill>
                <a:ea typeface="Poppins Bold"/>
                <a:cs typeface="Poppins Bold"/>
                <a:sym typeface="Poppins Bold"/>
              </a:rPr>
              <a:t>TRẦN THỊ THANH THƠ</a:t>
            </a:r>
          </a:p>
        </p:txBody>
      </p:sp>
      <p:sp>
        <p:nvSpPr>
          <p:cNvPr id="26" name="TextBox 26"/>
          <p:cNvSpPr txBox="1"/>
          <p:nvPr/>
        </p:nvSpPr>
        <p:spPr>
          <a:xfrm>
            <a:off x="13519073" y="3563275"/>
            <a:ext cx="3993225" cy="640080"/>
          </a:xfrm>
          <a:prstGeom prst="rect">
            <a:avLst/>
          </a:prstGeom>
        </p:spPr>
        <p:txBody>
          <a:bodyPr lIns="0" tIns="0" rIns="0" bIns="0" rtlCol="0" anchor="t">
            <a:spAutoFit/>
          </a:bodyPr>
          <a:lstStyle/>
          <a:p>
            <a:pPr algn="l">
              <a:lnSpc>
                <a:spcPts val="2520"/>
              </a:lnSpc>
              <a:spcBef>
                <a:spcPct val="0"/>
              </a:spcBef>
            </a:pPr>
            <a:r>
              <a:rPr lang="en-US" sz="1800">
                <a:solidFill>
                  <a:srgbClr val="000000"/>
                </a:solidFill>
                <a:ea typeface="Poppins"/>
                <a:cs typeface="Poppins"/>
                <a:sym typeface="Poppins"/>
              </a:rPr>
              <a:t>Core Network, Vòng đời Ứng dụng &amp; Cấu hình</a:t>
            </a:r>
          </a:p>
        </p:txBody>
      </p:sp>
      <p:sp>
        <p:nvSpPr>
          <p:cNvPr id="27" name="TextBox 27"/>
          <p:cNvSpPr txBox="1"/>
          <p:nvPr/>
        </p:nvSpPr>
        <p:spPr>
          <a:xfrm>
            <a:off x="13519073" y="4538980"/>
            <a:ext cx="4209843" cy="640080"/>
          </a:xfrm>
          <a:prstGeom prst="rect">
            <a:avLst/>
          </a:prstGeom>
        </p:spPr>
        <p:txBody>
          <a:bodyPr lIns="0" tIns="0" rIns="0" bIns="0" rtlCol="0" anchor="t">
            <a:spAutoFit/>
          </a:bodyPr>
          <a:lstStyle/>
          <a:p>
            <a:pPr algn="l">
              <a:lnSpc>
                <a:spcPts val="2520"/>
              </a:lnSpc>
              <a:spcBef>
                <a:spcPct val="0"/>
              </a:spcBef>
            </a:pPr>
            <a:r>
              <a:rPr lang="en-US" sz="1800">
                <a:solidFill>
                  <a:srgbClr val="000000"/>
                </a:solidFill>
                <a:ea typeface="Poppins"/>
                <a:cs typeface="Poppins"/>
                <a:sym typeface="Poppins"/>
              </a:rPr>
              <a:t>Bảo mật (Security), Định danh (Identity) &amp; Mã hóa</a:t>
            </a:r>
          </a:p>
        </p:txBody>
      </p:sp>
      <p:sp>
        <p:nvSpPr>
          <p:cNvPr id="28" name="TextBox 28"/>
          <p:cNvSpPr txBox="1"/>
          <p:nvPr/>
        </p:nvSpPr>
        <p:spPr>
          <a:xfrm>
            <a:off x="13519073" y="5604827"/>
            <a:ext cx="3751429" cy="640080"/>
          </a:xfrm>
          <a:prstGeom prst="rect">
            <a:avLst/>
          </a:prstGeom>
        </p:spPr>
        <p:txBody>
          <a:bodyPr lIns="0" tIns="0" rIns="0" bIns="0" rtlCol="0" anchor="t">
            <a:spAutoFit/>
          </a:bodyPr>
          <a:lstStyle/>
          <a:p>
            <a:pPr algn="l">
              <a:lnSpc>
                <a:spcPts val="2520"/>
              </a:lnSpc>
              <a:spcBef>
                <a:spcPct val="0"/>
              </a:spcBef>
            </a:pPr>
            <a:r>
              <a:rPr lang="en-US" sz="1800">
                <a:solidFill>
                  <a:srgbClr val="000000"/>
                </a:solidFill>
                <a:ea typeface="Poppins"/>
                <a:cs typeface="Poppins"/>
                <a:sym typeface="Poppins"/>
              </a:rPr>
              <a:t>Giao thức (Protocol) &amp; Quản lý Truyền tải File</a:t>
            </a:r>
          </a:p>
        </p:txBody>
      </p:sp>
      <p:sp>
        <p:nvSpPr>
          <p:cNvPr id="29" name="TextBox 29"/>
          <p:cNvSpPr txBox="1"/>
          <p:nvPr/>
        </p:nvSpPr>
        <p:spPr>
          <a:xfrm>
            <a:off x="13519073" y="6563678"/>
            <a:ext cx="3961921" cy="640080"/>
          </a:xfrm>
          <a:prstGeom prst="rect">
            <a:avLst/>
          </a:prstGeom>
        </p:spPr>
        <p:txBody>
          <a:bodyPr lIns="0" tIns="0" rIns="0" bIns="0" rtlCol="0" anchor="t">
            <a:spAutoFit/>
          </a:bodyPr>
          <a:lstStyle/>
          <a:p>
            <a:pPr algn="l">
              <a:lnSpc>
                <a:spcPts val="2520"/>
              </a:lnSpc>
              <a:spcBef>
                <a:spcPct val="0"/>
              </a:spcBef>
            </a:pPr>
            <a:r>
              <a:rPr lang="en-US" sz="1800">
                <a:solidFill>
                  <a:srgbClr val="000000"/>
                </a:solidFill>
                <a:ea typeface="Poppins"/>
                <a:cs typeface="Poppins"/>
                <a:sym typeface="Poppins"/>
              </a:rPr>
              <a:t>Lưu trữ (Storage) &amp; Cơ chế Trust-On-First-Use (TOFU)</a:t>
            </a:r>
          </a:p>
        </p:txBody>
      </p:sp>
      <p:sp>
        <p:nvSpPr>
          <p:cNvPr id="30" name="TextBox 30"/>
          <p:cNvSpPr txBox="1"/>
          <p:nvPr/>
        </p:nvSpPr>
        <p:spPr>
          <a:xfrm>
            <a:off x="13412690" y="7539673"/>
            <a:ext cx="3823335" cy="30136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ea typeface="Poppins"/>
                <a:cs typeface="Poppins"/>
                <a:sym typeface="Poppins"/>
              </a:rPr>
              <a:t>Giao diện (GUI Layer) &amp; Controller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
                                        <p:tgtEl>
                                          <p:spTgt spid="2"/>
                                        </p:tgtEl>
                                      </p:cBhvr>
                                    </p:animEffect>
                                  </p:childTnLst>
                                </p:cTn>
                              </p:par>
                            </p:childTnLst>
                          </p:cTn>
                        </p:par>
                        <p:par>
                          <p:cTn id="8" fill="hold">
                            <p:stCondLst>
                              <p:cond delay="5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
                                        <p:tgtEl>
                                          <p:spTgt spid="5"/>
                                        </p:tgtEl>
                                      </p:cBhvr>
                                    </p:animEffect>
                                  </p:childTnLst>
                                </p:cTn>
                              </p:par>
                            </p:childTnLst>
                          </p:cTn>
                        </p:par>
                        <p:par>
                          <p:cTn id="12" fill="hold">
                            <p:stCondLst>
                              <p:cond delay="1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
                                        <p:tgtEl>
                                          <p:spTgt spid="8"/>
                                        </p:tgtEl>
                                      </p:cBhvr>
                                    </p:animEffect>
                                  </p:childTnLst>
                                </p:cTn>
                              </p:par>
                            </p:childTnLst>
                          </p:cTn>
                        </p:par>
                        <p:par>
                          <p:cTn id="16" fill="hold">
                            <p:stCondLst>
                              <p:cond delay="15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
                                        <p:tgtEl>
                                          <p:spTgt spid="9"/>
                                        </p:tgtEl>
                                      </p:cBhvr>
                                    </p:animEffect>
                                  </p:childTnLst>
                                </p:cTn>
                              </p:par>
                            </p:childTnLst>
                          </p:cTn>
                        </p:par>
                        <p:par>
                          <p:cTn id="20" fill="hold">
                            <p:stCondLst>
                              <p:cond delay="2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
                                        <p:tgtEl>
                                          <p:spTgt spid="10"/>
                                        </p:tgtEl>
                                      </p:cBhvr>
                                    </p:animEffect>
                                  </p:childTnLst>
                                </p:cTn>
                              </p:par>
                            </p:childTnLst>
                          </p:cTn>
                        </p:par>
                        <p:par>
                          <p:cTn id="24" fill="hold">
                            <p:stCondLst>
                              <p:cond delay="250"/>
                            </p:stCondLst>
                            <p:childTnLst>
                              <p:par>
                                <p:cTn id="25" presetID="10" presetClass="entr" presetSubtype="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
                                        <p:tgtEl>
                                          <p:spTgt spid="11"/>
                                        </p:tgtEl>
                                      </p:cBhvr>
                                    </p:animEffect>
                                  </p:childTnLst>
                                </p:cTn>
                              </p:par>
                            </p:childTnLst>
                          </p:cTn>
                        </p:par>
                        <p:par>
                          <p:cTn id="28" fill="hold">
                            <p:stCondLst>
                              <p:cond delay="300"/>
                            </p:stCondLst>
                            <p:childTnLst>
                              <p:par>
                                <p:cTn id="29" presetID="10"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
                                        <p:tgtEl>
                                          <p:spTgt spid="12"/>
                                        </p:tgtEl>
                                      </p:cBhvr>
                                    </p:animEffect>
                                  </p:childTnLst>
                                </p:cTn>
                              </p:par>
                            </p:childTnLst>
                          </p:cTn>
                        </p:par>
                        <p:par>
                          <p:cTn id="32" fill="hold">
                            <p:stCondLst>
                              <p:cond delay="35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
                                        <p:tgtEl>
                                          <p:spTgt spid="13"/>
                                        </p:tgtEl>
                                      </p:cBhvr>
                                    </p:animEffect>
                                  </p:childTnLst>
                                </p:cTn>
                              </p:par>
                            </p:childTnLst>
                          </p:cTn>
                        </p:par>
                        <p:par>
                          <p:cTn id="36" fill="hold">
                            <p:stCondLst>
                              <p:cond delay="4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
                                        <p:tgtEl>
                                          <p:spTgt spid="14"/>
                                        </p:tgtEl>
                                      </p:cBhvr>
                                    </p:animEffect>
                                  </p:childTnLst>
                                </p:cTn>
                              </p:par>
                            </p:childTnLst>
                          </p:cTn>
                        </p:par>
                        <p:par>
                          <p:cTn id="40" fill="hold">
                            <p:stCondLst>
                              <p:cond delay="45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
                                        <p:tgtEl>
                                          <p:spTgt spid="15"/>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
                                        <p:tgtEl>
                                          <p:spTgt spid="16"/>
                                        </p:tgtEl>
                                      </p:cBhvr>
                                    </p:animEffect>
                                  </p:childTnLst>
                                </p:cTn>
                              </p:par>
                            </p:childTnLst>
                          </p:cTn>
                        </p:par>
                        <p:par>
                          <p:cTn id="48" fill="hold">
                            <p:stCondLst>
                              <p:cond delay="550"/>
                            </p:stCondLst>
                            <p:childTnLst>
                              <p:par>
                                <p:cTn id="49" presetID="10" presetClass="entr" presetSubtype="0" fill="hold" grpId="0"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
                                        <p:tgtEl>
                                          <p:spTgt spid="17"/>
                                        </p:tgtEl>
                                      </p:cBhvr>
                                    </p:animEffect>
                                  </p:childTnLst>
                                </p:cTn>
                              </p:par>
                            </p:childTnLst>
                          </p:cTn>
                        </p:par>
                        <p:par>
                          <p:cTn id="52" fill="hold">
                            <p:stCondLst>
                              <p:cond delay="600"/>
                            </p:stCondLst>
                            <p:childTnLst>
                              <p:par>
                                <p:cTn id="53" presetID="10" presetClass="entr" presetSubtype="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
                                        <p:tgtEl>
                                          <p:spTgt spid="18"/>
                                        </p:tgtEl>
                                      </p:cBhvr>
                                    </p:animEffect>
                                  </p:childTnLst>
                                </p:cTn>
                              </p:par>
                            </p:childTnLst>
                          </p:cTn>
                        </p:par>
                        <p:par>
                          <p:cTn id="56" fill="hold">
                            <p:stCondLst>
                              <p:cond delay="65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
                                        <p:tgtEl>
                                          <p:spTgt spid="19"/>
                                        </p:tgtEl>
                                      </p:cBhvr>
                                    </p:animEffect>
                                  </p:childTnLst>
                                </p:cTn>
                              </p:par>
                            </p:childTnLst>
                          </p:cTn>
                        </p:par>
                        <p:par>
                          <p:cTn id="60" fill="hold">
                            <p:stCondLst>
                              <p:cond delay="700"/>
                            </p:stCondLst>
                            <p:childTnLst>
                              <p:par>
                                <p:cTn id="61" presetID="10" presetClass="entr" presetSubtype="0" fill="hold" grpId="0"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
                                        <p:tgtEl>
                                          <p:spTgt spid="20"/>
                                        </p:tgtEl>
                                      </p:cBhvr>
                                    </p:animEffect>
                                  </p:childTnLst>
                                </p:cTn>
                              </p:par>
                            </p:childTnLst>
                          </p:cTn>
                        </p:par>
                        <p:par>
                          <p:cTn id="64" fill="hold">
                            <p:stCondLst>
                              <p:cond delay="750"/>
                            </p:stCondLst>
                            <p:childTnLst>
                              <p:par>
                                <p:cTn id="65" presetID="10" presetClass="entr" presetSubtype="0" fill="hold" grpId="0" nodeType="after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
                                        <p:tgtEl>
                                          <p:spTgt spid="21"/>
                                        </p:tgtEl>
                                      </p:cBhvr>
                                    </p:animEffect>
                                  </p:childTnLst>
                                </p:cTn>
                              </p:par>
                            </p:childTnLst>
                          </p:cTn>
                        </p:par>
                        <p:par>
                          <p:cTn id="68" fill="hold">
                            <p:stCondLst>
                              <p:cond delay="800"/>
                            </p:stCondLst>
                            <p:childTnLst>
                              <p:par>
                                <p:cTn id="69" presetID="10" presetClass="entr" presetSubtype="0" fill="hold" grpId="0"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
                                        <p:tgtEl>
                                          <p:spTgt spid="22"/>
                                        </p:tgtEl>
                                      </p:cBhvr>
                                    </p:animEffect>
                                  </p:childTnLst>
                                </p:cTn>
                              </p:par>
                            </p:childTnLst>
                          </p:cTn>
                        </p:par>
                        <p:par>
                          <p:cTn id="72" fill="hold">
                            <p:stCondLst>
                              <p:cond delay="850"/>
                            </p:stCondLst>
                            <p:childTnLst>
                              <p:par>
                                <p:cTn id="73" presetID="10" presetClass="entr" presetSubtype="0" fill="hold" grpId="0"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
                                        <p:tgtEl>
                                          <p:spTgt spid="23"/>
                                        </p:tgtEl>
                                      </p:cBhvr>
                                    </p:animEffect>
                                  </p:childTnLst>
                                </p:cTn>
                              </p:par>
                            </p:childTnLst>
                          </p:cTn>
                        </p:par>
                        <p:par>
                          <p:cTn id="76" fill="hold">
                            <p:stCondLst>
                              <p:cond delay="900"/>
                            </p:stCondLst>
                            <p:childTnLst>
                              <p:par>
                                <p:cTn id="77" presetID="10" presetClass="entr" presetSubtype="0"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
                                        <p:tgtEl>
                                          <p:spTgt spid="24"/>
                                        </p:tgtEl>
                                      </p:cBhvr>
                                    </p:animEffect>
                                  </p:childTnLst>
                                </p:cTn>
                              </p:par>
                            </p:childTnLst>
                          </p:cTn>
                        </p:par>
                        <p:par>
                          <p:cTn id="80" fill="hold">
                            <p:stCondLst>
                              <p:cond delay="950"/>
                            </p:stCondLst>
                            <p:childTnLst>
                              <p:par>
                                <p:cTn id="81" presetID="10" presetClass="entr" presetSubtype="0"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
                                        <p:tgtEl>
                                          <p:spTgt spid="25"/>
                                        </p:tgtEl>
                                      </p:cBhvr>
                                    </p:animEffect>
                                  </p:childTnLst>
                                </p:cTn>
                              </p:par>
                            </p:childTnLst>
                          </p:cTn>
                        </p:par>
                        <p:par>
                          <p:cTn id="84" fill="hold">
                            <p:stCondLst>
                              <p:cond delay="1000"/>
                            </p:stCondLst>
                            <p:childTnLst>
                              <p:par>
                                <p:cTn id="85" presetID="10" presetClass="entr" presetSubtype="0" fill="hold" grpId="0" nodeType="after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
                                        <p:tgtEl>
                                          <p:spTgt spid="26"/>
                                        </p:tgtEl>
                                      </p:cBhvr>
                                    </p:animEffect>
                                  </p:childTnLst>
                                </p:cTn>
                              </p:par>
                            </p:childTnLst>
                          </p:cTn>
                        </p:par>
                        <p:par>
                          <p:cTn id="88" fill="hold">
                            <p:stCondLst>
                              <p:cond delay="1050"/>
                            </p:stCondLst>
                            <p:childTnLst>
                              <p:par>
                                <p:cTn id="89" presetID="10" presetClass="entr" presetSubtype="0" fill="hold" grpId="0" nodeType="after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0"/>
                                        <p:tgtEl>
                                          <p:spTgt spid="27"/>
                                        </p:tgtEl>
                                      </p:cBhvr>
                                    </p:animEffect>
                                  </p:childTnLst>
                                </p:cTn>
                              </p:par>
                            </p:childTnLst>
                          </p:cTn>
                        </p:par>
                        <p:par>
                          <p:cTn id="92" fill="hold">
                            <p:stCondLst>
                              <p:cond delay="1100"/>
                            </p:stCondLst>
                            <p:childTnLst>
                              <p:par>
                                <p:cTn id="93" presetID="10" presetClass="entr" presetSubtype="0" fill="hold" grpId="0"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0"/>
                                        <p:tgtEl>
                                          <p:spTgt spid="28"/>
                                        </p:tgtEl>
                                      </p:cBhvr>
                                    </p:animEffect>
                                  </p:childTnLst>
                                </p:cTn>
                              </p:par>
                            </p:childTnLst>
                          </p:cTn>
                        </p:par>
                        <p:par>
                          <p:cTn id="96" fill="hold">
                            <p:stCondLst>
                              <p:cond delay="1150"/>
                            </p:stCondLst>
                            <p:childTnLst>
                              <p:par>
                                <p:cTn id="97" presetID="10" presetClass="entr" presetSubtype="0" fill="hold" grpId="0" nodeType="after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50"/>
                                        <p:tgtEl>
                                          <p:spTgt spid="29"/>
                                        </p:tgtEl>
                                      </p:cBhvr>
                                    </p:animEffect>
                                  </p:childTnLst>
                                </p:cTn>
                              </p:par>
                            </p:childTnLst>
                          </p:cTn>
                        </p:par>
                        <p:par>
                          <p:cTn id="100" fill="hold">
                            <p:stCondLst>
                              <p:cond delay="1200"/>
                            </p:stCondLst>
                            <p:childTnLst>
                              <p:par>
                                <p:cTn id="101" presetID="10" presetClass="entr" presetSubtype="0" fill="hold" grpId="0"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25324" y="3617891"/>
            <a:ext cx="13895445" cy="4031532"/>
            <a:chOff x="0" y="0"/>
            <a:chExt cx="3659706" cy="1061803"/>
          </a:xfrm>
        </p:grpSpPr>
        <p:sp>
          <p:nvSpPr>
            <p:cNvPr id="3" name="Freeform 3"/>
            <p:cNvSpPr/>
            <p:nvPr/>
          </p:nvSpPr>
          <p:spPr>
            <a:xfrm>
              <a:off x="0" y="0"/>
              <a:ext cx="3659706" cy="1061803"/>
            </a:xfrm>
            <a:custGeom>
              <a:avLst/>
              <a:gdLst/>
              <a:ahLst/>
              <a:cxnLst/>
              <a:rect l="l" t="t" r="r" b="b"/>
              <a:pathLst>
                <a:path w="3659706" h="1061803">
                  <a:moveTo>
                    <a:pt x="17272" y="0"/>
                  </a:moveTo>
                  <a:lnTo>
                    <a:pt x="3642434" y="0"/>
                  </a:lnTo>
                  <a:cubicBezTo>
                    <a:pt x="3651973" y="0"/>
                    <a:pt x="3659706" y="7733"/>
                    <a:pt x="3659706" y="17272"/>
                  </a:cubicBezTo>
                  <a:lnTo>
                    <a:pt x="3659706" y="1044531"/>
                  </a:lnTo>
                  <a:cubicBezTo>
                    <a:pt x="3659706" y="1054070"/>
                    <a:pt x="3651973" y="1061803"/>
                    <a:pt x="3642434" y="1061803"/>
                  </a:cubicBezTo>
                  <a:lnTo>
                    <a:pt x="17272" y="1061803"/>
                  </a:lnTo>
                  <a:cubicBezTo>
                    <a:pt x="7733" y="1061803"/>
                    <a:pt x="0" y="1054070"/>
                    <a:pt x="0" y="1044531"/>
                  </a:cubicBezTo>
                  <a:lnTo>
                    <a:pt x="0" y="17272"/>
                  </a:lnTo>
                  <a:cubicBezTo>
                    <a:pt x="0" y="7733"/>
                    <a:pt x="7733" y="0"/>
                    <a:pt x="17272" y="0"/>
                  </a:cubicBezTo>
                  <a:close/>
                </a:path>
              </a:pathLst>
            </a:custGeom>
            <a:solidFill>
              <a:srgbClr val="D5EDF1"/>
            </a:solidFill>
            <a:ln cap="rnd">
              <a:noFill/>
              <a:prstDash val="solid"/>
              <a:round/>
            </a:ln>
          </p:spPr>
        </p:sp>
        <p:sp>
          <p:nvSpPr>
            <p:cNvPr id="4" name="TextBox 4"/>
            <p:cNvSpPr txBox="1"/>
            <p:nvPr/>
          </p:nvSpPr>
          <p:spPr>
            <a:xfrm>
              <a:off x="0" y="-57150"/>
              <a:ext cx="3659706" cy="1118953"/>
            </a:xfrm>
            <a:prstGeom prst="rect">
              <a:avLst/>
            </a:prstGeom>
          </p:spPr>
          <p:txBody>
            <a:bodyPr lIns="50800" tIns="50800" rIns="50800" bIns="50800" rtlCol="0" anchor="ctr"/>
            <a:lstStyle/>
            <a:p>
              <a:pPr marL="0" lvl="0" indent="0" algn="ctr">
                <a:lnSpc>
                  <a:spcPts val="2659"/>
                </a:lnSpc>
              </a:pPr>
              <a:endParaRPr/>
            </a:p>
          </p:txBody>
        </p:sp>
      </p:grpSp>
      <p:sp>
        <p:nvSpPr>
          <p:cNvPr id="5" name="TextBox 5"/>
          <p:cNvSpPr txBox="1"/>
          <p:nvPr/>
        </p:nvSpPr>
        <p:spPr>
          <a:xfrm>
            <a:off x="4373387" y="1476684"/>
            <a:ext cx="10223880" cy="1324402"/>
          </a:xfrm>
          <a:prstGeom prst="rect">
            <a:avLst/>
          </a:prstGeom>
        </p:spPr>
        <p:txBody>
          <a:bodyPr lIns="0" tIns="0" rIns="0" bIns="0" rtlCol="0" anchor="t">
            <a:spAutoFit/>
          </a:bodyPr>
          <a:lstStyle/>
          <a:p>
            <a:pPr marL="0" lvl="0" indent="0" algn="l">
              <a:lnSpc>
                <a:spcPts val="11016"/>
              </a:lnSpc>
            </a:pPr>
            <a:r>
              <a:rPr lang="en-US" sz="7869" b="1">
                <a:solidFill>
                  <a:srgbClr val="1D2159"/>
                </a:solidFill>
                <a:ea typeface="Poppins Bold"/>
                <a:cs typeface="Poppins Bold"/>
                <a:sym typeface="Poppins Bold"/>
              </a:rPr>
              <a:t>CẢM ƠN &amp; HỎI ĐÁP</a:t>
            </a:r>
          </a:p>
        </p:txBody>
      </p:sp>
      <p:sp>
        <p:nvSpPr>
          <p:cNvPr id="6" name="TextBox 6"/>
          <p:cNvSpPr txBox="1"/>
          <p:nvPr/>
        </p:nvSpPr>
        <p:spPr>
          <a:xfrm>
            <a:off x="2954065" y="3924872"/>
            <a:ext cx="12379871" cy="3380734"/>
          </a:xfrm>
          <a:prstGeom prst="rect">
            <a:avLst/>
          </a:prstGeom>
        </p:spPr>
        <p:txBody>
          <a:bodyPr lIns="0" tIns="0" rIns="0" bIns="0" rtlCol="0" anchor="t">
            <a:spAutoFit/>
          </a:bodyPr>
          <a:lstStyle/>
          <a:p>
            <a:pPr marL="0" lvl="0" indent="0" algn="ctr">
              <a:lnSpc>
                <a:spcPts val="3779"/>
              </a:lnSpc>
            </a:pPr>
            <a:r>
              <a:rPr lang="en-US" sz="2699" b="1">
                <a:solidFill>
                  <a:srgbClr val="1D2159"/>
                </a:solidFill>
                <a:ea typeface="Poppins Bold"/>
                <a:cs typeface="Poppins Bold"/>
                <a:sym typeface="Poppins Bold"/>
              </a:rPr>
              <a:t>Cảm ơn quý thầy  và các bạn đã lắng nghe!</a:t>
            </a:r>
          </a:p>
          <a:p>
            <a:pPr marL="0" lvl="0" indent="0" algn="ctr">
              <a:lnSpc>
                <a:spcPts val="3779"/>
              </a:lnSpc>
            </a:pPr>
            <a:endParaRPr lang="en-US" sz="2699" b="1">
              <a:solidFill>
                <a:srgbClr val="1D2159"/>
              </a:solidFill>
              <a:ea typeface="Poppins Bold"/>
              <a:cs typeface="Poppins Bold"/>
              <a:sym typeface="Poppins Bold"/>
            </a:endParaRPr>
          </a:p>
          <a:p>
            <a:pPr marL="0" lvl="0" indent="0" algn="ctr">
              <a:lnSpc>
                <a:spcPts val="3779"/>
              </a:lnSpc>
            </a:pPr>
            <a:r>
              <a:rPr lang="en-US" sz="2699" b="1">
                <a:solidFill>
                  <a:srgbClr val="1D2159"/>
                </a:solidFill>
                <a:ea typeface="Poppins Bold"/>
                <a:cs typeface="Poppins Bold"/>
                <a:sym typeface="Poppins Bold"/>
              </a:rPr>
              <a:t>Mời đặt câu hỏi và thảo luận cùng nhóm.</a:t>
            </a:r>
          </a:p>
          <a:p>
            <a:pPr marL="0" lvl="0" indent="0" algn="ctr">
              <a:lnSpc>
                <a:spcPts val="3779"/>
              </a:lnSpc>
            </a:pPr>
            <a:endParaRPr lang="en-US" sz="2699" b="1">
              <a:solidFill>
                <a:srgbClr val="1D2159"/>
              </a:solidFill>
              <a:ea typeface="Poppins Bold"/>
              <a:cs typeface="Poppins Bold"/>
              <a:sym typeface="Poppins Bold"/>
            </a:endParaRPr>
          </a:p>
          <a:p>
            <a:pPr marL="0" lvl="0" indent="0" algn="ctr">
              <a:lnSpc>
                <a:spcPts val="3779"/>
              </a:lnSpc>
            </a:pPr>
            <a:r>
              <a:rPr lang="en-US" sz="2699" b="1">
                <a:solidFill>
                  <a:srgbClr val="1D2159"/>
                </a:solidFill>
                <a:ea typeface="Poppins Bold"/>
                <a:cs typeface="Poppins Bold"/>
                <a:sym typeface="Poppins Bold"/>
              </a:rPr>
              <a:t>Ứng dụng nhắn tin P2PChat không sever - Báo cáo đồ án môn học</a:t>
            </a:r>
          </a:p>
          <a:p>
            <a:pPr marL="0" lvl="0" indent="0" algn="ctr">
              <a:lnSpc>
                <a:spcPts val="3779"/>
              </a:lnSpc>
            </a:pPr>
            <a:endParaRPr lang="en-US" sz="2699" b="1">
              <a:solidFill>
                <a:srgbClr val="1D2159"/>
              </a:solidFill>
              <a:ea typeface="Poppins Bold"/>
              <a:cs typeface="Poppins Bold"/>
              <a:sym typeface="Poppins Bold"/>
            </a:endParaRPr>
          </a:p>
          <a:p>
            <a:pPr marL="0" lvl="0" indent="0" algn="ctr">
              <a:lnSpc>
                <a:spcPts val="3779"/>
              </a:lnSpc>
            </a:pPr>
            <a:r>
              <a:rPr lang="en-US" sz="2699" b="1">
                <a:solidFill>
                  <a:srgbClr val="1D2159"/>
                </a:solidFill>
                <a:ea typeface="Poppins Bold"/>
                <a:cs typeface="Poppins Bold"/>
                <a:sym typeface="Poppins Bold"/>
              </a:rPr>
              <a:t>Trường Đại học Giao thông Vận tải TP.HCM</a:t>
            </a:r>
          </a:p>
        </p:txBody>
      </p:sp>
      <p:grpSp>
        <p:nvGrpSpPr>
          <p:cNvPr id="8" name="Group 8"/>
          <p:cNvGrpSpPr/>
          <p:nvPr/>
        </p:nvGrpSpPr>
        <p:grpSpPr>
          <a:xfrm>
            <a:off x="240854" y="-501900"/>
            <a:ext cx="2420186" cy="1858288"/>
            <a:chOff x="0" y="0"/>
            <a:chExt cx="637415" cy="489426"/>
          </a:xfrm>
        </p:grpSpPr>
        <p:sp>
          <p:nvSpPr>
            <p:cNvPr id="9" name="Freeform 9"/>
            <p:cNvSpPr/>
            <p:nvPr/>
          </p:nvSpPr>
          <p:spPr>
            <a:xfrm>
              <a:off x="0" y="0"/>
              <a:ext cx="637415" cy="489426"/>
            </a:xfrm>
            <a:custGeom>
              <a:avLst/>
              <a:gdLst/>
              <a:ahLst/>
              <a:cxnLst/>
              <a:rect l="l" t="t" r="r" b="b"/>
              <a:pathLst>
                <a:path w="637415" h="489426">
                  <a:moveTo>
                    <a:pt x="41586" y="0"/>
                  </a:moveTo>
                  <a:lnTo>
                    <a:pt x="595830" y="0"/>
                  </a:lnTo>
                  <a:cubicBezTo>
                    <a:pt x="606859" y="0"/>
                    <a:pt x="617436" y="4381"/>
                    <a:pt x="625235" y="12180"/>
                  </a:cubicBezTo>
                  <a:cubicBezTo>
                    <a:pt x="633034" y="19979"/>
                    <a:pt x="637415" y="30556"/>
                    <a:pt x="637415" y="41586"/>
                  </a:cubicBezTo>
                  <a:lnTo>
                    <a:pt x="637415" y="447840"/>
                  </a:lnTo>
                  <a:cubicBezTo>
                    <a:pt x="637415" y="470807"/>
                    <a:pt x="618797" y="489426"/>
                    <a:pt x="595830" y="489426"/>
                  </a:cubicBezTo>
                  <a:lnTo>
                    <a:pt x="41586" y="489426"/>
                  </a:lnTo>
                  <a:cubicBezTo>
                    <a:pt x="18619" y="489426"/>
                    <a:pt x="0" y="470807"/>
                    <a:pt x="0" y="447840"/>
                  </a:cubicBezTo>
                  <a:lnTo>
                    <a:pt x="0" y="41586"/>
                  </a:lnTo>
                  <a:cubicBezTo>
                    <a:pt x="0" y="18619"/>
                    <a:pt x="18619" y="0"/>
                    <a:pt x="41586" y="0"/>
                  </a:cubicBezTo>
                  <a:close/>
                </a:path>
              </a:pathLst>
            </a:custGeom>
            <a:solidFill>
              <a:srgbClr val="D5EDF1">
                <a:alpha val="22745"/>
              </a:srgbClr>
            </a:solidFill>
            <a:ln cap="sq">
              <a:noFill/>
              <a:prstDash val="solid"/>
              <a:miter/>
            </a:ln>
          </p:spPr>
        </p:sp>
        <p:sp>
          <p:nvSpPr>
            <p:cNvPr id="10" name="TextBox 10"/>
            <p:cNvSpPr txBox="1"/>
            <p:nvPr/>
          </p:nvSpPr>
          <p:spPr>
            <a:xfrm>
              <a:off x="0" y="-57150"/>
              <a:ext cx="637415" cy="546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12664325" y="546601"/>
            <a:ext cx="1082147" cy="1154057"/>
            <a:chOff x="0" y="0"/>
            <a:chExt cx="285010" cy="303949"/>
          </a:xfrm>
        </p:grpSpPr>
        <p:sp>
          <p:nvSpPr>
            <p:cNvPr id="12" name="Freeform 12"/>
            <p:cNvSpPr/>
            <p:nvPr/>
          </p:nvSpPr>
          <p:spPr>
            <a:xfrm>
              <a:off x="0" y="0"/>
              <a:ext cx="285010" cy="303949"/>
            </a:xfrm>
            <a:custGeom>
              <a:avLst/>
              <a:gdLst/>
              <a:ahLst/>
              <a:cxnLst/>
              <a:rect l="l" t="t" r="r" b="b"/>
              <a:pathLst>
                <a:path w="285010" h="303949">
                  <a:moveTo>
                    <a:pt x="93005" y="0"/>
                  </a:moveTo>
                  <a:lnTo>
                    <a:pt x="192005" y="0"/>
                  </a:lnTo>
                  <a:cubicBezTo>
                    <a:pt x="243370" y="0"/>
                    <a:pt x="285010" y="41640"/>
                    <a:pt x="285010" y="93005"/>
                  </a:cubicBezTo>
                  <a:lnTo>
                    <a:pt x="285010" y="210944"/>
                  </a:lnTo>
                  <a:cubicBezTo>
                    <a:pt x="285010" y="262309"/>
                    <a:pt x="243370" y="303949"/>
                    <a:pt x="192005" y="303949"/>
                  </a:cubicBezTo>
                  <a:lnTo>
                    <a:pt x="93005" y="303949"/>
                  </a:lnTo>
                  <a:cubicBezTo>
                    <a:pt x="41640" y="303949"/>
                    <a:pt x="0" y="262309"/>
                    <a:pt x="0" y="210944"/>
                  </a:cubicBezTo>
                  <a:lnTo>
                    <a:pt x="0" y="93005"/>
                  </a:lnTo>
                  <a:cubicBezTo>
                    <a:pt x="0" y="41640"/>
                    <a:pt x="41640" y="0"/>
                    <a:pt x="93005" y="0"/>
                  </a:cubicBezTo>
                  <a:close/>
                </a:path>
              </a:pathLst>
            </a:custGeom>
            <a:solidFill>
              <a:srgbClr val="D5EDF1">
                <a:alpha val="22745"/>
              </a:srgbClr>
            </a:solidFill>
            <a:ln cap="sq">
              <a:noFill/>
              <a:prstDash val="solid"/>
              <a:miter/>
            </a:ln>
          </p:spPr>
        </p:sp>
        <p:sp>
          <p:nvSpPr>
            <p:cNvPr id="13" name="TextBox 13"/>
            <p:cNvSpPr txBox="1"/>
            <p:nvPr/>
          </p:nvSpPr>
          <p:spPr>
            <a:xfrm>
              <a:off x="0" y="-57150"/>
              <a:ext cx="285010" cy="36109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5925683" y="8606364"/>
            <a:ext cx="1082147" cy="1154057"/>
            <a:chOff x="0" y="0"/>
            <a:chExt cx="285010" cy="303949"/>
          </a:xfrm>
        </p:grpSpPr>
        <p:sp>
          <p:nvSpPr>
            <p:cNvPr id="15" name="Freeform 15"/>
            <p:cNvSpPr/>
            <p:nvPr/>
          </p:nvSpPr>
          <p:spPr>
            <a:xfrm>
              <a:off x="0" y="0"/>
              <a:ext cx="285010" cy="303949"/>
            </a:xfrm>
            <a:custGeom>
              <a:avLst/>
              <a:gdLst/>
              <a:ahLst/>
              <a:cxnLst/>
              <a:rect l="l" t="t" r="r" b="b"/>
              <a:pathLst>
                <a:path w="285010" h="303949">
                  <a:moveTo>
                    <a:pt x="93005" y="0"/>
                  </a:moveTo>
                  <a:lnTo>
                    <a:pt x="192005" y="0"/>
                  </a:lnTo>
                  <a:cubicBezTo>
                    <a:pt x="243370" y="0"/>
                    <a:pt x="285010" y="41640"/>
                    <a:pt x="285010" y="93005"/>
                  </a:cubicBezTo>
                  <a:lnTo>
                    <a:pt x="285010" y="210944"/>
                  </a:lnTo>
                  <a:cubicBezTo>
                    <a:pt x="285010" y="262309"/>
                    <a:pt x="243370" y="303949"/>
                    <a:pt x="192005" y="303949"/>
                  </a:cubicBezTo>
                  <a:lnTo>
                    <a:pt x="93005" y="303949"/>
                  </a:lnTo>
                  <a:cubicBezTo>
                    <a:pt x="41640" y="303949"/>
                    <a:pt x="0" y="262309"/>
                    <a:pt x="0" y="210944"/>
                  </a:cubicBezTo>
                  <a:lnTo>
                    <a:pt x="0" y="93005"/>
                  </a:lnTo>
                  <a:cubicBezTo>
                    <a:pt x="0" y="41640"/>
                    <a:pt x="41640" y="0"/>
                    <a:pt x="93005" y="0"/>
                  </a:cubicBezTo>
                  <a:close/>
                </a:path>
              </a:pathLst>
            </a:custGeom>
            <a:solidFill>
              <a:srgbClr val="D5EDF1">
                <a:alpha val="22745"/>
              </a:srgbClr>
            </a:solidFill>
            <a:ln cap="sq">
              <a:noFill/>
              <a:prstDash val="solid"/>
              <a:miter/>
            </a:ln>
          </p:spPr>
        </p:sp>
        <p:sp>
          <p:nvSpPr>
            <p:cNvPr id="16" name="TextBox 16"/>
            <p:cNvSpPr txBox="1"/>
            <p:nvPr/>
          </p:nvSpPr>
          <p:spPr>
            <a:xfrm>
              <a:off x="0" y="-57150"/>
              <a:ext cx="285010" cy="36109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3686471" y="9258300"/>
            <a:ext cx="1821590" cy="1858288"/>
            <a:chOff x="0" y="0"/>
            <a:chExt cx="479760" cy="489426"/>
          </a:xfrm>
        </p:grpSpPr>
        <p:sp>
          <p:nvSpPr>
            <p:cNvPr id="18" name="Freeform 18"/>
            <p:cNvSpPr/>
            <p:nvPr/>
          </p:nvSpPr>
          <p:spPr>
            <a:xfrm>
              <a:off x="0" y="0"/>
              <a:ext cx="479760" cy="489426"/>
            </a:xfrm>
            <a:custGeom>
              <a:avLst/>
              <a:gdLst/>
              <a:ahLst/>
              <a:cxnLst/>
              <a:rect l="l" t="t" r="r" b="b"/>
              <a:pathLst>
                <a:path w="479760" h="489426">
                  <a:moveTo>
                    <a:pt x="55251" y="0"/>
                  </a:moveTo>
                  <a:lnTo>
                    <a:pt x="424509" y="0"/>
                  </a:lnTo>
                  <a:cubicBezTo>
                    <a:pt x="455024" y="0"/>
                    <a:pt x="479760" y="24737"/>
                    <a:pt x="479760" y="55251"/>
                  </a:cubicBezTo>
                  <a:lnTo>
                    <a:pt x="479760" y="434174"/>
                  </a:lnTo>
                  <a:cubicBezTo>
                    <a:pt x="479760" y="464689"/>
                    <a:pt x="455024" y="489426"/>
                    <a:pt x="424509" y="489426"/>
                  </a:cubicBezTo>
                  <a:lnTo>
                    <a:pt x="55251" y="489426"/>
                  </a:lnTo>
                  <a:cubicBezTo>
                    <a:pt x="24737" y="489426"/>
                    <a:pt x="0" y="464689"/>
                    <a:pt x="0" y="434174"/>
                  </a:cubicBezTo>
                  <a:lnTo>
                    <a:pt x="0" y="55251"/>
                  </a:lnTo>
                  <a:cubicBezTo>
                    <a:pt x="0" y="24737"/>
                    <a:pt x="24737" y="0"/>
                    <a:pt x="55251" y="0"/>
                  </a:cubicBezTo>
                  <a:close/>
                </a:path>
              </a:pathLst>
            </a:custGeom>
            <a:solidFill>
              <a:srgbClr val="D5EDF1">
                <a:alpha val="35686"/>
              </a:srgbClr>
            </a:solidFill>
            <a:ln cap="sq">
              <a:noFill/>
              <a:prstDash val="solid"/>
              <a:miter/>
            </a:ln>
          </p:spPr>
        </p:sp>
        <p:sp>
          <p:nvSpPr>
            <p:cNvPr id="19" name="TextBox 19"/>
            <p:cNvSpPr txBox="1"/>
            <p:nvPr/>
          </p:nvSpPr>
          <p:spPr>
            <a:xfrm>
              <a:off x="0" y="-57150"/>
              <a:ext cx="479760" cy="54657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Freeform 20"/>
          <p:cNvSpPr/>
          <p:nvPr/>
        </p:nvSpPr>
        <p:spPr>
          <a:xfrm>
            <a:off x="838200" y="9357545"/>
            <a:ext cx="5460231" cy="934646"/>
          </a:xfrm>
          <a:custGeom>
            <a:avLst/>
            <a:gdLst/>
            <a:ahLst/>
            <a:cxnLst/>
            <a:rect l="l" t="t" r="r" b="b"/>
            <a:pathLst>
              <a:path w="5460231" h="1777057">
                <a:moveTo>
                  <a:pt x="0" y="0"/>
                </a:moveTo>
                <a:lnTo>
                  <a:pt x="5460231" y="0"/>
                </a:lnTo>
                <a:lnTo>
                  <a:pt x="5460231" y="1777058"/>
                </a:lnTo>
                <a:lnTo>
                  <a:pt x="0" y="17770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2243</Words>
  <Application>Microsoft Office PowerPoint</Application>
  <PresentationFormat>Tùy chỉnh</PresentationFormat>
  <Paragraphs>299</Paragraphs>
  <Slides>17</Slides>
  <Notes>1</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17</vt:i4>
      </vt:variant>
    </vt:vector>
  </HeadingPairs>
  <TitlesOfParts>
    <vt:vector size="20" baseType="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project</dc:title>
  <dc:creator>ADMIN</dc:creator>
  <cp:lastModifiedBy>ADMIN</cp:lastModifiedBy>
  <cp:revision>6</cp:revision>
  <dcterms:created xsi:type="dcterms:W3CDTF">2006-08-16T00:00:00Z</dcterms:created>
  <dcterms:modified xsi:type="dcterms:W3CDTF">2026-07-04T08:52:57Z</dcterms:modified>
  <dc:identifier>DAHOP2Eey7k</dc:identifier>
</cp:coreProperties>
</file>